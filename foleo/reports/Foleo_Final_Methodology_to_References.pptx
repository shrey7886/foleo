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Exact (%)</c:v>
                </c:pt>
              </c:strCache>
            </c:strRef>
          </c:tx>
          <c:spPr>
            <a:solidFill>
              <a:srgbClr val="10B981"/>
            </a:solidFill>
            <a:effectLst/>
          </c:spPr>
          <c:invertIfNegative val="0"/>
          <c:dLbls>
            <c:numFmt formatCode="0.0&quot;%&quot;" sourceLinked="0"/>
            <c:txPr>
              <a:bodyPr/>
              <a:lstStyle/>
              <a:p>
                <a:pPr>
                  <a:defRPr b="0" i="0" strike="noStrike" sz="1200" u="none">
                    <a:solidFill>
                      <a:srgbClr val="E6EDF3"/>
                    </a:solidFill>
                    <a:latin typeface="Arial"/>
                  </a:defRPr>
                </a:pPr>
              </a:p>
            </c:txPr>
            <c:showLegendKey val="0"/>
            <c:showVal val="1"/>
            <c:showCatName val="0"/>
            <c:showSerName val="0"/>
            <c:showPercent val="0"/>
            <c:showBubbleSize val="0"/>
            <c:showLeaderLines val="0"/>
          </c:dLbls>
          <c:dPt>
            <c:idx val="0"/>
            <c:invertIfNegative val="0"/>
            <c:bubble3D val="0"/>
            <c:spPr>
              <a:solidFill>
                <a:srgbClr val="10B981"/>
              </a:solidFill>
              <a:effectLst/>
            </c:spPr>
          </c:dPt>
          <c:dPt>
            <c:idx val="1"/>
            <c:invertIfNegative val="0"/>
            <c:bubble3D val="0"/>
            <c:spPr>
              <a:solidFill>
                <a:srgbClr val="F97316"/>
              </a:solidFill>
              <a:effectLst/>
            </c:spPr>
          </c:dPt>
          <c:dPt>
            <c:idx val="2"/>
            <c:invertIfNegative val="0"/>
            <c:bubble3D val="0"/>
            <c:spPr>
              <a:solidFill>
                <a:srgbClr val="38BDF8"/>
              </a:solidFill>
              <a:effectLst/>
            </c:spPr>
          </c:dPt>
          <c:dPt>
            <c:idx val="3"/>
            <c:invertIfNegative val="0"/>
            <c:bubble3D val="0"/>
            <c:spPr>
              <a:solidFill>
                <a:srgbClr val="8B98A9"/>
              </a:solidFill>
              <a:effectLst/>
            </c:spPr>
          </c:dPt>
          <c:dPt>
            <c:idx val="4"/>
            <c:invertIfNegative val="0"/>
            <c:bubble3D val="0"/>
            <c:spPr>
              <a:solidFill>
                <a:srgbClr val="5B6878"/>
              </a:solidFill>
              <a:effectLst/>
            </c:spPr>
          </c:dPt>
          <c:cat>
            <c:multiLvlStrRef>
              <c:f>Sheet1!$A$2:$A$6</c:f>
              <c:multiLvlStrCache>
                <c:ptCount val="5"/>
                <c:lvl>
                  <c:pt idx="0">
                    <c:v>Foleo tools</c:v>
                  </c:pt>
                  <c:pt idx="1">
                    <c:v>Claude*</c:v>
                  </c:pt>
                  <c:pt idx="2">
                    <c:v>ChatGPT*</c:v>
                  </c:pt>
                  <c:pt idx="3">
                    <c:v>Groq + full data</c:v>
                  </c:pt>
                  <c:pt idx="4">
                    <c:v>Groq chatbot</c:v>
                  </c:pt>
                </c:lvl>
              </c:multiLvlStrCache>
            </c:multiLvlStrRef>
          </c:cat>
          <c:val>
            <c:numRef>
              <c:f>Sheet1!$B$2:$B$6</c:f>
              <c:numCache>
                <c:formatCode>General</c:formatCode>
                <c:ptCount val="5"/>
                <c:pt idx="0">
                  <c:v>100</c:v>
                </c:pt>
                <c:pt idx="1">
                  <c:v>100</c:v>
                </c:pt>
                <c:pt idx="2">
                  <c:v>88.5</c:v>
                </c:pt>
                <c:pt idx="3">
                  <c:v>69.2</c:v>
                </c:pt>
                <c:pt idx="4">
                  <c:v>37.2</c:v>
                </c:pt>
              </c:numCache>
            </c:numRef>
          </c:val>
        </c:ser>
        <c:dLbls>
          <c:numFmt formatCode="0.0&quot;%&quot;" sourceLinked="0"/>
          <c:txPr>
            <a:bodyPr/>
            <a:lstStyle/>
            <a:p>
              <a:pPr>
                <a:defRPr b="0" i="0" strike="noStrike" sz="1200" u="none">
                  <a:solidFill>
                    <a:srgbClr val="E6EDF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E6EDF3"/>
                </a:solidFill>
                <a:latin typeface="Segoe UI"/>
              </a:defRPr>
            </a:pPr>
            <a:endParaRPr lang="en-US"/>
          </a:p>
        </c:txPr>
        <c:crossAx val="2094734552"/>
        <c:crosses val="autoZero"/>
        <c:auto val="1"/>
        <c:lblAlgn val="ctr"/>
        <c:noMultiLvlLbl val="1"/>
      </c:catAx>
      <c:valAx>
        <c:axId val="2094734552"/>
        <c:scaling>
          <c:orientation val="minMax"/>
          <c:max val="11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0F14"/>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0B981"/>
          </a:solidFill>
          <a:ln/>
        </p:spPr>
      </p:sp>
      <p:sp>
        <p:nvSpPr>
          <p:cNvPr id="3" name="Text 1"/>
          <p:cNvSpPr/>
          <p:nvPr/>
        </p:nvSpPr>
        <p:spPr>
          <a:xfrm>
            <a:off x="548640" y="6446520"/>
            <a:ext cx="5486400" cy="274320"/>
          </a:xfrm>
          <a:prstGeom prst="rect">
            <a:avLst/>
          </a:prstGeom>
          <a:noFill/>
          <a:ln/>
        </p:spPr>
        <p:txBody>
          <a:bodyPr wrap="square" rtlCol="0" anchor="ctr"/>
          <a:lstStyle/>
          <a:p>
            <a:pPr indent="0" marL="0">
              <a:buNone/>
            </a:pPr>
            <a:r>
              <a:rPr lang="en-US" sz="900" dirty="0">
                <a:solidFill>
                  <a:srgbClr val="5B6878"/>
                </a:solidFill>
                <a:latin typeface="Segoe UI" pitchFamily="34" charset="0"/>
                <a:ea typeface="Segoe UI" pitchFamily="34" charset="-122"/>
                <a:cs typeface="Segoe UI" pitchFamily="34" charset="-120"/>
              </a:rPr>
              <a:t>FOLEO  ·  Capstone Project  ·  NITK Surathkal</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06 · METHODOLOGY</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System architecture</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Every chat message passes a router: numeric questions go to tested code, everything else goes to the LLM</a:t>
            </a:r>
            <a:endParaRPr lang="en-US" sz="1300" dirty="0"/>
          </a:p>
        </p:txBody>
      </p:sp>
      <p:sp>
        <p:nvSpPr>
          <p:cNvPr id="5" name="Shape 3"/>
          <p:cNvSpPr/>
          <p:nvPr/>
        </p:nvSpPr>
        <p:spPr>
          <a:xfrm>
            <a:off x="548640" y="1691640"/>
            <a:ext cx="1874520" cy="1600200"/>
          </a:xfrm>
          <a:prstGeom prst="roundRect">
            <a:avLst>
              <a:gd name="adj" fmla="val 4571"/>
            </a:avLst>
          </a:prstGeom>
          <a:solidFill>
            <a:srgbClr val="1B2330"/>
          </a:solidFill>
          <a:ln w="12700">
            <a:solidFill>
              <a:srgbClr val="263243"/>
            </a:solidFill>
            <a:prstDash val="solid"/>
          </a:ln>
        </p:spPr>
      </p:sp>
      <p:sp>
        <p:nvSpPr>
          <p:cNvPr id="6" name="Text 4"/>
          <p:cNvSpPr/>
          <p:nvPr/>
        </p:nvSpPr>
        <p:spPr>
          <a:xfrm>
            <a:off x="658368" y="1783080"/>
            <a:ext cx="1691640" cy="365760"/>
          </a:xfrm>
          <a:prstGeom prst="rect">
            <a:avLst/>
          </a:prstGeom>
          <a:noFill/>
          <a:ln/>
        </p:spPr>
        <p:txBody>
          <a:bodyPr wrap="square" rtlCol="0" anchor="ctr"/>
          <a:lstStyle/>
          <a:p>
            <a:pPr indent="0" marL="0">
              <a:buNone/>
            </a:pPr>
            <a:r>
              <a:rPr lang="en-US" sz="1300" dirty="0">
                <a:solidFill>
                  <a:srgbClr val="E6EDF3"/>
                </a:solidFill>
                <a:latin typeface="Segoe UI Semibold" pitchFamily="34" charset="0"/>
                <a:ea typeface="Segoe UI Semibold" pitchFamily="34" charset="-122"/>
                <a:cs typeface="Segoe UI Semibold" pitchFamily="34" charset="-120"/>
              </a:rPr>
              <a:t>User message</a:t>
            </a:r>
            <a:endParaRPr lang="en-US" sz="1300" dirty="0"/>
          </a:p>
        </p:txBody>
      </p:sp>
      <p:sp>
        <p:nvSpPr>
          <p:cNvPr id="7" name="Text 5"/>
          <p:cNvSpPr/>
          <p:nvPr/>
        </p:nvSpPr>
        <p:spPr>
          <a:xfrm>
            <a:off x="658368" y="2148840"/>
            <a:ext cx="1691640" cy="1051560"/>
          </a:xfrm>
          <a:prstGeom prst="rect">
            <a:avLst/>
          </a:prstGeom>
          <a:noFill/>
          <a:ln/>
        </p:spPr>
        <p:txBody>
          <a:bodyPr wrap="square" rtlCol="0" anchor="t"/>
          <a:lstStyle/>
          <a:p>
            <a:pPr indent="0" marL="0">
              <a:buNone/>
            </a:pPr>
            <a:r>
              <a:rPr lang="en-US" sz="1050" dirty="0">
                <a:solidFill>
                  <a:srgbClr val="8B98A9"/>
                </a:solidFill>
                <a:latin typeface="Segoe UI" pitchFamily="34" charset="0"/>
                <a:ea typeface="Segoe UI" pitchFamily="34" charset="-122"/>
                <a:cs typeface="Segoe UI" pitchFamily="34" charset="-120"/>
              </a:rPr>
              <a:t>"What is the Sharpe ratio of my portfolio?"</a:t>
            </a:r>
            <a:endParaRPr lang="en-US" sz="1050" dirty="0"/>
          </a:p>
        </p:txBody>
      </p:sp>
      <p:sp>
        <p:nvSpPr>
          <p:cNvPr id="8" name="Shape 6"/>
          <p:cNvSpPr/>
          <p:nvPr/>
        </p:nvSpPr>
        <p:spPr>
          <a:xfrm>
            <a:off x="2441448" y="2487168"/>
            <a:ext cx="329184" cy="0"/>
          </a:xfrm>
          <a:prstGeom prst="line">
            <a:avLst/>
          </a:prstGeom>
          <a:noFill/>
          <a:ln w="19050">
            <a:solidFill>
              <a:srgbClr val="8B98A9"/>
            </a:solidFill>
            <a:prstDash val="solid"/>
            <a:tailEnd type="triangle"/>
          </a:ln>
        </p:spPr>
      </p:sp>
      <p:sp>
        <p:nvSpPr>
          <p:cNvPr id="9" name="Shape 7"/>
          <p:cNvSpPr/>
          <p:nvPr/>
        </p:nvSpPr>
        <p:spPr>
          <a:xfrm>
            <a:off x="2788920" y="1691640"/>
            <a:ext cx="1874520" cy="1600200"/>
          </a:xfrm>
          <a:prstGeom prst="roundRect">
            <a:avLst>
              <a:gd name="adj" fmla="val 4571"/>
            </a:avLst>
          </a:prstGeom>
          <a:solidFill>
            <a:srgbClr val="1B2330"/>
          </a:solidFill>
          <a:ln w="12700">
            <a:solidFill>
              <a:srgbClr val="263243"/>
            </a:solidFill>
            <a:prstDash val="solid"/>
          </a:ln>
        </p:spPr>
      </p:sp>
      <p:sp>
        <p:nvSpPr>
          <p:cNvPr id="10" name="Text 8"/>
          <p:cNvSpPr/>
          <p:nvPr/>
        </p:nvSpPr>
        <p:spPr>
          <a:xfrm>
            <a:off x="2898648" y="1783080"/>
            <a:ext cx="1691640" cy="365760"/>
          </a:xfrm>
          <a:prstGeom prst="rect">
            <a:avLst/>
          </a:prstGeom>
          <a:noFill/>
          <a:ln/>
        </p:spPr>
        <p:txBody>
          <a:bodyPr wrap="square" rtlCol="0" anchor="ctr"/>
          <a:lstStyle/>
          <a:p>
            <a:pPr indent="0" marL="0">
              <a:buNone/>
            </a:pPr>
            <a:r>
              <a:rPr lang="en-US" sz="1300" dirty="0">
                <a:solidFill>
                  <a:srgbClr val="E6EDF3"/>
                </a:solidFill>
                <a:latin typeface="Segoe UI Semibold" pitchFamily="34" charset="0"/>
                <a:ea typeface="Segoe UI Semibold" pitchFamily="34" charset="-122"/>
                <a:cs typeface="Segoe UI Semibold" pitchFamily="34" charset="-120"/>
              </a:rPr>
              <a:t>Intent classifier</a:t>
            </a:r>
            <a:endParaRPr lang="en-US" sz="1300" dirty="0"/>
          </a:p>
        </p:txBody>
      </p:sp>
      <p:sp>
        <p:nvSpPr>
          <p:cNvPr id="11" name="Text 9"/>
          <p:cNvSpPr/>
          <p:nvPr/>
        </p:nvSpPr>
        <p:spPr>
          <a:xfrm>
            <a:off x="2898648" y="2148840"/>
            <a:ext cx="1691640" cy="1051560"/>
          </a:xfrm>
          <a:prstGeom prst="rect">
            <a:avLst/>
          </a:prstGeom>
          <a:noFill/>
          <a:ln/>
        </p:spPr>
        <p:txBody>
          <a:bodyPr wrap="square" rtlCol="0" anchor="t"/>
          <a:lstStyle/>
          <a:p>
            <a:pPr indent="0" marL="0">
              <a:buNone/>
            </a:pPr>
            <a:r>
              <a:rPr lang="en-US" sz="1050" dirty="0">
                <a:solidFill>
                  <a:srgbClr val="8B98A9"/>
                </a:solidFill>
                <a:latin typeface="Segoe UI" pitchFamily="34" charset="0"/>
                <a:ea typeface="Segoe UI" pitchFamily="34" charset="-122"/>
                <a:cs typeface="Segoe UI" pitchFamily="34" charset="-120"/>
              </a:rPr>
              <a:t>14 rule-based intents (summary, risk, rebalance, goals…)</a:t>
            </a:r>
            <a:endParaRPr lang="en-US" sz="1050" dirty="0"/>
          </a:p>
        </p:txBody>
      </p:sp>
      <p:sp>
        <p:nvSpPr>
          <p:cNvPr id="12" name="Shape 10"/>
          <p:cNvSpPr/>
          <p:nvPr/>
        </p:nvSpPr>
        <p:spPr>
          <a:xfrm>
            <a:off x="4681728" y="2487168"/>
            <a:ext cx="329184" cy="0"/>
          </a:xfrm>
          <a:prstGeom prst="line">
            <a:avLst/>
          </a:prstGeom>
          <a:noFill/>
          <a:ln w="19050">
            <a:solidFill>
              <a:srgbClr val="8B98A9"/>
            </a:solidFill>
            <a:prstDash val="solid"/>
            <a:tailEnd type="triangle"/>
          </a:ln>
        </p:spPr>
      </p:sp>
      <p:sp>
        <p:nvSpPr>
          <p:cNvPr id="13" name="Shape 11"/>
          <p:cNvSpPr/>
          <p:nvPr/>
        </p:nvSpPr>
        <p:spPr>
          <a:xfrm>
            <a:off x="5029200" y="1691640"/>
            <a:ext cx="1874520" cy="1600200"/>
          </a:xfrm>
          <a:prstGeom prst="roundRect">
            <a:avLst>
              <a:gd name="adj" fmla="val 4571"/>
            </a:avLst>
          </a:prstGeom>
          <a:solidFill>
            <a:srgbClr val="1B2330"/>
          </a:solidFill>
          <a:ln w="12700">
            <a:solidFill>
              <a:srgbClr val="263243"/>
            </a:solidFill>
            <a:prstDash val="solid"/>
          </a:ln>
        </p:spPr>
      </p:sp>
      <p:sp>
        <p:nvSpPr>
          <p:cNvPr id="14" name="Text 12"/>
          <p:cNvSpPr/>
          <p:nvPr/>
        </p:nvSpPr>
        <p:spPr>
          <a:xfrm>
            <a:off x="5138928" y="1783080"/>
            <a:ext cx="1691640" cy="365760"/>
          </a:xfrm>
          <a:prstGeom prst="rect">
            <a:avLst/>
          </a:prstGeom>
          <a:noFill/>
          <a:ln/>
        </p:spPr>
        <p:txBody>
          <a:bodyPr wrap="square" rtlCol="0" anchor="ctr"/>
          <a:lstStyle/>
          <a:p>
            <a:pPr indent="0" marL="0">
              <a:buNone/>
            </a:pPr>
            <a:r>
              <a:rPr lang="en-US" sz="1300" dirty="0">
                <a:solidFill>
                  <a:srgbClr val="E6EDF3"/>
                </a:solidFill>
                <a:latin typeface="Segoe UI Semibold" pitchFamily="34" charset="0"/>
                <a:ea typeface="Segoe UI Semibold" pitchFamily="34" charset="-122"/>
                <a:cs typeface="Segoe UI Semibold" pitchFamily="34" charset="-120"/>
              </a:rPr>
              <a:t>Context builder</a:t>
            </a:r>
            <a:endParaRPr lang="en-US" sz="1300" dirty="0"/>
          </a:p>
        </p:txBody>
      </p:sp>
      <p:sp>
        <p:nvSpPr>
          <p:cNvPr id="15" name="Text 13"/>
          <p:cNvSpPr/>
          <p:nvPr/>
        </p:nvSpPr>
        <p:spPr>
          <a:xfrm>
            <a:off x="5138928" y="2148840"/>
            <a:ext cx="1691640" cy="1051560"/>
          </a:xfrm>
          <a:prstGeom prst="rect">
            <a:avLst/>
          </a:prstGeom>
          <a:noFill/>
          <a:ln/>
        </p:spPr>
        <p:txBody>
          <a:bodyPr wrap="square" rtlCol="0" anchor="t"/>
          <a:lstStyle/>
          <a:p>
            <a:pPr indent="0" marL="0">
              <a:buNone/>
            </a:pPr>
            <a:r>
              <a:rPr lang="en-US" sz="1050" dirty="0">
                <a:solidFill>
                  <a:srgbClr val="8B98A9"/>
                </a:solidFill>
                <a:latin typeface="Segoe UI" pitchFamily="34" charset="0"/>
                <a:ea typeface="Segoe UI" pitchFamily="34" charset="-122"/>
                <a:cs typeface="Segoe UI" pitchFamily="34" charset="-120"/>
              </a:rPr>
              <a:t>Holdings from Zerodha + Upstox merged into one portfolio</a:t>
            </a:r>
            <a:endParaRPr lang="en-US" sz="1050" dirty="0"/>
          </a:p>
        </p:txBody>
      </p:sp>
      <p:sp>
        <p:nvSpPr>
          <p:cNvPr id="16" name="Shape 14"/>
          <p:cNvSpPr/>
          <p:nvPr/>
        </p:nvSpPr>
        <p:spPr>
          <a:xfrm>
            <a:off x="6922008" y="2487168"/>
            <a:ext cx="329184" cy="0"/>
          </a:xfrm>
          <a:prstGeom prst="line">
            <a:avLst/>
          </a:prstGeom>
          <a:noFill/>
          <a:ln w="19050">
            <a:solidFill>
              <a:srgbClr val="8B98A9"/>
            </a:solidFill>
            <a:prstDash val="solid"/>
            <a:tailEnd type="triangle"/>
          </a:ln>
        </p:spPr>
      </p:sp>
      <p:sp>
        <p:nvSpPr>
          <p:cNvPr id="17" name="Shape 15"/>
          <p:cNvSpPr/>
          <p:nvPr/>
        </p:nvSpPr>
        <p:spPr>
          <a:xfrm>
            <a:off x="7269480" y="1691640"/>
            <a:ext cx="1874520" cy="1600200"/>
          </a:xfrm>
          <a:prstGeom prst="roundRect">
            <a:avLst>
              <a:gd name="adj" fmla="val 4571"/>
            </a:avLst>
          </a:prstGeom>
          <a:solidFill>
            <a:srgbClr val="1B2330"/>
          </a:solidFill>
          <a:ln w="12700">
            <a:solidFill>
              <a:srgbClr val="263243"/>
            </a:solidFill>
            <a:prstDash val="solid"/>
          </a:ln>
        </p:spPr>
      </p:sp>
      <p:sp>
        <p:nvSpPr>
          <p:cNvPr id="18" name="Text 16"/>
          <p:cNvSpPr/>
          <p:nvPr/>
        </p:nvSpPr>
        <p:spPr>
          <a:xfrm>
            <a:off x="7379208" y="1783080"/>
            <a:ext cx="1691640" cy="365760"/>
          </a:xfrm>
          <a:prstGeom prst="rect">
            <a:avLst/>
          </a:prstGeom>
          <a:noFill/>
          <a:ln/>
        </p:spPr>
        <p:txBody>
          <a:bodyPr wrap="square" rtlCol="0" anchor="ctr"/>
          <a:lstStyle/>
          <a:p>
            <a:pPr indent="0" marL="0">
              <a:buNone/>
            </a:pPr>
            <a:r>
              <a:rPr lang="en-US" sz="1300" dirty="0">
                <a:solidFill>
                  <a:srgbClr val="E6EDF3"/>
                </a:solidFill>
                <a:latin typeface="Segoe UI Semibold" pitchFamily="34" charset="0"/>
                <a:ea typeface="Segoe UI Semibold" pitchFamily="34" charset="-122"/>
                <a:cs typeface="Segoe UI Semibold" pitchFamily="34" charset="-120"/>
              </a:rPr>
              <a:t>Quantitative router</a:t>
            </a:r>
            <a:endParaRPr lang="en-US" sz="1300" dirty="0"/>
          </a:p>
        </p:txBody>
      </p:sp>
      <p:sp>
        <p:nvSpPr>
          <p:cNvPr id="19" name="Text 17"/>
          <p:cNvSpPr/>
          <p:nvPr/>
        </p:nvSpPr>
        <p:spPr>
          <a:xfrm>
            <a:off x="7379208" y="2148840"/>
            <a:ext cx="1691640" cy="1051560"/>
          </a:xfrm>
          <a:prstGeom prst="rect">
            <a:avLst/>
          </a:prstGeom>
          <a:noFill/>
          <a:ln/>
        </p:spPr>
        <p:txBody>
          <a:bodyPr wrap="square" rtlCol="0" anchor="t"/>
          <a:lstStyle/>
          <a:p>
            <a:pPr indent="0" marL="0">
              <a:buNone/>
            </a:pPr>
            <a:r>
              <a:rPr lang="en-US" sz="1050" dirty="0">
                <a:solidFill>
                  <a:srgbClr val="8B98A9"/>
                </a:solidFill>
                <a:latin typeface="Segoe UI" pitchFamily="34" charset="0"/>
                <a:ea typeface="Segoe UI" pitchFamily="34" charset="-122"/>
                <a:cs typeface="Segoe UI" pitchFamily="34" charset="-120"/>
              </a:rPr>
              <a:t>Finds the metric, the stock or whole-portfolio scope, and the period</a:t>
            </a:r>
            <a:endParaRPr lang="en-US" sz="1050" dirty="0"/>
          </a:p>
        </p:txBody>
      </p:sp>
      <p:sp>
        <p:nvSpPr>
          <p:cNvPr id="20" name="Shape 18"/>
          <p:cNvSpPr/>
          <p:nvPr/>
        </p:nvSpPr>
        <p:spPr>
          <a:xfrm flipV="1">
            <a:off x="9116568" y="1938528"/>
            <a:ext cx="548640" cy="502920"/>
          </a:xfrm>
          <a:prstGeom prst="line">
            <a:avLst/>
          </a:prstGeom>
          <a:noFill/>
          <a:ln w="19050">
            <a:solidFill>
              <a:srgbClr val="8B98A9"/>
            </a:solidFill>
            <a:prstDash val="solid"/>
            <a:tailEnd type="triangle"/>
          </a:ln>
        </p:spPr>
      </p:sp>
      <p:sp>
        <p:nvSpPr>
          <p:cNvPr id="21" name="Shape 19"/>
          <p:cNvSpPr/>
          <p:nvPr/>
        </p:nvSpPr>
        <p:spPr>
          <a:xfrm>
            <a:off x="9116568" y="2532888"/>
            <a:ext cx="548640" cy="502920"/>
          </a:xfrm>
          <a:prstGeom prst="line">
            <a:avLst/>
          </a:prstGeom>
          <a:noFill/>
          <a:ln w="19050">
            <a:solidFill>
              <a:srgbClr val="8B98A9"/>
            </a:solidFill>
            <a:prstDash val="solid"/>
            <a:tailEnd type="triangle"/>
          </a:ln>
        </p:spPr>
      </p:sp>
      <p:sp>
        <p:nvSpPr>
          <p:cNvPr id="22" name="Text 20"/>
          <p:cNvSpPr/>
          <p:nvPr/>
        </p:nvSpPr>
        <p:spPr>
          <a:xfrm>
            <a:off x="9189720" y="1783080"/>
            <a:ext cx="457200" cy="228600"/>
          </a:xfrm>
          <a:prstGeom prst="rect">
            <a:avLst/>
          </a:prstGeom>
          <a:noFill/>
          <a:ln/>
        </p:spPr>
        <p:txBody>
          <a:bodyPr wrap="square" rtlCol="0" anchor="ctr"/>
          <a:lstStyle/>
          <a:p>
            <a:pPr indent="0" marL="0">
              <a:buNone/>
            </a:pPr>
            <a:r>
              <a:rPr lang="en-US" sz="950" dirty="0">
                <a:solidFill>
                  <a:srgbClr val="10B981"/>
                </a:solidFill>
                <a:latin typeface="Segoe UI" pitchFamily="34" charset="0"/>
                <a:ea typeface="Segoe UI" pitchFamily="34" charset="-122"/>
                <a:cs typeface="Segoe UI" pitchFamily="34" charset="-120"/>
              </a:rPr>
              <a:t>yes</a:t>
            </a:r>
            <a:endParaRPr lang="en-US" sz="950" dirty="0"/>
          </a:p>
        </p:txBody>
      </p:sp>
      <p:sp>
        <p:nvSpPr>
          <p:cNvPr id="23" name="Text 21"/>
          <p:cNvSpPr/>
          <p:nvPr/>
        </p:nvSpPr>
        <p:spPr>
          <a:xfrm>
            <a:off x="9189720" y="3017520"/>
            <a:ext cx="457200" cy="228600"/>
          </a:xfrm>
          <a:prstGeom prst="rect">
            <a:avLst/>
          </a:prstGeom>
          <a:noFill/>
          <a:ln/>
        </p:spPr>
        <p:txBody>
          <a:bodyPr wrap="square" rtlCol="0" anchor="ctr"/>
          <a:lstStyle/>
          <a:p>
            <a:pPr indent="0" marL="0">
              <a:buNone/>
            </a:pPr>
            <a:r>
              <a:rPr lang="en-US" sz="950" dirty="0">
                <a:solidFill>
                  <a:srgbClr val="8B98A9"/>
                </a:solidFill>
                <a:latin typeface="Segoe UI" pitchFamily="34" charset="0"/>
                <a:ea typeface="Segoe UI" pitchFamily="34" charset="-122"/>
                <a:cs typeface="Segoe UI" pitchFamily="34" charset="-120"/>
              </a:rPr>
              <a:t>no</a:t>
            </a:r>
            <a:endParaRPr lang="en-US" sz="950" dirty="0"/>
          </a:p>
        </p:txBody>
      </p:sp>
      <p:sp>
        <p:nvSpPr>
          <p:cNvPr id="24" name="Shape 22"/>
          <p:cNvSpPr/>
          <p:nvPr/>
        </p:nvSpPr>
        <p:spPr>
          <a:xfrm>
            <a:off x="9692640" y="1417320"/>
            <a:ext cx="1947672" cy="1051560"/>
          </a:xfrm>
          <a:prstGeom prst="roundRect">
            <a:avLst>
              <a:gd name="adj" fmla="val 6957"/>
            </a:avLst>
          </a:prstGeom>
          <a:solidFill>
            <a:srgbClr val="0B3B2E"/>
          </a:solidFill>
          <a:ln w="12700">
            <a:solidFill>
              <a:srgbClr val="10B981"/>
            </a:solidFill>
            <a:prstDash val="solid"/>
          </a:ln>
        </p:spPr>
      </p:sp>
      <p:sp>
        <p:nvSpPr>
          <p:cNvPr id="25" name="Text 23"/>
          <p:cNvSpPr/>
          <p:nvPr/>
        </p:nvSpPr>
        <p:spPr>
          <a:xfrm>
            <a:off x="9784080" y="1463040"/>
            <a:ext cx="1828800" cy="960120"/>
          </a:xfrm>
          <a:prstGeom prst="rect">
            <a:avLst/>
          </a:prstGeom>
          <a:noFill/>
          <a:ln/>
        </p:spPr>
        <p:txBody>
          <a:bodyPr wrap="square" rtlCol="0" anchor="ctr"/>
          <a:lstStyle/>
          <a:p>
            <a:pPr indent="0" marL="0">
              <a:buNone/>
            </a:pPr>
            <a:r>
              <a:rPr lang="en-US" sz="1300" dirty="0">
                <a:solidFill>
                  <a:srgbClr val="10B981"/>
                </a:solidFill>
                <a:latin typeface="Segoe UI Semibold" pitchFamily="34" charset="0"/>
                <a:ea typeface="Segoe UI Semibold" pitchFamily="34" charset="-122"/>
                <a:cs typeface="Segoe UI Semibold" pitchFamily="34" charset="-120"/>
              </a:rPr>
              <a:t>Deterministic tools</a:t>
            </a:r>
            <a:endParaRPr lang="en-US" sz="1300" dirty="0"/>
          </a:p>
          <a:p>
            <a:pPr indent="0" marL="0">
              <a:buNone/>
            </a:pPr>
            <a:r>
              <a:rPr lang="en-US" sz="1050" dirty="0">
                <a:solidFill>
                  <a:srgbClr val="E6EDF3"/>
                </a:solidFill>
                <a:latin typeface="Segoe UI" pitchFamily="34" charset="0"/>
                <a:ea typeface="Segoe UI" pitchFamily="34" charset="-122"/>
                <a:cs typeface="Segoe UI" pitchFamily="34" charset="-120"/>
              </a:rPr>
              <a:t>16 metrics · exact · 0 tokens</a:t>
            </a:r>
            <a:endParaRPr lang="en-US" sz="1300" dirty="0"/>
          </a:p>
        </p:txBody>
      </p:sp>
      <p:sp>
        <p:nvSpPr>
          <p:cNvPr id="26" name="Shape 24"/>
          <p:cNvSpPr/>
          <p:nvPr/>
        </p:nvSpPr>
        <p:spPr>
          <a:xfrm>
            <a:off x="9692640" y="2697480"/>
            <a:ext cx="1947672" cy="1051560"/>
          </a:xfrm>
          <a:prstGeom prst="roundRect">
            <a:avLst>
              <a:gd name="adj" fmla="val 6957"/>
            </a:avLst>
          </a:prstGeom>
          <a:solidFill>
            <a:srgbClr val="1B2330"/>
          </a:solidFill>
          <a:ln w="12700">
            <a:solidFill>
              <a:srgbClr val="263243"/>
            </a:solidFill>
            <a:prstDash val="solid"/>
          </a:ln>
        </p:spPr>
      </p:sp>
      <p:sp>
        <p:nvSpPr>
          <p:cNvPr id="27" name="Text 25"/>
          <p:cNvSpPr/>
          <p:nvPr/>
        </p:nvSpPr>
        <p:spPr>
          <a:xfrm>
            <a:off x="9784080" y="2743200"/>
            <a:ext cx="1828800" cy="960120"/>
          </a:xfrm>
          <a:prstGeom prst="rect">
            <a:avLst/>
          </a:prstGeom>
          <a:noFill/>
          <a:ln/>
        </p:spPr>
        <p:txBody>
          <a:bodyPr wrap="square" rtlCol="0" anchor="ctr"/>
          <a:lstStyle/>
          <a:p>
            <a:pPr indent="0" marL="0">
              <a:buNone/>
            </a:pPr>
            <a:r>
              <a:rPr lang="en-US" sz="1300" dirty="0">
                <a:solidFill>
                  <a:srgbClr val="E6EDF3"/>
                </a:solidFill>
                <a:latin typeface="Segoe UI Semibold" pitchFamily="34" charset="0"/>
                <a:ea typeface="Segoe UI Semibold" pitchFamily="34" charset="-122"/>
                <a:cs typeface="Segoe UI Semibold" pitchFamily="34" charset="-120"/>
              </a:rPr>
              <a:t>LLM answer</a:t>
            </a:r>
            <a:endParaRPr lang="en-US" sz="1300" dirty="0"/>
          </a:p>
          <a:p>
            <a:pPr indent="0" marL="0">
              <a:buNone/>
            </a:pPr>
            <a:r>
              <a:rPr lang="en-US" sz="1050" dirty="0">
                <a:solidFill>
                  <a:srgbClr val="8B98A9"/>
                </a:solidFill>
                <a:latin typeface="Segoe UI" pitchFamily="34" charset="0"/>
                <a:ea typeface="Segoe UI" pitchFamily="34" charset="-122"/>
                <a:cs typeface="Segoe UI" pitchFamily="34" charset="-120"/>
              </a:rPr>
              <a:t>gpt-oss-120b on Groq, with the portfolio as context</a:t>
            </a:r>
            <a:endParaRPr lang="en-US" sz="1300" dirty="0"/>
          </a:p>
        </p:txBody>
      </p:sp>
      <p:sp>
        <p:nvSpPr>
          <p:cNvPr id="28" name="Shape 26"/>
          <p:cNvSpPr/>
          <p:nvPr/>
        </p:nvSpPr>
        <p:spPr>
          <a:xfrm>
            <a:off x="548640" y="3977640"/>
            <a:ext cx="3611880" cy="2240280"/>
          </a:xfrm>
          <a:prstGeom prst="roundRect">
            <a:avLst>
              <a:gd name="adj" fmla="val 3265"/>
            </a:avLst>
          </a:prstGeom>
          <a:solidFill>
            <a:srgbClr val="141A22"/>
          </a:solidFill>
          <a:ln w="12700">
            <a:solidFill>
              <a:srgbClr val="263243"/>
            </a:solidFill>
            <a:prstDash val="solid"/>
          </a:ln>
        </p:spPr>
      </p:sp>
      <p:sp>
        <p:nvSpPr>
          <p:cNvPr id="29" name="Shape 27"/>
          <p:cNvSpPr/>
          <p:nvPr/>
        </p:nvSpPr>
        <p:spPr>
          <a:xfrm>
            <a:off x="566928" y="4087368"/>
            <a:ext cx="54864" cy="2020824"/>
          </a:xfrm>
          <a:prstGeom prst="rect">
            <a:avLst/>
          </a:prstGeom>
          <a:solidFill>
            <a:srgbClr val="38BDF8"/>
          </a:solidFill>
          <a:ln w="12700">
            <a:solidFill>
              <a:srgbClr val="38BDF8"/>
            </a:solidFill>
            <a:prstDash val="solid"/>
          </a:ln>
        </p:spPr>
      </p:sp>
      <p:sp>
        <p:nvSpPr>
          <p:cNvPr id="30" name="Text 28"/>
          <p:cNvSpPr/>
          <p:nvPr/>
        </p:nvSpPr>
        <p:spPr>
          <a:xfrm>
            <a:off x="777240" y="4069080"/>
            <a:ext cx="3291840" cy="365760"/>
          </a:xfrm>
          <a:prstGeom prst="rect">
            <a:avLst/>
          </a:prstGeom>
          <a:noFill/>
          <a:ln/>
        </p:spPr>
        <p:txBody>
          <a:bodyPr wrap="square" rtlCol="0" anchor="ctr"/>
          <a:lstStyle/>
          <a:p>
            <a:pPr indent="0" marL="0">
              <a:buNone/>
            </a:pPr>
            <a:r>
              <a:rPr lang="en-US" sz="1400" dirty="0">
                <a:solidFill>
                  <a:srgbClr val="38BDF8"/>
                </a:solidFill>
                <a:latin typeface="Segoe UI Semibold" pitchFamily="34" charset="0"/>
                <a:ea typeface="Segoe UI Semibold" pitchFamily="34" charset="-122"/>
                <a:cs typeface="Segoe UI Semibold" pitchFamily="34" charset="-120"/>
              </a:rPr>
              <a:t>Data sources</a:t>
            </a:r>
            <a:endParaRPr lang="en-US" sz="1400" dirty="0"/>
          </a:p>
        </p:txBody>
      </p:sp>
      <p:sp>
        <p:nvSpPr>
          <p:cNvPr id="31" name="Text 29"/>
          <p:cNvSpPr/>
          <p:nvPr/>
        </p:nvSpPr>
        <p:spPr>
          <a:xfrm>
            <a:off x="731520" y="4480560"/>
            <a:ext cx="3337560" cy="169164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Zerodha (Kite Connect) and Upstox linked by OAuth</a:t>
            </a:r>
            <a:endParaRPr lang="en-US" sz="1200" dirty="0"/>
          </a:p>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Daily prices from Yahoo Finance (yfinance)</a:t>
            </a:r>
            <a:endParaRPr lang="en-US" sz="1200" dirty="0"/>
          </a:p>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User never types holdings or prices</a:t>
            </a:r>
            <a:endParaRPr lang="en-US" sz="1200" dirty="0"/>
          </a:p>
        </p:txBody>
      </p:sp>
      <p:sp>
        <p:nvSpPr>
          <p:cNvPr id="32" name="Shape 30"/>
          <p:cNvSpPr/>
          <p:nvPr/>
        </p:nvSpPr>
        <p:spPr>
          <a:xfrm>
            <a:off x="4297680" y="3977640"/>
            <a:ext cx="3611880" cy="2240280"/>
          </a:xfrm>
          <a:prstGeom prst="roundRect">
            <a:avLst>
              <a:gd name="adj" fmla="val 3265"/>
            </a:avLst>
          </a:prstGeom>
          <a:solidFill>
            <a:srgbClr val="141A22"/>
          </a:solidFill>
          <a:ln w="12700">
            <a:solidFill>
              <a:srgbClr val="263243"/>
            </a:solidFill>
            <a:prstDash val="solid"/>
          </a:ln>
        </p:spPr>
      </p:sp>
      <p:sp>
        <p:nvSpPr>
          <p:cNvPr id="33" name="Shape 31"/>
          <p:cNvSpPr/>
          <p:nvPr/>
        </p:nvSpPr>
        <p:spPr>
          <a:xfrm>
            <a:off x="4315968" y="4087368"/>
            <a:ext cx="54864" cy="2020824"/>
          </a:xfrm>
          <a:prstGeom prst="rect">
            <a:avLst/>
          </a:prstGeom>
          <a:solidFill>
            <a:srgbClr val="FBBF24"/>
          </a:solidFill>
          <a:ln w="12700">
            <a:solidFill>
              <a:srgbClr val="FBBF24"/>
            </a:solidFill>
            <a:prstDash val="solid"/>
          </a:ln>
        </p:spPr>
      </p:sp>
      <p:sp>
        <p:nvSpPr>
          <p:cNvPr id="34" name="Text 32"/>
          <p:cNvSpPr/>
          <p:nvPr/>
        </p:nvSpPr>
        <p:spPr>
          <a:xfrm>
            <a:off x="4526280" y="4069080"/>
            <a:ext cx="3291840" cy="365760"/>
          </a:xfrm>
          <a:prstGeom prst="rect">
            <a:avLst/>
          </a:prstGeom>
          <a:noFill/>
          <a:ln/>
        </p:spPr>
        <p:txBody>
          <a:bodyPr wrap="square" rtlCol="0" anchor="ctr"/>
          <a:lstStyle/>
          <a:p>
            <a:pPr indent="0" marL="0">
              <a:buNone/>
            </a:pPr>
            <a:r>
              <a:rPr lang="en-US" sz="1400" dirty="0">
                <a:solidFill>
                  <a:srgbClr val="FBBF24"/>
                </a:solidFill>
                <a:latin typeface="Segoe UI Semibold" pitchFamily="34" charset="0"/>
                <a:ea typeface="Segoe UI Semibold" pitchFamily="34" charset="-122"/>
                <a:cs typeface="Segoe UI Semibold" pitchFamily="34" charset="-120"/>
              </a:rPr>
              <a:t>Deployed stack</a:t>
            </a:r>
            <a:endParaRPr lang="en-US" sz="1400" dirty="0"/>
          </a:p>
        </p:txBody>
      </p:sp>
      <p:sp>
        <p:nvSpPr>
          <p:cNvPr id="35" name="Text 33"/>
          <p:cNvSpPr/>
          <p:nvPr/>
        </p:nvSpPr>
        <p:spPr>
          <a:xfrm>
            <a:off x="4480560" y="4480560"/>
            <a:ext cx="3337560" cy="169164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FastAPI backend on Render</a:t>
            </a:r>
            <a:endParaRPr lang="en-US" sz="1200" dirty="0"/>
          </a:p>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React + Vite frontend on Vercel</a:t>
            </a:r>
            <a:endParaRPr lang="en-US" sz="1200" dirty="0"/>
          </a:p>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SQLite store, JWT login</a:t>
            </a:r>
            <a:endParaRPr lang="en-US" sz="1200" dirty="0"/>
          </a:p>
        </p:txBody>
      </p:sp>
      <p:sp>
        <p:nvSpPr>
          <p:cNvPr id="36" name="Shape 34"/>
          <p:cNvSpPr/>
          <p:nvPr/>
        </p:nvSpPr>
        <p:spPr>
          <a:xfrm>
            <a:off x="8046720" y="3977640"/>
            <a:ext cx="3611880" cy="2240280"/>
          </a:xfrm>
          <a:prstGeom prst="roundRect">
            <a:avLst>
              <a:gd name="adj" fmla="val 3265"/>
            </a:avLst>
          </a:prstGeom>
          <a:solidFill>
            <a:srgbClr val="141A22"/>
          </a:solidFill>
          <a:ln w="12700">
            <a:solidFill>
              <a:srgbClr val="263243"/>
            </a:solidFill>
            <a:prstDash val="solid"/>
          </a:ln>
        </p:spPr>
      </p:sp>
      <p:sp>
        <p:nvSpPr>
          <p:cNvPr id="37" name="Shape 35"/>
          <p:cNvSpPr/>
          <p:nvPr/>
        </p:nvSpPr>
        <p:spPr>
          <a:xfrm>
            <a:off x="8065008" y="4087368"/>
            <a:ext cx="54864" cy="2020824"/>
          </a:xfrm>
          <a:prstGeom prst="rect">
            <a:avLst/>
          </a:prstGeom>
          <a:solidFill>
            <a:srgbClr val="10B981"/>
          </a:solidFill>
          <a:ln w="12700">
            <a:solidFill>
              <a:srgbClr val="10B981"/>
            </a:solidFill>
            <a:prstDash val="solid"/>
          </a:ln>
        </p:spPr>
      </p:sp>
      <p:sp>
        <p:nvSpPr>
          <p:cNvPr id="38" name="Text 36"/>
          <p:cNvSpPr/>
          <p:nvPr/>
        </p:nvSpPr>
        <p:spPr>
          <a:xfrm>
            <a:off x="8275320" y="4069080"/>
            <a:ext cx="3291840" cy="365760"/>
          </a:xfrm>
          <a:prstGeom prst="rect">
            <a:avLst/>
          </a:prstGeom>
          <a:noFill/>
          <a:ln/>
        </p:spPr>
        <p:txBody>
          <a:bodyPr wrap="square" rtlCol="0" anchor="ctr"/>
          <a:lstStyle/>
          <a:p>
            <a:pPr indent="0" marL="0">
              <a:buNone/>
            </a:pPr>
            <a:r>
              <a:rPr lang="en-US" sz="1400" dirty="0">
                <a:solidFill>
                  <a:srgbClr val="10B981"/>
                </a:solidFill>
                <a:latin typeface="Segoe UI Semibold" pitchFamily="34" charset="0"/>
                <a:ea typeface="Segoe UI Semibold" pitchFamily="34" charset="-122"/>
                <a:cs typeface="Segoe UI Semibold" pitchFamily="34" charset="-120"/>
              </a:rPr>
              <a:t>Safety rails</a:t>
            </a:r>
            <a:endParaRPr lang="en-US" sz="1400" dirty="0"/>
          </a:p>
        </p:txBody>
      </p:sp>
      <p:sp>
        <p:nvSpPr>
          <p:cNvPr id="39" name="Text 37"/>
          <p:cNvSpPr/>
          <p:nvPr/>
        </p:nvSpPr>
        <p:spPr>
          <a:xfrm>
            <a:off x="8229600" y="4480560"/>
            <a:ext cx="3337560" cy="169164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Empty or failed LLM reply → deterministic summary</a:t>
            </a:r>
            <a:endParaRPr lang="en-US" sz="1200" dirty="0"/>
          </a:p>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Low reasoning effort + extra token budget, so replies are not left blank</a:t>
            </a:r>
            <a:endParaRPr lang="en-US" sz="1200" dirty="0"/>
          </a:p>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Decision rule is illustrative, not investment advice</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06 · METHODOLOGY</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The deterministic tool layer</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How a sentence like "Sharpe ratio of my portfolio" becomes one exact number</a:t>
            </a:r>
            <a:endParaRPr lang="en-US" sz="1300" dirty="0"/>
          </a:p>
        </p:txBody>
      </p:sp>
      <p:sp>
        <p:nvSpPr>
          <p:cNvPr id="5" name="Shape 3"/>
          <p:cNvSpPr/>
          <p:nvPr/>
        </p:nvSpPr>
        <p:spPr>
          <a:xfrm>
            <a:off x="548640" y="1600200"/>
            <a:ext cx="5120640" cy="4617720"/>
          </a:xfrm>
          <a:prstGeom prst="roundRect">
            <a:avLst>
              <a:gd name="adj" fmla="val 1584"/>
            </a:avLst>
          </a:prstGeom>
          <a:solidFill>
            <a:srgbClr val="141A22"/>
          </a:solidFill>
          <a:ln w="12700">
            <a:solidFill>
              <a:srgbClr val="263243"/>
            </a:solidFill>
            <a:prstDash val="solid"/>
          </a:ln>
        </p:spPr>
      </p:sp>
      <p:sp>
        <p:nvSpPr>
          <p:cNvPr id="6" name="Text 4"/>
          <p:cNvSpPr/>
          <p:nvPr/>
        </p:nvSpPr>
        <p:spPr>
          <a:xfrm>
            <a:off x="731520" y="1691640"/>
            <a:ext cx="4846320" cy="365760"/>
          </a:xfrm>
          <a:prstGeom prst="rect">
            <a:avLst/>
          </a:prstGeom>
          <a:noFill/>
          <a:ln/>
        </p:spPr>
        <p:txBody>
          <a:bodyPr wrap="square" rtlCol="0" anchor="ctr"/>
          <a:lstStyle/>
          <a:p>
            <a:pPr indent="0" marL="0">
              <a:buNone/>
            </a:pPr>
            <a:r>
              <a:rPr lang="en-US" sz="1500" dirty="0">
                <a:solidFill>
                  <a:srgbClr val="10B981"/>
                </a:solidFill>
                <a:latin typeface="Segoe UI Semibold" pitchFamily="34" charset="0"/>
                <a:ea typeface="Segoe UI Semibold" pitchFamily="34" charset="-122"/>
                <a:cs typeface="Segoe UI Semibold" pitchFamily="34" charset="-120"/>
              </a:rPr>
              <a:t>1. Understand the question</a:t>
            </a:r>
            <a:endParaRPr lang="en-US" sz="1500" dirty="0"/>
          </a:p>
        </p:txBody>
      </p:sp>
      <p:sp>
        <p:nvSpPr>
          <p:cNvPr id="7" name="Text 5"/>
          <p:cNvSpPr/>
          <p:nvPr/>
        </p:nvSpPr>
        <p:spPr>
          <a:xfrm>
            <a:off x="731520" y="2103120"/>
            <a:ext cx="4800600" cy="4023360"/>
          </a:xfrm>
          <a:prstGeom prst="rect">
            <a:avLst/>
          </a:prstGeom>
          <a:noFill/>
          <a:ln/>
        </p:spPr>
        <p:txBody>
          <a:bodyPr wrap="square" lIns="50800" tIns="50800" rIns="50800" bIns="50800" rtlCol="0" anchor="t"/>
          <a:lstStyle/>
          <a:p>
            <a:pPr marL="342900" indent="-342900">
              <a:spcAft>
                <a:spcPts val="800"/>
              </a:spcAft>
              <a:buSzPct val="100000"/>
              <a:buChar char="▪"/>
            </a:pPr>
            <a:r>
              <a:rPr lang="en-US" sz="1250" b="1" dirty="0">
                <a:solidFill>
                  <a:srgbClr val="E6EDF3"/>
                </a:solidFill>
                <a:latin typeface="Segoe UI" pitchFamily="34" charset="0"/>
                <a:ea typeface="Segoe UI" pitchFamily="34" charset="-122"/>
                <a:cs typeface="Segoe UI" pitchFamily="34" charset="-120"/>
              </a:rPr>
              <a:t>Ordered routes, first match wins: </a:t>
            </a:r>
            <a:pPr indent="0" marL="0">
              <a:spcAft>
                <a:spcPts val="800"/>
              </a:spcAft>
              <a:buNone/>
            </a:pPr>
            <a:r>
              <a:rPr lang="en-US" sz="1250" dirty="0">
                <a:solidFill>
                  <a:srgbClr val="E6EDF3"/>
                </a:solidFill>
                <a:latin typeface="Segoe UI" pitchFamily="34" charset="0"/>
                <a:ea typeface="Segoe UI" pitchFamily="34" charset="-122"/>
                <a:cs typeface="Segoe UI" pitchFamily="34" charset="-120"/>
              </a:rPr>
              <a:t>"value at risk" is checked before the generic "risk"</a:t>
            </a:r>
            <a:endParaRPr lang="en-US" sz="1250" dirty="0"/>
          </a:p>
          <a:p>
            <a:pPr marL="342900" indent="-342900">
              <a:spcAft>
                <a:spcPts val="800"/>
              </a:spcAft>
              <a:buSzPct val="100000"/>
              <a:buChar char="▪"/>
            </a:pPr>
            <a:r>
              <a:rPr lang="en-US" sz="1250" b="1" dirty="0">
                <a:solidFill>
                  <a:srgbClr val="E6EDF3"/>
                </a:solidFill>
                <a:latin typeface="Segoe UI" pitchFamily="34" charset="0"/>
                <a:ea typeface="Segoe UI" pitchFamily="34" charset="-122"/>
                <a:cs typeface="Segoe UI" pitchFamily="34" charset="-120"/>
              </a:rPr>
              <a:t>Word boundaries: </a:t>
            </a:r>
            <a:pPr indent="0" marL="0">
              <a:spcAft>
                <a:spcPts val="800"/>
              </a:spcAft>
              <a:buNone/>
            </a:pPr>
            <a:r>
              <a:rPr lang="en-US" sz="1250" dirty="0">
                <a:solidFill>
                  <a:srgbClr val="E6EDF3"/>
                </a:solidFill>
                <a:latin typeface="Segoe UI" pitchFamily="34" charset="0"/>
                <a:ea typeface="Segoe UI" pitchFamily="34" charset="-122"/>
                <a:cs typeface="Segoe UI" pitchFamily="34" charset="-120"/>
              </a:rPr>
              <a:t>"various" no longer triggers VaR</a:t>
            </a:r>
            <a:endParaRPr lang="en-US" sz="1250" dirty="0"/>
          </a:p>
          <a:p>
            <a:pPr marL="342900" indent="-342900">
              <a:spcAft>
                <a:spcPts val="800"/>
              </a:spcAft>
              <a:buSzPct val="100000"/>
              <a:buChar char="▪"/>
            </a:pPr>
            <a:r>
              <a:rPr lang="en-US" sz="1250" b="1" dirty="0">
                <a:solidFill>
                  <a:srgbClr val="E6EDF3"/>
                </a:solidFill>
                <a:latin typeface="Segoe UI" pitchFamily="34" charset="0"/>
                <a:ea typeface="Segoe UI" pitchFamily="34" charset="-122"/>
                <a:cs typeface="Segoe UI" pitchFamily="34" charset="-120"/>
              </a:rPr>
              <a:t>Exchange-aware tickers: </a:t>
            </a:r>
            <a:pPr indent="0" marL="0">
              <a:spcAft>
                <a:spcPts val="800"/>
              </a:spcAft>
              <a:buNone/>
            </a:pPr>
            <a:r>
              <a:rPr lang="en-US" sz="1250" dirty="0">
                <a:solidFill>
                  <a:srgbClr val="E6EDF3"/>
                </a:solidFill>
                <a:latin typeface="Segoe UI" pitchFamily="34" charset="0"/>
                <a:ea typeface="Segoe UI" pitchFamily="34" charset="-122"/>
                <a:cs typeface="Segoe UI" pitchFamily="34" charset="-120"/>
              </a:rPr>
              <a:t>broker symbol IDEA (NSE) → IDEA.NS. Bare "IDEA" is a US penny stock</a:t>
            </a:r>
            <a:endParaRPr lang="en-US" sz="1250" dirty="0"/>
          </a:p>
          <a:p>
            <a:pPr marL="342900" indent="-342900">
              <a:spcAft>
                <a:spcPts val="800"/>
              </a:spcAft>
              <a:buSzPct val="100000"/>
              <a:buChar char="▪"/>
            </a:pPr>
            <a:r>
              <a:rPr lang="en-US" sz="1250" b="1" dirty="0">
                <a:solidFill>
                  <a:srgbClr val="E6EDF3"/>
                </a:solidFill>
                <a:latin typeface="Segoe UI" pitchFamily="34" charset="0"/>
                <a:ea typeface="Segoe UI" pitchFamily="34" charset="-122"/>
                <a:cs typeface="Segoe UI" pitchFamily="34" charset="-120"/>
              </a:rPr>
              <a:t>Real words are not tickers: </a:t>
            </a:r>
            <a:pPr indent="0" marL="0">
              <a:spcAft>
                <a:spcPts val="800"/>
              </a:spcAft>
              <a:buNone/>
            </a:pPr>
            <a:r>
              <a:rPr lang="en-US" sz="1250" dirty="0">
                <a:solidFill>
                  <a:srgbClr val="E6EDF3"/>
                </a:solidFill>
                <a:latin typeface="Segoe UI" pitchFamily="34" charset="0"/>
                <a:ea typeface="Segoe UI" pitchFamily="34" charset="-122"/>
                <a:cs typeface="Segoe UI" pitchFamily="34" charset="-120"/>
              </a:rPr>
              <a:t>"portfolio", "this", "maximum" are ignored</a:t>
            </a:r>
            <a:endParaRPr lang="en-US" sz="1250" dirty="0"/>
          </a:p>
          <a:p>
            <a:pPr marL="342900" indent="-342900">
              <a:spcAft>
                <a:spcPts val="800"/>
              </a:spcAft>
              <a:buSzPct val="100000"/>
              <a:buChar char="▪"/>
            </a:pPr>
            <a:r>
              <a:rPr lang="en-US" sz="1250" b="1" dirty="0">
                <a:solidFill>
                  <a:srgbClr val="E6EDF3"/>
                </a:solidFill>
                <a:latin typeface="Segoe UI" pitchFamily="34" charset="0"/>
                <a:ea typeface="Segoe UI" pitchFamily="34" charset="-122"/>
                <a:cs typeface="Segoe UI" pitchFamily="34" charset="-120"/>
              </a:rPr>
              <a:t>No stock named → whole portfolio: </a:t>
            </a:r>
            <a:pPr indent="0" marL="0">
              <a:spcAft>
                <a:spcPts val="800"/>
              </a:spcAft>
              <a:buNone/>
            </a:pPr>
            <a:r>
              <a:rPr lang="en-US" sz="1250" dirty="0">
                <a:solidFill>
                  <a:srgbClr val="E6EDF3"/>
                </a:solidFill>
                <a:latin typeface="Segoe UI" pitchFamily="34" charset="0"/>
                <a:ea typeface="Segoe UI" pitchFamily="34" charset="-122"/>
                <a:cs typeface="Segoe UI" pitchFamily="34" charset="-120"/>
              </a:rPr>
              <a:t>daily value Vₜ = Σ qᵢ·Pᵢ,ₜ over the holdings</a:t>
            </a:r>
            <a:endParaRPr lang="en-US" sz="1250" dirty="0"/>
          </a:p>
          <a:p>
            <a:pPr marL="342900" indent="-342900">
              <a:spcAft>
                <a:spcPts val="800"/>
              </a:spcAft>
              <a:buSzPct val="100000"/>
              <a:buChar char="▪"/>
            </a:pPr>
            <a:r>
              <a:rPr lang="en-US" sz="1250" b="1" dirty="0">
                <a:solidFill>
                  <a:srgbClr val="E6EDF3"/>
                </a:solidFill>
                <a:latin typeface="Segoe UI" pitchFamily="34" charset="0"/>
                <a:ea typeface="Segoe UI" pitchFamily="34" charset="-122"/>
                <a:cs typeface="Segoe UI" pitchFamily="34" charset="-120"/>
              </a:rPr>
              <a:t>Period: </a:t>
            </a:r>
            <a:pPr indent="0" marL="0">
              <a:spcAft>
                <a:spcPts val="800"/>
              </a:spcAft>
              <a:buNone/>
            </a:pPr>
            <a:r>
              <a:rPr lang="en-US" sz="1250" dirty="0">
                <a:solidFill>
                  <a:srgbClr val="E6EDF3"/>
                </a:solidFill>
                <a:latin typeface="Segoe UI" pitchFamily="34" charset="0"/>
                <a:ea typeface="Segoe UI" pitchFamily="34" charset="-122"/>
                <a:cs typeface="Segoe UI" pitchFamily="34" charset="-120"/>
              </a:rPr>
              <a:t>taken from the question (1 month – 5 years), else each metric's default window</a:t>
            </a:r>
            <a:endParaRPr lang="en-US" sz="1250" dirty="0"/>
          </a:p>
        </p:txBody>
      </p:sp>
      <p:sp>
        <p:nvSpPr>
          <p:cNvPr id="8" name="Text 6"/>
          <p:cNvSpPr/>
          <p:nvPr/>
        </p:nvSpPr>
        <p:spPr>
          <a:xfrm>
            <a:off x="6035040" y="1600200"/>
            <a:ext cx="5577840" cy="365760"/>
          </a:xfrm>
          <a:prstGeom prst="rect">
            <a:avLst/>
          </a:prstGeom>
          <a:noFill/>
          <a:ln/>
        </p:spPr>
        <p:txBody>
          <a:bodyPr wrap="square" rtlCol="0" anchor="ctr"/>
          <a:lstStyle/>
          <a:p>
            <a:pPr indent="0" marL="0">
              <a:buNone/>
            </a:pPr>
            <a:r>
              <a:rPr lang="en-US" sz="1500" dirty="0">
                <a:solidFill>
                  <a:srgbClr val="10B981"/>
                </a:solidFill>
                <a:latin typeface="Segoe UI Semibold" pitchFamily="34" charset="0"/>
                <a:ea typeface="Segoe UI Semibold" pitchFamily="34" charset="-122"/>
                <a:cs typeface="Segoe UI Semibold" pitchFamily="34" charset="-120"/>
              </a:rPr>
              <a:t>2. Compute with one tested formula</a:t>
            </a:r>
            <a:endParaRPr lang="en-US" sz="1500" dirty="0"/>
          </a:p>
        </p:txBody>
      </p:sp>
      <p:sp>
        <p:nvSpPr>
          <p:cNvPr id="9" name="Shape 7"/>
          <p:cNvSpPr/>
          <p:nvPr/>
        </p:nvSpPr>
        <p:spPr>
          <a:xfrm>
            <a:off x="6035040" y="2029968"/>
            <a:ext cx="5605272" cy="475488"/>
          </a:xfrm>
          <a:prstGeom prst="roundRect">
            <a:avLst>
              <a:gd name="adj" fmla="val 15385"/>
            </a:avLst>
          </a:prstGeom>
          <a:solidFill>
            <a:srgbClr val="141A22"/>
          </a:solidFill>
          <a:ln w="12700">
            <a:solidFill>
              <a:srgbClr val="263243"/>
            </a:solidFill>
            <a:prstDash val="solid"/>
          </a:ln>
        </p:spPr>
      </p:sp>
      <p:sp>
        <p:nvSpPr>
          <p:cNvPr id="10" name="Text 8"/>
          <p:cNvSpPr/>
          <p:nvPr/>
        </p:nvSpPr>
        <p:spPr>
          <a:xfrm>
            <a:off x="6172200" y="2029968"/>
            <a:ext cx="1463040" cy="475488"/>
          </a:xfrm>
          <a:prstGeom prst="rect">
            <a:avLst/>
          </a:prstGeom>
          <a:noFill/>
          <a:ln/>
        </p:spPr>
        <p:txBody>
          <a:bodyPr wrap="square" rtlCol="0" anchor="ctr"/>
          <a:lstStyle/>
          <a:p>
            <a:pPr indent="0" marL="0">
              <a:buNone/>
            </a:pPr>
            <a:r>
              <a:rPr lang="en-US" sz="1200" dirty="0">
                <a:solidFill>
                  <a:srgbClr val="E6EDF3"/>
                </a:solidFill>
                <a:latin typeface="Segoe UI Semibold" pitchFamily="34" charset="0"/>
                <a:ea typeface="Segoe UI Semibold" pitchFamily="34" charset="-122"/>
                <a:cs typeface="Segoe UI Semibold" pitchFamily="34" charset="-120"/>
              </a:rPr>
              <a:t>Total return</a:t>
            </a:r>
            <a:endParaRPr lang="en-US" sz="1200" dirty="0"/>
          </a:p>
        </p:txBody>
      </p:sp>
      <p:sp>
        <p:nvSpPr>
          <p:cNvPr id="11" name="Text 9"/>
          <p:cNvSpPr/>
          <p:nvPr/>
        </p:nvSpPr>
        <p:spPr>
          <a:xfrm>
            <a:off x="7589520" y="2029968"/>
            <a:ext cx="4023360" cy="475488"/>
          </a:xfrm>
          <a:prstGeom prst="rect">
            <a:avLst/>
          </a:prstGeom>
          <a:noFill/>
          <a:ln/>
        </p:spPr>
        <p:txBody>
          <a:bodyPr wrap="square" rtlCol="0" anchor="ctr"/>
          <a:lstStyle/>
          <a:p>
            <a:pPr indent="0" marL="0">
              <a:buNone/>
            </a:pPr>
            <a:r>
              <a:rPr lang="en-US" sz="1100" dirty="0">
                <a:solidFill>
                  <a:srgbClr val="38BDF8"/>
                </a:solidFill>
                <a:latin typeface="Consolas" pitchFamily="34" charset="0"/>
                <a:ea typeface="Consolas" pitchFamily="34" charset="-122"/>
                <a:cs typeface="Consolas" pitchFamily="34" charset="-120"/>
              </a:rPr>
              <a:t>100 · (V_T / V_0 − 1)</a:t>
            </a:r>
            <a:endParaRPr lang="en-US" sz="1100" dirty="0"/>
          </a:p>
        </p:txBody>
      </p:sp>
      <p:sp>
        <p:nvSpPr>
          <p:cNvPr id="12" name="Shape 10"/>
          <p:cNvSpPr/>
          <p:nvPr/>
        </p:nvSpPr>
        <p:spPr>
          <a:xfrm>
            <a:off x="6035040" y="2578608"/>
            <a:ext cx="5605272" cy="475488"/>
          </a:xfrm>
          <a:prstGeom prst="roundRect">
            <a:avLst>
              <a:gd name="adj" fmla="val 15385"/>
            </a:avLst>
          </a:prstGeom>
          <a:solidFill>
            <a:srgbClr val="141A22"/>
          </a:solidFill>
          <a:ln w="12700">
            <a:solidFill>
              <a:srgbClr val="263243"/>
            </a:solidFill>
            <a:prstDash val="solid"/>
          </a:ln>
        </p:spPr>
      </p:sp>
      <p:sp>
        <p:nvSpPr>
          <p:cNvPr id="13" name="Text 11"/>
          <p:cNvSpPr/>
          <p:nvPr/>
        </p:nvSpPr>
        <p:spPr>
          <a:xfrm>
            <a:off x="6172200" y="2578608"/>
            <a:ext cx="1463040" cy="475488"/>
          </a:xfrm>
          <a:prstGeom prst="rect">
            <a:avLst/>
          </a:prstGeom>
          <a:noFill/>
          <a:ln/>
        </p:spPr>
        <p:txBody>
          <a:bodyPr wrap="square" rtlCol="0" anchor="ctr"/>
          <a:lstStyle/>
          <a:p>
            <a:pPr indent="0" marL="0">
              <a:buNone/>
            </a:pPr>
            <a:r>
              <a:rPr lang="en-US" sz="1200" dirty="0">
                <a:solidFill>
                  <a:srgbClr val="E6EDF3"/>
                </a:solidFill>
                <a:latin typeface="Segoe UI Semibold" pitchFamily="34" charset="0"/>
                <a:ea typeface="Segoe UI Semibold" pitchFamily="34" charset="-122"/>
                <a:cs typeface="Segoe UI Semibold" pitchFamily="34" charset="-120"/>
              </a:rPr>
              <a:t>Max drawdown</a:t>
            </a:r>
            <a:endParaRPr lang="en-US" sz="1200" dirty="0"/>
          </a:p>
        </p:txBody>
      </p:sp>
      <p:sp>
        <p:nvSpPr>
          <p:cNvPr id="14" name="Text 12"/>
          <p:cNvSpPr/>
          <p:nvPr/>
        </p:nvSpPr>
        <p:spPr>
          <a:xfrm>
            <a:off x="7589520" y="2578608"/>
            <a:ext cx="4023360" cy="475488"/>
          </a:xfrm>
          <a:prstGeom prst="rect">
            <a:avLst/>
          </a:prstGeom>
          <a:noFill/>
          <a:ln/>
        </p:spPr>
        <p:txBody>
          <a:bodyPr wrap="square" rtlCol="0" anchor="ctr"/>
          <a:lstStyle/>
          <a:p>
            <a:pPr indent="0" marL="0">
              <a:buNone/>
            </a:pPr>
            <a:r>
              <a:rPr lang="en-US" sz="1100" dirty="0">
                <a:solidFill>
                  <a:srgbClr val="38BDF8"/>
                </a:solidFill>
                <a:latin typeface="Consolas" pitchFamily="34" charset="0"/>
                <a:ea typeface="Consolas" pitchFamily="34" charset="-122"/>
                <a:cs typeface="Consolas" pitchFamily="34" charset="-120"/>
              </a:rPr>
              <a:t>100 · min_t (V_t / max_{u≤t} V_u − 1)</a:t>
            </a:r>
            <a:endParaRPr lang="en-US" sz="1100" dirty="0"/>
          </a:p>
        </p:txBody>
      </p:sp>
      <p:sp>
        <p:nvSpPr>
          <p:cNvPr id="15" name="Shape 13"/>
          <p:cNvSpPr/>
          <p:nvPr/>
        </p:nvSpPr>
        <p:spPr>
          <a:xfrm>
            <a:off x="6035040" y="3127248"/>
            <a:ext cx="5605272" cy="475488"/>
          </a:xfrm>
          <a:prstGeom prst="roundRect">
            <a:avLst>
              <a:gd name="adj" fmla="val 15385"/>
            </a:avLst>
          </a:prstGeom>
          <a:solidFill>
            <a:srgbClr val="141A22"/>
          </a:solidFill>
          <a:ln w="12700">
            <a:solidFill>
              <a:srgbClr val="263243"/>
            </a:solidFill>
            <a:prstDash val="solid"/>
          </a:ln>
        </p:spPr>
      </p:sp>
      <p:sp>
        <p:nvSpPr>
          <p:cNvPr id="16" name="Text 14"/>
          <p:cNvSpPr/>
          <p:nvPr/>
        </p:nvSpPr>
        <p:spPr>
          <a:xfrm>
            <a:off x="6172200" y="3127248"/>
            <a:ext cx="1463040" cy="475488"/>
          </a:xfrm>
          <a:prstGeom prst="rect">
            <a:avLst/>
          </a:prstGeom>
          <a:noFill/>
          <a:ln/>
        </p:spPr>
        <p:txBody>
          <a:bodyPr wrap="square" rtlCol="0" anchor="ctr"/>
          <a:lstStyle/>
          <a:p>
            <a:pPr indent="0" marL="0">
              <a:buNone/>
            </a:pPr>
            <a:r>
              <a:rPr lang="en-US" sz="1200" dirty="0">
                <a:solidFill>
                  <a:srgbClr val="E6EDF3"/>
                </a:solidFill>
                <a:latin typeface="Segoe UI Semibold" pitchFamily="34" charset="0"/>
                <a:ea typeface="Segoe UI Semibold" pitchFamily="34" charset="-122"/>
                <a:cs typeface="Segoe UI Semibold" pitchFamily="34" charset="-120"/>
              </a:rPr>
              <a:t>VaR 95%</a:t>
            </a:r>
            <a:endParaRPr lang="en-US" sz="1200" dirty="0"/>
          </a:p>
        </p:txBody>
      </p:sp>
      <p:sp>
        <p:nvSpPr>
          <p:cNvPr id="17" name="Text 15"/>
          <p:cNvSpPr/>
          <p:nvPr/>
        </p:nvSpPr>
        <p:spPr>
          <a:xfrm>
            <a:off x="7589520" y="3127248"/>
            <a:ext cx="4023360" cy="475488"/>
          </a:xfrm>
          <a:prstGeom prst="rect">
            <a:avLst/>
          </a:prstGeom>
          <a:noFill/>
          <a:ln/>
        </p:spPr>
        <p:txBody>
          <a:bodyPr wrap="square" rtlCol="0" anchor="ctr"/>
          <a:lstStyle/>
          <a:p>
            <a:pPr indent="0" marL="0">
              <a:buNone/>
            </a:pPr>
            <a:r>
              <a:rPr lang="en-US" sz="1100" dirty="0">
                <a:solidFill>
                  <a:srgbClr val="38BDF8"/>
                </a:solidFill>
                <a:latin typeface="Consolas" pitchFamily="34" charset="0"/>
                <a:ea typeface="Consolas" pitchFamily="34" charset="-122"/>
                <a:cs typeface="Consolas" pitchFamily="34" charset="-120"/>
              </a:rPr>
              <a:t>−100 · Q₀.₀₅(daily returns), linear interpolation</a:t>
            </a:r>
            <a:endParaRPr lang="en-US" sz="1100" dirty="0"/>
          </a:p>
        </p:txBody>
      </p:sp>
      <p:sp>
        <p:nvSpPr>
          <p:cNvPr id="18" name="Shape 16"/>
          <p:cNvSpPr/>
          <p:nvPr/>
        </p:nvSpPr>
        <p:spPr>
          <a:xfrm>
            <a:off x="6035040" y="3675888"/>
            <a:ext cx="5605272" cy="475488"/>
          </a:xfrm>
          <a:prstGeom prst="roundRect">
            <a:avLst>
              <a:gd name="adj" fmla="val 15385"/>
            </a:avLst>
          </a:prstGeom>
          <a:solidFill>
            <a:srgbClr val="141A22"/>
          </a:solidFill>
          <a:ln w="12700">
            <a:solidFill>
              <a:srgbClr val="263243"/>
            </a:solidFill>
            <a:prstDash val="solid"/>
          </a:ln>
        </p:spPr>
      </p:sp>
      <p:sp>
        <p:nvSpPr>
          <p:cNvPr id="19" name="Text 17"/>
          <p:cNvSpPr/>
          <p:nvPr/>
        </p:nvSpPr>
        <p:spPr>
          <a:xfrm>
            <a:off x="6172200" y="3675888"/>
            <a:ext cx="1463040" cy="475488"/>
          </a:xfrm>
          <a:prstGeom prst="rect">
            <a:avLst/>
          </a:prstGeom>
          <a:noFill/>
          <a:ln/>
        </p:spPr>
        <p:txBody>
          <a:bodyPr wrap="square" rtlCol="0" anchor="ctr"/>
          <a:lstStyle/>
          <a:p>
            <a:pPr indent="0" marL="0">
              <a:buNone/>
            </a:pPr>
            <a:r>
              <a:rPr lang="en-US" sz="1200" dirty="0">
                <a:solidFill>
                  <a:srgbClr val="E6EDF3"/>
                </a:solidFill>
                <a:latin typeface="Segoe UI Semibold" pitchFamily="34" charset="0"/>
                <a:ea typeface="Segoe UI Semibold" pitchFamily="34" charset="-122"/>
                <a:cs typeface="Segoe UI Semibold" pitchFamily="34" charset="-120"/>
              </a:rPr>
              <a:t>Sharpe</a:t>
            </a:r>
            <a:endParaRPr lang="en-US" sz="1200" dirty="0"/>
          </a:p>
        </p:txBody>
      </p:sp>
      <p:sp>
        <p:nvSpPr>
          <p:cNvPr id="20" name="Text 18"/>
          <p:cNvSpPr/>
          <p:nvPr/>
        </p:nvSpPr>
        <p:spPr>
          <a:xfrm>
            <a:off x="7589520" y="3675888"/>
            <a:ext cx="4023360" cy="475488"/>
          </a:xfrm>
          <a:prstGeom prst="rect">
            <a:avLst/>
          </a:prstGeom>
          <a:noFill/>
          <a:ln/>
        </p:spPr>
        <p:txBody>
          <a:bodyPr wrap="square" rtlCol="0" anchor="ctr"/>
          <a:lstStyle/>
          <a:p>
            <a:pPr indent="0" marL="0">
              <a:buNone/>
            </a:pPr>
            <a:r>
              <a:rPr lang="en-US" sz="1100" dirty="0">
                <a:solidFill>
                  <a:srgbClr val="38BDF8"/>
                </a:solidFill>
                <a:latin typeface="Consolas" pitchFamily="34" charset="0"/>
                <a:ea typeface="Consolas" pitchFamily="34" charset="-122"/>
                <a:cs typeface="Consolas" pitchFamily="34" charset="-120"/>
              </a:rPr>
              <a:t>(r̄ − 0.05/252) / s · √252   (sample std)</a:t>
            </a:r>
            <a:endParaRPr lang="en-US" sz="1100" dirty="0"/>
          </a:p>
        </p:txBody>
      </p:sp>
      <p:sp>
        <p:nvSpPr>
          <p:cNvPr id="21" name="Shape 19"/>
          <p:cNvSpPr/>
          <p:nvPr/>
        </p:nvSpPr>
        <p:spPr>
          <a:xfrm>
            <a:off x="6035040" y="4224528"/>
            <a:ext cx="5605272" cy="475488"/>
          </a:xfrm>
          <a:prstGeom prst="roundRect">
            <a:avLst>
              <a:gd name="adj" fmla="val 15385"/>
            </a:avLst>
          </a:prstGeom>
          <a:solidFill>
            <a:srgbClr val="141A22"/>
          </a:solidFill>
          <a:ln w="12700">
            <a:solidFill>
              <a:srgbClr val="263243"/>
            </a:solidFill>
            <a:prstDash val="solid"/>
          </a:ln>
        </p:spPr>
      </p:sp>
      <p:sp>
        <p:nvSpPr>
          <p:cNvPr id="22" name="Text 20"/>
          <p:cNvSpPr/>
          <p:nvPr/>
        </p:nvSpPr>
        <p:spPr>
          <a:xfrm>
            <a:off x="6172200" y="4224528"/>
            <a:ext cx="1463040" cy="475488"/>
          </a:xfrm>
          <a:prstGeom prst="rect">
            <a:avLst/>
          </a:prstGeom>
          <a:noFill/>
          <a:ln/>
        </p:spPr>
        <p:txBody>
          <a:bodyPr wrap="square" rtlCol="0" anchor="ctr"/>
          <a:lstStyle/>
          <a:p>
            <a:pPr indent="0" marL="0">
              <a:buNone/>
            </a:pPr>
            <a:r>
              <a:rPr lang="en-US" sz="1200" dirty="0">
                <a:solidFill>
                  <a:srgbClr val="E6EDF3"/>
                </a:solidFill>
                <a:latin typeface="Segoe UI Semibold" pitchFamily="34" charset="0"/>
                <a:ea typeface="Segoe UI Semibold" pitchFamily="34" charset="-122"/>
                <a:cs typeface="Segoe UI Semibold" pitchFamily="34" charset="-120"/>
              </a:rPr>
              <a:t>RSI 14</a:t>
            </a:r>
            <a:endParaRPr lang="en-US" sz="1200" dirty="0"/>
          </a:p>
        </p:txBody>
      </p:sp>
      <p:sp>
        <p:nvSpPr>
          <p:cNvPr id="23" name="Text 21"/>
          <p:cNvSpPr/>
          <p:nvPr/>
        </p:nvSpPr>
        <p:spPr>
          <a:xfrm>
            <a:off x="7589520" y="4224528"/>
            <a:ext cx="4023360" cy="475488"/>
          </a:xfrm>
          <a:prstGeom prst="rect">
            <a:avLst/>
          </a:prstGeom>
          <a:noFill/>
          <a:ln/>
        </p:spPr>
        <p:txBody>
          <a:bodyPr wrap="square" rtlCol="0" anchor="ctr"/>
          <a:lstStyle/>
          <a:p>
            <a:pPr indent="0" marL="0">
              <a:buNone/>
            </a:pPr>
            <a:r>
              <a:rPr lang="en-US" sz="1100" dirty="0">
                <a:solidFill>
                  <a:srgbClr val="38BDF8"/>
                </a:solidFill>
                <a:latin typeface="Consolas" pitchFamily="34" charset="0"/>
                <a:ea typeface="Consolas" pitchFamily="34" charset="-122"/>
                <a:cs typeface="Consolas" pitchFamily="34" charset="-120"/>
              </a:rPr>
              <a:t>100 − 100 / (1 + avg gain₁₄ / avg loss₁₄)   (simple means)</a:t>
            </a:r>
            <a:endParaRPr lang="en-US" sz="1100" dirty="0"/>
          </a:p>
        </p:txBody>
      </p:sp>
      <p:sp>
        <p:nvSpPr>
          <p:cNvPr id="24" name="Shape 22"/>
          <p:cNvSpPr/>
          <p:nvPr/>
        </p:nvSpPr>
        <p:spPr>
          <a:xfrm>
            <a:off x="6035040" y="4773168"/>
            <a:ext cx="5605272" cy="475488"/>
          </a:xfrm>
          <a:prstGeom prst="roundRect">
            <a:avLst>
              <a:gd name="adj" fmla="val 15385"/>
            </a:avLst>
          </a:prstGeom>
          <a:solidFill>
            <a:srgbClr val="141A22"/>
          </a:solidFill>
          <a:ln w="12700">
            <a:solidFill>
              <a:srgbClr val="263243"/>
            </a:solidFill>
            <a:prstDash val="solid"/>
          </a:ln>
        </p:spPr>
      </p:sp>
      <p:sp>
        <p:nvSpPr>
          <p:cNvPr id="25" name="Text 23"/>
          <p:cNvSpPr/>
          <p:nvPr/>
        </p:nvSpPr>
        <p:spPr>
          <a:xfrm>
            <a:off x="6172200" y="4773168"/>
            <a:ext cx="1463040" cy="475488"/>
          </a:xfrm>
          <a:prstGeom prst="rect">
            <a:avLst/>
          </a:prstGeom>
          <a:noFill/>
          <a:ln/>
        </p:spPr>
        <p:txBody>
          <a:bodyPr wrap="square" rtlCol="0" anchor="ctr"/>
          <a:lstStyle/>
          <a:p>
            <a:pPr indent="0" marL="0">
              <a:buNone/>
            </a:pPr>
            <a:r>
              <a:rPr lang="en-US" sz="1200" dirty="0">
                <a:solidFill>
                  <a:srgbClr val="E6EDF3"/>
                </a:solidFill>
                <a:latin typeface="Segoe UI Semibold" pitchFamily="34" charset="0"/>
                <a:ea typeface="Segoe UI Semibold" pitchFamily="34" charset="-122"/>
                <a:cs typeface="Segoe UI Semibold" pitchFamily="34" charset="-120"/>
              </a:rPr>
              <a:t>Holdings</a:t>
            </a:r>
            <a:endParaRPr lang="en-US" sz="1200" dirty="0"/>
          </a:p>
        </p:txBody>
      </p:sp>
      <p:sp>
        <p:nvSpPr>
          <p:cNvPr id="26" name="Text 24"/>
          <p:cNvSpPr/>
          <p:nvPr/>
        </p:nvSpPr>
        <p:spPr>
          <a:xfrm>
            <a:off x="7589520" y="4773168"/>
            <a:ext cx="4023360" cy="475488"/>
          </a:xfrm>
          <a:prstGeom prst="rect">
            <a:avLst/>
          </a:prstGeom>
          <a:noFill/>
          <a:ln/>
        </p:spPr>
        <p:txBody>
          <a:bodyPr wrap="square" rtlCol="0" anchor="ctr"/>
          <a:lstStyle/>
          <a:p>
            <a:pPr indent="0" marL="0">
              <a:buNone/>
            </a:pPr>
            <a:r>
              <a:rPr lang="en-US" sz="1100" dirty="0">
                <a:solidFill>
                  <a:srgbClr val="38BDF8"/>
                </a:solidFill>
                <a:latin typeface="Consolas" pitchFamily="34" charset="0"/>
                <a:ea typeface="Consolas" pitchFamily="34" charset="-122"/>
                <a:cs typeface="Consolas" pitchFamily="34" charset="-120"/>
              </a:rPr>
              <a:t>Invested Σqᵢaᵢ · Current Σqᵢpᵢ · P&amp;L% = 100(C−I)/I</a:t>
            </a:r>
            <a:endParaRPr lang="en-US" sz="1100" dirty="0"/>
          </a:p>
        </p:txBody>
      </p:sp>
      <p:sp>
        <p:nvSpPr>
          <p:cNvPr id="27" name="Shape 25"/>
          <p:cNvSpPr/>
          <p:nvPr/>
        </p:nvSpPr>
        <p:spPr>
          <a:xfrm>
            <a:off x="6035040" y="5394960"/>
            <a:ext cx="5605272" cy="822960"/>
          </a:xfrm>
          <a:prstGeom prst="roundRect">
            <a:avLst>
              <a:gd name="adj" fmla="val 8889"/>
            </a:avLst>
          </a:prstGeom>
          <a:solidFill>
            <a:srgbClr val="0B3B2E"/>
          </a:solidFill>
          <a:ln w="12700">
            <a:solidFill>
              <a:srgbClr val="10B981"/>
            </a:solidFill>
            <a:prstDash val="solid"/>
          </a:ln>
        </p:spPr>
      </p:sp>
      <p:sp>
        <p:nvSpPr>
          <p:cNvPr id="28" name="Text 26"/>
          <p:cNvSpPr/>
          <p:nvPr/>
        </p:nvSpPr>
        <p:spPr>
          <a:xfrm>
            <a:off x="6172200" y="5394960"/>
            <a:ext cx="5394960" cy="822960"/>
          </a:xfrm>
          <a:prstGeom prst="rect">
            <a:avLst/>
          </a:prstGeom>
          <a:noFill/>
          <a:ln/>
        </p:spPr>
        <p:txBody>
          <a:bodyPr wrap="square" rtlCol="0" anchor="ctr"/>
          <a:lstStyle/>
          <a:p>
            <a:pPr indent="0" marL="0">
              <a:buNone/>
            </a:pPr>
            <a:r>
              <a:rPr lang="en-US" sz="1200" dirty="0">
                <a:solidFill>
                  <a:srgbClr val="10B981"/>
                </a:solidFill>
                <a:latin typeface="Segoe UI Semibold" pitchFamily="34" charset="0"/>
                <a:ea typeface="Segoe UI Semibold" pitchFamily="34" charset="-122"/>
                <a:cs typeface="Segoe UI Semibold" pitchFamily="34" charset="-120"/>
              </a:rPr>
              <a:t>Decision rule on P&amp;L%</a:t>
            </a:r>
            <a:endParaRPr lang="en-US" sz="1200" dirty="0"/>
          </a:p>
          <a:p>
            <a:pPr indent="0" marL="0">
              <a:buNone/>
            </a:pPr>
            <a:r>
              <a:rPr lang="en-US" sz="1150" dirty="0">
                <a:solidFill>
                  <a:srgbClr val="E6EDF3"/>
                </a:solidFill>
                <a:latin typeface="Consolas" pitchFamily="34" charset="0"/>
                <a:ea typeface="Consolas" pitchFamily="34" charset="-122"/>
                <a:cs typeface="Consolas" pitchFamily="34" charset="-120"/>
              </a:rPr>
              <a:t>Buy ≥ 10 · Hold 0 to 10 · Trim −10 to 0 · Exit ≤ −10</a:t>
            </a:r>
            <a:endParaRPr lang="en-US" sz="1200" dirty="0"/>
          </a:p>
          <a:p>
            <a:pPr indent="0" marL="0">
              <a:buNone/>
            </a:pPr>
            <a:r>
              <a:rPr lang="en-US" sz="1050" dirty="0">
                <a:solidFill>
                  <a:srgbClr val="8B98A9"/>
                </a:solidFill>
                <a:latin typeface="Segoe UI" pitchFamily="34" charset="0"/>
                <a:ea typeface="Segoe UI" pitchFamily="34" charset="-122"/>
                <a:cs typeface="Segoe UI" pitchFamily="34" charset="-120"/>
              </a:rPr>
              <a:t>56 chatbot tests, including one regression test per bug we found</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06 · METHODOLOGY</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Benchmark design</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A fair test: every system gets the same data, the same formula and the same answer format</a:t>
            </a:r>
            <a:endParaRPr lang="en-US" sz="1300" dirty="0"/>
          </a:p>
        </p:txBody>
      </p:sp>
      <p:sp>
        <p:nvSpPr>
          <p:cNvPr id="5" name="Shape 3"/>
          <p:cNvSpPr/>
          <p:nvPr/>
        </p:nvSpPr>
        <p:spPr>
          <a:xfrm>
            <a:off x="548640" y="1600200"/>
            <a:ext cx="2670048" cy="3246120"/>
          </a:xfrm>
          <a:prstGeom prst="roundRect">
            <a:avLst>
              <a:gd name="adj" fmla="val 2740"/>
            </a:avLst>
          </a:prstGeom>
          <a:solidFill>
            <a:srgbClr val="141A22"/>
          </a:solidFill>
          <a:ln w="12700">
            <a:solidFill>
              <a:srgbClr val="263243"/>
            </a:solidFill>
            <a:prstDash val="solid"/>
          </a:ln>
        </p:spPr>
      </p:sp>
      <p:sp>
        <p:nvSpPr>
          <p:cNvPr id="6" name="Shape 4"/>
          <p:cNvSpPr/>
          <p:nvPr/>
        </p:nvSpPr>
        <p:spPr>
          <a:xfrm>
            <a:off x="566928" y="1709928"/>
            <a:ext cx="54864" cy="3026664"/>
          </a:xfrm>
          <a:prstGeom prst="rect">
            <a:avLst/>
          </a:prstGeom>
          <a:solidFill>
            <a:srgbClr val="38BDF8"/>
          </a:solidFill>
          <a:ln w="12700">
            <a:solidFill>
              <a:srgbClr val="38BDF8"/>
            </a:solidFill>
            <a:prstDash val="solid"/>
          </a:ln>
        </p:spPr>
      </p:sp>
      <p:sp>
        <p:nvSpPr>
          <p:cNvPr id="7" name="Text 5"/>
          <p:cNvSpPr/>
          <p:nvPr/>
        </p:nvSpPr>
        <p:spPr>
          <a:xfrm>
            <a:off x="749808" y="1691640"/>
            <a:ext cx="2377440" cy="365760"/>
          </a:xfrm>
          <a:prstGeom prst="rect">
            <a:avLst/>
          </a:prstGeom>
          <a:noFill/>
          <a:ln/>
        </p:spPr>
        <p:txBody>
          <a:bodyPr wrap="square" rtlCol="0" anchor="ctr"/>
          <a:lstStyle/>
          <a:p>
            <a:pPr indent="0" marL="0">
              <a:buNone/>
            </a:pPr>
            <a:r>
              <a:rPr lang="en-US" sz="1400" dirty="0">
                <a:solidFill>
                  <a:srgbClr val="38BDF8"/>
                </a:solidFill>
                <a:latin typeface="Segoe UI Semibold" pitchFamily="34" charset="0"/>
                <a:ea typeface="Segoe UI Semibold" pitchFamily="34" charset="-122"/>
                <a:cs typeface="Segoe UI Semibold" pitchFamily="34" charset="-120"/>
              </a:rPr>
              <a:t>Data</a:t>
            </a:r>
            <a:endParaRPr lang="en-US" sz="1400" dirty="0"/>
          </a:p>
        </p:txBody>
      </p:sp>
      <p:sp>
        <p:nvSpPr>
          <p:cNvPr id="8" name="Text 6"/>
          <p:cNvSpPr/>
          <p:nvPr/>
        </p:nvSpPr>
        <p:spPr>
          <a:xfrm>
            <a:off x="713232" y="2103120"/>
            <a:ext cx="2450592" cy="2697480"/>
          </a:xfrm>
          <a:prstGeom prst="rect">
            <a:avLst/>
          </a:prstGeom>
          <a:noFill/>
          <a:ln/>
        </p:spPr>
        <p:txBody>
          <a:bodyPr wrap="square" lIns="50800" tIns="50800" rIns="50800" bIns="50800" rtlCol="0" anchor="t"/>
          <a:lstStyle/>
          <a:p>
            <a:pPr marL="342900" indent="-342900">
              <a:spcAft>
                <a:spcPts val="700"/>
              </a:spcAft>
              <a:buSzPct val="100000"/>
              <a:buChar char="▪"/>
            </a:pPr>
            <a:r>
              <a:rPr lang="en-US" sz="1150" b="1" dirty="0">
                <a:solidFill>
                  <a:srgbClr val="E6EDF3"/>
                </a:solidFill>
                <a:latin typeface="Segoe UI" pitchFamily="34" charset="0"/>
                <a:ea typeface="Segoe UI" pitchFamily="34" charset="-122"/>
                <a:cs typeface="Segoe UI" pitchFamily="34" charset="-120"/>
              </a:rPr>
              <a:t>P1: </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real Upstox account (IDEA, YESBANK, SUZLON)</a:t>
            </a:r>
            <a:endParaRPr lang="en-US" sz="1150" dirty="0"/>
          </a:p>
          <a:p>
            <a:pPr marL="342900" indent="-342900">
              <a:spcAft>
                <a:spcPts val="700"/>
              </a:spcAft>
              <a:buSzPct val="100000"/>
              <a:buChar char="▪"/>
            </a:pPr>
            <a:r>
              <a:rPr lang="en-US" sz="1150" b="1" dirty="0">
                <a:solidFill>
                  <a:srgbClr val="E6EDF3"/>
                </a:solidFill>
                <a:latin typeface="Segoe UI" pitchFamily="34" charset="0"/>
                <a:ea typeface="Segoe UI" pitchFamily="34" charset="-122"/>
                <a:cs typeface="Segoe UI" pitchFamily="34" charset="-120"/>
              </a:rPr>
              <a:t>P2: </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8-stock portfolio (synthetic, arithmetic only)</a:t>
            </a:r>
            <a:endParaRPr lang="en-US" sz="1150" dirty="0"/>
          </a:p>
          <a:p>
            <a:pPr marL="342900" indent="-342900">
              <a:spcAft>
                <a:spcPts val="700"/>
              </a:spcAft>
              <a:buSzPct val="100000"/>
              <a:buChar char="▪"/>
            </a:pPr>
            <a:r>
              <a:rPr lang="en-US" sz="1150" b="1" dirty="0">
                <a:solidFill>
                  <a:srgbClr val="E6EDF3"/>
                </a:solidFill>
                <a:latin typeface="Segoe UI" pitchFamily="34" charset="0"/>
                <a:ea typeface="Segoe UI" pitchFamily="34" charset="-122"/>
                <a:cs typeface="Segoe UI" pitchFamily="34" charset="-120"/>
              </a:rPr>
              <a:t>Prices pinned: </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6 NSE stocks, 25 Jun – 25 Sep 2026, 67 trading days</a:t>
            </a:r>
            <a:endParaRPr lang="en-US" sz="1150" dirty="0"/>
          </a:p>
        </p:txBody>
      </p:sp>
      <p:sp>
        <p:nvSpPr>
          <p:cNvPr id="9" name="Shape 7"/>
          <p:cNvSpPr/>
          <p:nvPr/>
        </p:nvSpPr>
        <p:spPr>
          <a:xfrm>
            <a:off x="3346704" y="1600200"/>
            <a:ext cx="2670048" cy="3246120"/>
          </a:xfrm>
          <a:prstGeom prst="roundRect">
            <a:avLst>
              <a:gd name="adj" fmla="val 2740"/>
            </a:avLst>
          </a:prstGeom>
          <a:solidFill>
            <a:srgbClr val="141A22"/>
          </a:solidFill>
          <a:ln w="12700">
            <a:solidFill>
              <a:srgbClr val="263243"/>
            </a:solidFill>
            <a:prstDash val="solid"/>
          </a:ln>
        </p:spPr>
      </p:sp>
      <p:sp>
        <p:nvSpPr>
          <p:cNvPr id="10" name="Shape 8"/>
          <p:cNvSpPr/>
          <p:nvPr/>
        </p:nvSpPr>
        <p:spPr>
          <a:xfrm>
            <a:off x="3364992" y="1709928"/>
            <a:ext cx="54864" cy="3026664"/>
          </a:xfrm>
          <a:prstGeom prst="rect">
            <a:avLst/>
          </a:prstGeom>
          <a:solidFill>
            <a:srgbClr val="FBBF24"/>
          </a:solidFill>
          <a:ln w="12700">
            <a:solidFill>
              <a:srgbClr val="FBBF24"/>
            </a:solidFill>
            <a:prstDash val="solid"/>
          </a:ln>
        </p:spPr>
      </p:sp>
      <p:sp>
        <p:nvSpPr>
          <p:cNvPr id="11" name="Text 9"/>
          <p:cNvSpPr/>
          <p:nvPr/>
        </p:nvSpPr>
        <p:spPr>
          <a:xfrm>
            <a:off x="3547872" y="1691640"/>
            <a:ext cx="2377440" cy="365760"/>
          </a:xfrm>
          <a:prstGeom prst="rect">
            <a:avLst/>
          </a:prstGeom>
          <a:noFill/>
          <a:ln/>
        </p:spPr>
        <p:txBody>
          <a:bodyPr wrap="square" rtlCol="0" anchor="ctr"/>
          <a:lstStyle/>
          <a:p>
            <a:pPr indent="0" marL="0">
              <a:buNone/>
            </a:pPr>
            <a:r>
              <a:rPr lang="en-US" sz="1400" dirty="0">
                <a:solidFill>
                  <a:srgbClr val="FBBF24"/>
                </a:solidFill>
                <a:latin typeface="Segoe UI Semibold" pitchFamily="34" charset="0"/>
                <a:ea typeface="Segoe UI Semibold" pitchFamily="34" charset="-122"/>
                <a:cs typeface="Segoe UI Semibold" pitchFamily="34" charset="-120"/>
              </a:rPr>
              <a:t>26 prompts, 3 tiers</a:t>
            </a:r>
            <a:endParaRPr lang="en-US" sz="1400" dirty="0"/>
          </a:p>
        </p:txBody>
      </p:sp>
      <p:sp>
        <p:nvSpPr>
          <p:cNvPr id="12" name="Text 10"/>
          <p:cNvSpPr/>
          <p:nvPr/>
        </p:nvSpPr>
        <p:spPr>
          <a:xfrm>
            <a:off x="3511296" y="2103120"/>
            <a:ext cx="2450592" cy="2697480"/>
          </a:xfrm>
          <a:prstGeom prst="rect">
            <a:avLst/>
          </a:prstGeom>
          <a:noFill/>
          <a:ln/>
        </p:spPr>
        <p:txBody>
          <a:bodyPr wrap="square" lIns="50800" tIns="50800" rIns="50800" bIns="50800" rtlCol="0" anchor="t"/>
          <a:lstStyle/>
          <a:p>
            <a:pPr marL="342900" indent="-342900">
              <a:spcAft>
                <a:spcPts val="700"/>
              </a:spcAft>
              <a:buSzPct val="100000"/>
              <a:buChar char="▪"/>
            </a:pPr>
            <a:r>
              <a:rPr lang="en-US" sz="1150" b="1" dirty="0">
                <a:solidFill>
                  <a:srgbClr val="E6EDF3"/>
                </a:solidFill>
                <a:latin typeface="Segoe UI" pitchFamily="34" charset="0"/>
                <a:ea typeface="Segoe UI" pitchFamily="34" charset="-122"/>
                <a:cs typeface="Segoe UI" pitchFamily="34" charset="-120"/>
              </a:rPr>
              <a:t>T1 (10): </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invested, current, P&amp;L, P&amp;L%, Buy/Hold/Trim/Exit</a:t>
            </a:r>
            <a:endParaRPr lang="en-US" sz="1150" dirty="0"/>
          </a:p>
          <a:p>
            <a:pPr marL="342900" indent="-342900">
              <a:spcAft>
                <a:spcPts val="700"/>
              </a:spcAft>
              <a:buSzPct val="100000"/>
              <a:buChar char="▪"/>
            </a:pPr>
            <a:r>
              <a:rPr lang="en-US" sz="1150" b="1" dirty="0">
                <a:solidFill>
                  <a:srgbClr val="E6EDF3"/>
                </a:solidFill>
                <a:latin typeface="Segoe UI" pitchFamily="34" charset="0"/>
                <a:ea typeface="Segoe UI" pitchFamily="34" charset="-122"/>
                <a:cs typeface="Segoe UI" pitchFamily="34" charset="-120"/>
              </a:rPr>
              <a:t>T2 (12): </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return, drawdown, VaR, RSI for RELIANCE, TCS, HDFCBANK</a:t>
            </a:r>
            <a:endParaRPr lang="en-US" sz="1150" dirty="0"/>
          </a:p>
          <a:p>
            <a:pPr marL="342900" indent="-342900">
              <a:spcAft>
                <a:spcPts val="700"/>
              </a:spcAft>
              <a:buSzPct val="100000"/>
              <a:buChar char="▪"/>
            </a:pPr>
            <a:r>
              <a:rPr lang="en-US" sz="1150" b="1" dirty="0">
                <a:solidFill>
                  <a:srgbClr val="E6EDF3"/>
                </a:solidFill>
                <a:latin typeface="Segoe UI" pitchFamily="34" charset="0"/>
                <a:ea typeface="Segoe UI" pitchFamily="34" charset="-122"/>
                <a:cs typeface="Segoe UI" pitchFamily="34" charset="-120"/>
              </a:rPr>
              <a:t>T3 (4): </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Sharpe, VaR, drawdown, return of "my portfolio"</a:t>
            </a:r>
            <a:endParaRPr lang="en-US" sz="1150" dirty="0"/>
          </a:p>
        </p:txBody>
      </p:sp>
      <p:sp>
        <p:nvSpPr>
          <p:cNvPr id="13" name="Shape 11"/>
          <p:cNvSpPr/>
          <p:nvPr/>
        </p:nvSpPr>
        <p:spPr>
          <a:xfrm>
            <a:off x="6144768" y="1600200"/>
            <a:ext cx="2670048" cy="3246120"/>
          </a:xfrm>
          <a:prstGeom prst="roundRect">
            <a:avLst>
              <a:gd name="adj" fmla="val 2740"/>
            </a:avLst>
          </a:prstGeom>
          <a:solidFill>
            <a:srgbClr val="141A22"/>
          </a:solidFill>
          <a:ln w="12700">
            <a:solidFill>
              <a:srgbClr val="263243"/>
            </a:solidFill>
            <a:prstDash val="solid"/>
          </a:ln>
        </p:spPr>
      </p:sp>
      <p:sp>
        <p:nvSpPr>
          <p:cNvPr id="14" name="Shape 12"/>
          <p:cNvSpPr/>
          <p:nvPr/>
        </p:nvSpPr>
        <p:spPr>
          <a:xfrm>
            <a:off x="6163056" y="1709928"/>
            <a:ext cx="54864" cy="3026664"/>
          </a:xfrm>
          <a:prstGeom prst="rect">
            <a:avLst/>
          </a:prstGeom>
          <a:solidFill>
            <a:srgbClr val="F97316"/>
          </a:solidFill>
          <a:ln w="12700">
            <a:solidFill>
              <a:srgbClr val="F97316"/>
            </a:solidFill>
            <a:prstDash val="solid"/>
          </a:ln>
        </p:spPr>
      </p:sp>
      <p:sp>
        <p:nvSpPr>
          <p:cNvPr id="15" name="Text 13"/>
          <p:cNvSpPr/>
          <p:nvPr/>
        </p:nvSpPr>
        <p:spPr>
          <a:xfrm>
            <a:off x="6345936" y="1691640"/>
            <a:ext cx="2377440" cy="365760"/>
          </a:xfrm>
          <a:prstGeom prst="rect">
            <a:avLst/>
          </a:prstGeom>
          <a:noFill/>
          <a:ln/>
        </p:spPr>
        <p:txBody>
          <a:bodyPr wrap="square" rtlCol="0" anchor="ctr"/>
          <a:lstStyle/>
          <a:p>
            <a:pPr indent="0" marL="0">
              <a:buNone/>
            </a:pPr>
            <a:r>
              <a:rPr lang="en-US" sz="1400" dirty="0">
                <a:solidFill>
                  <a:srgbClr val="F97316"/>
                </a:solidFill>
                <a:latin typeface="Segoe UI Semibold" pitchFamily="34" charset="0"/>
                <a:ea typeface="Segoe UI Semibold" pitchFamily="34" charset="-122"/>
                <a:cs typeface="Segoe UI Semibold" pitchFamily="34" charset="-120"/>
              </a:rPr>
              <a:t>Systems compared</a:t>
            </a:r>
            <a:endParaRPr lang="en-US" sz="1400" dirty="0"/>
          </a:p>
        </p:txBody>
      </p:sp>
      <p:sp>
        <p:nvSpPr>
          <p:cNvPr id="16" name="Text 14"/>
          <p:cNvSpPr/>
          <p:nvPr/>
        </p:nvSpPr>
        <p:spPr>
          <a:xfrm>
            <a:off x="6309360" y="2103120"/>
            <a:ext cx="2450592" cy="2697480"/>
          </a:xfrm>
          <a:prstGeom prst="rect">
            <a:avLst/>
          </a:prstGeom>
          <a:noFill/>
          <a:ln/>
        </p:spPr>
        <p:txBody>
          <a:bodyPr wrap="square" lIns="50800" tIns="50800" rIns="50800" bIns="50800" rtlCol="0" anchor="t"/>
          <a:lstStyle/>
          <a:p>
            <a:pPr marL="342900" indent="-342900">
              <a:spcAft>
                <a:spcPts val="700"/>
              </a:spcAft>
              <a:buSzPct val="100000"/>
              <a:buChar char="▪"/>
            </a:pPr>
            <a:r>
              <a:rPr lang="en-US" sz="1150" b="1" dirty="0">
                <a:solidFill>
                  <a:srgbClr val="10B981"/>
                </a:solidFill>
                <a:latin typeface="Segoe UI" pitchFamily="34" charset="0"/>
                <a:ea typeface="Segoe UI" pitchFamily="34" charset="-122"/>
                <a:cs typeface="Segoe UI" pitchFamily="34" charset="-120"/>
              </a:rPr>
              <a:t>Foleo tools </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(ours)</a:t>
            </a:r>
            <a:endParaRPr lang="en-US" sz="1150" dirty="0"/>
          </a:p>
          <a:p>
            <a:pPr marL="342900" indent="-342900">
              <a:spcAft>
                <a:spcPts val="700"/>
              </a:spcAft>
              <a:buSzPct val="100000"/>
              <a:buChar char="▪"/>
            </a:pPr>
            <a:r>
              <a:rPr lang="en-US" sz="1150" b="1" dirty="0">
                <a:solidFill>
                  <a:srgbClr val="E6EDF3"/>
                </a:solidFill>
                <a:latin typeface="Segoe UI" pitchFamily="34" charset="0"/>
                <a:ea typeface="Segoe UI" pitchFamily="34" charset="-122"/>
                <a:cs typeface="Segoe UI" pitchFamily="34" charset="-120"/>
              </a:rPr>
              <a:t>Groq + full data: </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gpt-oss-120b, same data, temp 0</a:t>
            </a:r>
            <a:endParaRPr lang="en-US" sz="1150" dirty="0"/>
          </a:p>
          <a:p>
            <a:pPr marL="342900" indent="-342900">
              <a:spcAft>
                <a:spcPts val="700"/>
              </a:spcAft>
              <a:buSzPct val="100000"/>
              <a:buChar char="▪"/>
            </a:pPr>
            <a:r>
              <a:rPr lang="en-US" sz="1150" b="1" dirty="0">
                <a:solidFill>
                  <a:srgbClr val="E6EDF3"/>
                </a:solidFill>
                <a:latin typeface="Segoe UI" pitchFamily="34" charset="0"/>
                <a:ea typeface="Segoe UI" pitchFamily="34" charset="-122"/>
                <a:cs typeface="Segoe UI" pitchFamily="34" charset="-120"/>
              </a:rPr>
              <a:t>Groq chatbot: </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the deployed LLM path, no price history</a:t>
            </a:r>
            <a:endParaRPr lang="en-US" sz="1150" dirty="0"/>
          </a:p>
          <a:p>
            <a:pPr marL="342900" indent="-342900">
              <a:spcAft>
                <a:spcPts val="700"/>
              </a:spcAft>
              <a:buSzPct val="100000"/>
              <a:buChar char="▪"/>
            </a:pPr>
            <a:r>
              <a:rPr lang="en-US" sz="1150" b="1" dirty="0">
                <a:solidFill>
                  <a:srgbClr val="E6EDF3"/>
                </a:solidFill>
                <a:latin typeface="Segoe UI" pitchFamily="34" charset="0"/>
                <a:ea typeface="Segoe UI" pitchFamily="34" charset="-122"/>
                <a:cs typeface="Segoe UI" pitchFamily="34" charset="-120"/>
              </a:rPr>
              <a:t>ChatGPT, Claude: </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web apps, data pasted in</a:t>
            </a:r>
            <a:endParaRPr lang="en-US" sz="1150" dirty="0"/>
          </a:p>
        </p:txBody>
      </p:sp>
      <p:sp>
        <p:nvSpPr>
          <p:cNvPr id="17" name="Shape 15"/>
          <p:cNvSpPr/>
          <p:nvPr/>
        </p:nvSpPr>
        <p:spPr>
          <a:xfrm>
            <a:off x="8942832" y="1600200"/>
            <a:ext cx="2670048" cy="3246120"/>
          </a:xfrm>
          <a:prstGeom prst="roundRect">
            <a:avLst>
              <a:gd name="adj" fmla="val 2740"/>
            </a:avLst>
          </a:prstGeom>
          <a:solidFill>
            <a:srgbClr val="141A22"/>
          </a:solidFill>
          <a:ln w="12700">
            <a:solidFill>
              <a:srgbClr val="263243"/>
            </a:solidFill>
            <a:prstDash val="solid"/>
          </a:ln>
        </p:spPr>
      </p:sp>
      <p:sp>
        <p:nvSpPr>
          <p:cNvPr id="18" name="Shape 16"/>
          <p:cNvSpPr/>
          <p:nvPr/>
        </p:nvSpPr>
        <p:spPr>
          <a:xfrm>
            <a:off x="8961120" y="1709928"/>
            <a:ext cx="54864" cy="3026664"/>
          </a:xfrm>
          <a:prstGeom prst="rect">
            <a:avLst/>
          </a:prstGeom>
          <a:solidFill>
            <a:srgbClr val="10B981"/>
          </a:solidFill>
          <a:ln w="12700">
            <a:solidFill>
              <a:srgbClr val="10B981"/>
            </a:solidFill>
            <a:prstDash val="solid"/>
          </a:ln>
        </p:spPr>
      </p:sp>
      <p:sp>
        <p:nvSpPr>
          <p:cNvPr id="19" name="Text 17"/>
          <p:cNvSpPr/>
          <p:nvPr/>
        </p:nvSpPr>
        <p:spPr>
          <a:xfrm>
            <a:off x="9144000" y="1691640"/>
            <a:ext cx="2377440" cy="365760"/>
          </a:xfrm>
          <a:prstGeom prst="rect">
            <a:avLst/>
          </a:prstGeom>
          <a:noFill/>
          <a:ln/>
        </p:spPr>
        <p:txBody>
          <a:bodyPr wrap="square" rtlCol="0" anchor="ctr"/>
          <a:lstStyle/>
          <a:p>
            <a:pPr indent="0" marL="0">
              <a:buNone/>
            </a:pPr>
            <a:r>
              <a:rPr lang="en-US" sz="1400" dirty="0">
                <a:solidFill>
                  <a:srgbClr val="10B981"/>
                </a:solidFill>
                <a:latin typeface="Segoe UI Semibold" pitchFamily="34" charset="0"/>
                <a:ea typeface="Segoe UI Semibold" pitchFamily="34" charset="-122"/>
                <a:cs typeface="Segoe UI Semibold" pitchFamily="34" charset="-120"/>
              </a:rPr>
              <a:t>Scoring</a:t>
            </a:r>
            <a:endParaRPr lang="en-US" sz="1400" dirty="0"/>
          </a:p>
        </p:txBody>
      </p:sp>
      <p:sp>
        <p:nvSpPr>
          <p:cNvPr id="20" name="Text 18"/>
          <p:cNvSpPr/>
          <p:nvPr/>
        </p:nvSpPr>
        <p:spPr>
          <a:xfrm>
            <a:off x="9107424" y="2103120"/>
            <a:ext cx="2450592" cy="2697480"/>
          </a:xfrm>
          <a:prstGeom prst="rect">
            <a:avLst/>
          </a:prstGeom>
          <a:noFill/>
          <a:ln/>
        </p:spPr>
        <p:txBody>
          <a:bodyPr wrap="square" lIns="50800" tIns="50800" rIns="50800" bIns="50800" rtlCol="0" anchor="t"/>
          <a:lstStyle/>
          <a:p>
            <a:pPr marL="342900" indent="-342900">
              <a:spcAft>
                <a:spcPts val="700"/>
              </a:spcAft>
              <a:buSzPct val="100000"/>
              <a:buChar char="▪"/>
            </a:pPr>
            <a:r>
              <a:rPr lang="en-US" sz="1150" dirty="0">
                <a:solidFill>
                  <a:srgbClr val="E6EDF3"/>
                </a:solidFill>
                <a:latin typeface="Segoe UI" pitchFamily="34" charset="0"/>
                <a:ea typeface="Segoe UI" pitchFamily="34" charset="-122"/>
                <a:cs typeface="Segoe UI" pitchFamily="34" charset="-120"/>
              </a:rPr>
              <a:t>Independent pandas reference computes the truth</a:t>
            </a:r>
            <a:endParaRPr lang="en-US" sz="1150" dirty="0"/>
          </a:p>
          <a:p>
            <a:pPr marL="342900" indent="-342900">
              <a:spcAft>
                <a:spcPts val="700"/>
              </a:spcAft>
              <a:buSzPct val="100000"/>
              <a:buChar char="▪"/>
            </a:pPr>
            <a:r>
              <a:rPr lang="en-US" sz="1150" dirty="0">
                <a:solidFill>
                  <a:srgbClr val="E6EDF3"/>
                </a:solidFill>
                <a:latin typeface="Segoe UI" pitchFamily="34" charset="0"/>
                <a:ea typeface="Segoe UI" pitchFamily="34" charset="-122"/>
                <a:cs typeface="Segoe UI" pitchFamily="34" charset="-120"/>
              </a:rPr>
              <a:t>Only the </a:t>
            </a:r>
            <a:pPr indent="0" marL="0">
              <a:spcAft>
                <a:spcPts val="700"/>
              </a:spcAft>
              <a:buNone/>
            </a:pPr>
            <a:r>
              <a:rPr lang="en-US" sz="1150" dirty="0">
                <a:solidFill>
                  <a:srgbClr val="38BDF8"/>
                </a:solidFill>
                <a:latin typeface="Consolas" pitchFamily="34" charset="0"/>
                <a:ea typeface="Consolas" pitchFamily="34" charset="-122"/>
                <a:cs typeface="Consolas" pitchFamily="34" charset="-120"/>
              </a:rPr>
              <a:t>FINAL: &lt;value&gt;</a:t>
            </a:r>
            <a:pPr indent="0" marL="0">
              <a:spcAft>
                <a:spcPts val="700"/>
              </a:spcAft>
              <a:buNone/>
            </a:pPr>
            <a:r>
              <a:rPr lang="en-US" sz="1150" dirty="0">
                <a:solidFill>
                  <a:srgbClr val="E6EDF3"/>
                </a:solidFill>
                <a:latin typeface="Segoe UI" pitchFamily="34" charset="0"/>
                <a:ea typeface="Segoe UI" pitchFamily="34" charset="-122"/>
                <a:cs typeface="Segoe UI" pitchFamily="34" charset="-120"/>
              </a:rPr>
              <a:t> line is scored</a:t>
            </a:r>
            <a:endParaRPr lang="en-US" sz="1150" dirty="0"/>
          </a:p>
          <a:p>
            <a:pPr marL="342900" indent="-342900">
              <a:spcAft>
                <a:spcPts val="700"/>
              </a:spcAft>
              <a:buSzPct val="100000"/>
              <a:buChar char="▪"/>
            </a:pPr>
            <a:r>
              <a:rPr lang="en-US" sz="1150" dirty="0">
                <a:solidFill>
                  <a:srgbClr val="E6EDF3"/>
                </a:solidFill>
                <a:latin typeface="Segoe UI" pitchFamily="34" charset="0"/>
                <a:ea typeface="Segoe UI" pitchFamily="34" charset="-122"/>
                <a:cs typeface="Segoe UI" pitchFamily="34" charset="-120"/>
              </a:rPr>
              <a:t>Tight tolerances (±0.011 for ₹/%, ±0.005 Sharpe)</a:t>
            </a:r>
            <a:endParaRPr lang="en-US" sz="1150" dirty="0"/>
          </a:p>
          <a:p>
            <a:pPr marL="342900" indent="-342900">
              <a:spcAft>
                <a:spcPts val="700"/>
              </a:spcAft>
              <a:buSzPct val="100000"/>
              <a:buChar char="▪"/>
            </a:pPr>
            <a:r>
              <a:rPr lang="en-US" sz="1150" dirty="0">
                <a:solidFill>
                  <a:srgbClr val="E6EDF3"/>
                </a:solidFill>
                <a:latin typeface="Segoe UI" pitchFamily="34" charset="0"/>
                <a:ea typeface="Segoe UI" pitchFamily="34" charset="-122"/>
                <a:cs typeface="Segoe UI" pitchFamily="34" charset="-120"/>
              </a:rPr>
              <a:t>3 repeats per Groq case, 95% Wilson intervals</a:t>
            </a:r>
            <a:endParaRPr lang="en-US" sz="1150" dirty="0"/>
          </a:p>
        </p:txBody>
      </p:sp>
      <p:sp>
        <p:nvSpPr>
          <p:cNvPr id="21" name="Shape 19"/>
          <p:cNvSpPr/>
          <p:nvPr/>
        </p:nvSpPr>
        <p:spPr>
          <a:xfrm>
            <a:off x="548640" y="5029200"/>
            <a:ext cx="2670048" cy="1188720"/>
          </a:xfrm>
          <a:prstGeom prst="roundRect">
            <a:avLst>
              <a:gd name="adj" fmla="val 6154"/>
            </a:avLst>
          </a:prstGeom>
          <a:solidFill>
            <a:srgbClr val="1B2330"/>
          </a:solidFill>
          <a:ln w="12700">
            <a:solidFill>
              <a:srgbClr val="263243"/>
            </a:solidFill>
            <a:prstDash val="solid"/>
          </a:ln>
        </p:spPr>
      </p:sp>
      <p:sp>
        <p:nvSpPr>
          <p:cNvPr id="22" name="Text 20"/>
          <p:cNvSpPr/>
          <p:nvPr/>
        </p:nvSpPr>
        <p:spPr>
          <a:xfrm>
            <a:off x="685800" y="5074920"/>
            <a:ext cx="2423160" cy="1097280"/>
          </a:xfrm>
          <a:prstGeom prst="rect">
            <a:avLst/>
          </a:prstGeom>
          <a:noFill/>
          <a:ln/>
        </p:spPr>
        <p:txBody>
          <a:bodyPr wrap="square" rtlCol="0" anchor="ctr"/>
          <a:lstStyle/>
          <a:p>
            <a:pPr indent="0" marL="0">
              <a:buNone/>
            </a:pPr>
            <a:r>
              <a:rPr lang="en-US" sz="1300" dirty="0">
                <a:solidFill>
                  <a:srgbClr val="10B981"/>
                </a:solidFill>
                <a:latin typeface="Segoe UI Semibold" pitchFamily="34" charset="0"/>
                <a:ea typeface="Segoe UI Semibold" pitchFamily="34" charset="-122"/>
                <a:cs typeface="Segoe UI Semibold" pitchFamily="34" charset="-120"/>
              </a:rPr>
              <a:t>RQ1  </a:t>
            </a:r>
            <a:pPr indent="0" marL="0">
              <a:buNone/>
            </a:pPr>
            <a:r>
              <a:rPr lang="en-US" sz="1300" dirty="0">
                <a:solidFill>
                  <a:srgbClr val="E6EDF3"/>
                </a:solidFill>
                <a:latin typeface="Segoe UI Semibold" pitchFamily="34" charset="0"/>
                <a:ea typeface="Segoe UI Semibold" pitchFamily="34" charset="-122"/>
                <a:cs typeface="Segoe UI Semibold" pitchFamily="34" charset="-120"/>
              </a:rPr>
              <a:t>Accuracy</a:t>
            </a:r>
            <a:endParaRPr lang="en-US" sz="1300" dirty="0"/>
          </a:p>
          <a:p>
            <a:pPr indent="0" marL="0">
              <a:buNone/>
            </a:pPr>
            <a:r>
              <a:rPr lang="en-US" sz="1100" dirty="0">
                <a:solidFill>
                  <a:srgbClr val="8B98A9"/>
                </a:solidFill>
                <a:latin typeface="Segoe UI" pitchFamily="34" charset="0"/>
                <a:ea typeface="Segoe UI" pitchFamily="34" charset="-122"/>
                <a:cs typeface="Segoe UI" pitchFamily="34" charset="-120"/>
              </a:rPr>
              <a:t>Does the LLM reproduce the exact value?</a:t>
            </a:r>
            <a:endParaRPr lang="en-US" sz="1300" dirty="0"/>
          </a:p>
        </p:txBody>
      </p:sp>
      <p:sp>
        <p:nvSpPr>
          <p:cNvPr id="23" name="Shape 21"/>
          <p:cNvSpPr/>
          <p:nvPr/>
        </p:nvSpPr>
        <p:spPr>
          <a:xfrm>
            <a:off x="3346704" y="5029200"/>
            <a:ext cx="2670048" cy="1188720"/>
          </a:xfrm>
          <a:prstGeom prst="roundRect">
            <a:avLst>
              <a:gd name="adj" fmla="val 6154"/>
            </a:avLst>
          </a:prstGeom>
          <a:solidFill>
            <a:srgbClr val="1B2330"/>
          </a:solidFill>
          <a:ln w="12700">
            <a:solidFill>
              <a:srgbClr val="263243"/>
            </a:solidFill>
            <a:prstDash val="solid"/>
          </a:ln>
        </p:spPr>
      </p:sp>
      <p:sp>
        <p:nvSpPr>
          <p:cNvPr id="24" name="Text 22"/>
          <p:cNvSpPr/>
          <p:nvPr/>
        </p:nvSpPr>
        <p:spPr>
          <a:xfrm>
            <a:off x="3483864" y="5074920"/>
            <a:ext cx="2423160" cy="1097280"/>
          </a:xfrm>
          <a:prstGeom prst="rect">
            <a:avLst/>
          </a:prstGeom>
          <a:noFill/>
          <a:ln/>
        </p:spPr>
        <p:txBody>
          <a:bodyPr wrap="square" rtlCol="0" anchor="ctr"/>
          <a:lstStyle/>
          <a:p>
            <a:pPr indent="0" marL="0">
              <a:buNone/>
            </a:pPr>
            <a:r>
              <a:rPr lang="en-US" sz="1300" dirty="0">
                <a:solidFill>
                  <a:srgbClr val="10B981"/>
                </a:solidFill>
                <a:latin typeface="Segoe UI Semibold" pitchFamily="34" charset="0"/>
                <a:ea typeface="Segoe UI Semibold" pitchFamily="34" charset="-122"/>
                <a:cs typeface="Segoe UI Semibold" pitchFamily="34" charset="-120"/>
              </a:rPr>
              <a:t>RQ2  </a:t>
            </a:r>
            <a:pPr indent="0" marL="0">
              <a:buNone/>
            </a:pPr>
            <a:r>
              <a:rPr lang="en-US" sz="1300" dirty="0">
                <a:solidFill>
                  <a:srgbClr val="E6EDF3"/>
                </a:solidFill>
                <a:latin typeface="Segoe UI Semibold" pitchFamily="34" charset="0"/>
                <a:ea typeface="Segoe UI Semibold" pitchFamily="34" charset="-122"/>
                <a:cs typeface="Segoe UI Semibold" pitchFamily="34" charset="-120"/>
              </a:rPr>
              <a:t>Cost</a:t>
            </a:r>
            <a:endParaRPr lang="en-US" sz="1300" dirty="0"/>
          </a:p>
          <a:p>
            <a:pPr indent="0" marL="0">
              <a:buNone/>
            </a:pPr>
            <a:r>
              <a:rPr lang="en-US" sz="1100" dirty="0">
                <a:solidFill>
                  <a:srgbClr val="8B98A9"/>
                </a:solidFill>
                <a:latin typeface="Segoe UI" pitchFamily="34" charset="0"/>
                <a:ea typeface="Segoe UI" pitchFamily="34" charset="-122"/>
                <a:cs typeface="Segoe UI" pitchFamily="34" charset="-120"/>
              </a:rPr>
              <a:t>Tokens and time per answer?</a:t>
            </a:r>
            <a:endParaRPr lang="en-US" sz="1300" dirty="0"/>
          </a:p>
        </p:txBody>
      </p:sp>
      <p:sp>
        <p:nvSpPr>
          <p:cNvPr id="25" name="Shape 23"/>
          <p:cNvSpPr/>
          <p:nvPr/>
        </p:nvSpPr>
        <p:spPr>
          <a:xfrm>
            <a:off x="6144768" y="5029200"/>
            <a:ext cx="2670048" cy="1188720"/>
          </a:xfrm>
          <a:prstGeom prst="roundRect">
            <a:avLst>
              <a:gd name="adj" fmla="val 6154"/>
            </a:avLst>
          </a:prstGeom>
          <a:solidFill>
            <a:srgbClr val="1B2330"/>
          </a:solidFill>
          <a:ln w="12700">
            <a:solidFill>
              <a:srgbClr val="263243"/>
            </a:solidFill>
            <a:prstDash val="solid"/>
          </a:ln>
        </p:spPr>
      </p:sp>
      <p:sp>
        <p:nvSpPr>
          <p:cNvPr id="26" name="Text 24"/>
          <p:cNvSpPr/>
          <p:nvPr/>
        </p:nvSpPr>
        <p:spPr>
          <a:xfrm>
            <a:off x="6281928" y="5074920"/>
            <a:ext cx="2423160" cy="1097280"/>
          </a:xfrm>
          <a:prstGeom prst="rect">
            <a:avLst/>
          </a:prstGeom>
          <a:noFill/>
          <a:ln/>
        </p:spPr>
        <p:txBody>
          <a:bodyPr wrap="square" rtlCol="0" anchor="ctr"/>
          <a:lstStyle/>
          <a:p>
            <a:pPr indent="0" marL="0">
              <a:buNone/>
            </a:pPr>
            <a:r>
              <a:rPr lang="en-US" sz="1300" dirty="0">
                <a:solidFill>
                  <a:srgbClr val="10B981"/>
                </a:solidFill>
                <a:latin typeface="Segoe UI Semibold" pitchFamily="34" charset="0"/>
                <a:ea typeface="Segoe UI Semibold" pitchFamily="34" charset="-122"/>
                <a:cs typeface="Segoe UI Semibold" pitchFamily="34" charset="-120"/>
              </a:rPr>
              <a:t>RQ3  </a:t>
            </a:r>
            <a:pPr indent="0" marL="0">
              <a:buNone/>
            </a:pPr>
            <a:r>
              <a:rPr lang="en-US" sz="1300" dirty="0">
                <a:solidFill>
                  <a:srgbClr val="E6EDF3"/>
                </a:solidFill>
                <a:latin typeface="Segoe UI Semibold" pitchFamily="34" charset="0"/>
                <a:ea typeface="Segoe UI Semibold" pitchFamily="34" charset="-122"/>
                <a:cs typeface="Segoe UI Semibold" pitchFamily="34" charset="-120"/>
              </a:rPr>
              <a:t>Missing data</a:t>
            </a:r>
            <a:endParaRPr lang="en-US" sz="1300" dirty="0"/>
          </a:p>
          <a:p>
            <a:pPr indent="0" marL="0">
              <a:buNone/>
            </a:pPr>
            <a:r>
              <a:rPr lang="en-US" sz="1100" dirty="0">
                <a:solidFill>
                  <a:srgbClr val="8B98A9"/>
                </a:solidFill>
                <a:latin typeface="Segoe UI" pitchFamily="34" charset="0"/>
                <a:ea typeface="Segoe UI" pitchFamily="34" charset="-122"/>
                <a:cs typeface="Segoe UI" pitchFamily="34" charset="-120"/>
              </a:rPr>
              <a:t>Without prices, does it invent a number?</a:t>
            </a:r>
            <a:endParaRPr lang="en-US" sz="1300" dirty="0"/>
          </a:p>
        </p:txBody>
      </p:sp>
      <p:sp>
        <p:nvSpPr>
          <p:cNvPr id="27" name="Shape 25"/>
          <p:cNvSpPr/>
          <p:nvPr/>
        </p:nvSpPr>
        <p:spPr>
          <a:xfrm>
            <a:off x="8942832" y="5029200"/>
            <a:ext cx="2670048" cy="1188720"/>
          </a:xfrm>
          <a:prstGeom prst="roundRect">
            <a:avLst>
              <a:gd name="adj" fmla="val 6154"/>
            </a:avLst>
          </a:prstGeom>
          <a:solidFill>
            <a:srgbClr val="1B2330"/>
          </a:solidFill>
          <a:ln w="12700">
            <a:solidFill>
              <a:srgbClr val="263243"/>
            </a:solidFill>
            <a:prstDash val="solid"/>
          </a:ln>
        </p:spPr>
      </p:sp>
      <p:sp>
        <p:nvSpPr>
          <p:cNvPr id="28" name="Text 26"/>
          <p:cNvSpPr/>
          <p:nvPr/>
        </p:nvSpPr>
        <p:spPr>
          <a:xfrm>
            <a:off x="9079992" y="5074920"/>
            <a:ext cx="2423160" cy="1097280"/>
          </a:xfrm>
          <a:prstGeom prst="rect">
            <a:avLst/>
          </a:prstGeom>
          <a:noFill/>
          <a:ln/>
        </p:spPr>
        <p:txBody>
          <a:bodyPr wrap="square" rtlCol="0" anchor="ctr"/>
          <a:lstStyle/>
          <a:p>
            <a:pPr indent="0" marL="0">
              <a:buNone/>
            </a:pPr>
            <a:r>
              <a:rPr lang="en-US" sz="1300" dirty="0">
                <a:solidFill>
                  <a:srgbClr val="10B981"/>
                </a:solidFill>
                <a:latin typeface="Segoe UI Semibold" pitchFamily="34" charset="0"/>
                <a:ea typeface="Segoe UI Semibold" pitchFamily="34" charset="-122"/>
                <a:cs typeface="Segoe UI Semibold" pitchFamily="34" charset="-120"/>
              </a:rPr>
              <a:t>RQ4  </a:t>
            </a:r>
            <a:pPr indent="0" marL="0">
              <a:buNone/>
            </a:pPr>
            <a:r>
              <a:rPr lang="en-US" sz="1300" dirty="0">
                <a:solidFill>
                  <a:srgbClr val="E6EDF3"/>
                </a:solidFill>
                <a:latin typeface="Segoe UI Semibold" pitchFamily="34" charset="0"/>
                <a:ea typeface="Segoe UI Semibold" pitchFamily="34" charset="-122"/>
                <a:cs typeface="Segoe UI Semibold" pitchFamily="34" charset="-120"/>
              </a:rPr>
              <a:t>External</a:t>
            </a:r>
            <a:endParaRPr lang="en-US" sz="1300" dirty="0"/>
          </a:p>
          <a:p>
            <a:pPr indent="0" marL="0">
              <a:buNone/>
            </a:pPr>
            <a:r>
              <a:rPr lang="en-US" sz="1100" dirty="0">
                <a:solidFill>
                  <a:srgbClr val="8B98A9"/>
                </a:solidFill>
                <a:latin typeface="Segoe UI" pitchFamily="34" charset="0"/>
                <a:ea typeface="Segoe UI" pitchFamily="34" charset="-122"/>
                <a:cs typeface="Segoe UI" pitchFamily="34" charset="-120"/>
              </a:rPr>
              <a:t>Do ChatGPT/Claude match fixed tools?</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Live run: the main prompt</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22 Oct 2026, after market close · same holdings, same 64 days of prices and same formulas for all three systems</a:t>
            </a:r>
            <a:endParaRPr lang="en-US" sz="1300" dirty="0"/>
          </a:p>
        </p:txBody>
      </p:sp>
      <p:sp>
        <p:nvSpPr>
          <p:cNvPr id="5" name="Shape 3"/>
          <p:cNvSpPr/>
          <p:nvPr/>
        </p:nvSpPr>
        <p:spPr>
          <a:xfrm>
            <a:off x="548640" y="1600200"/>
            <a:ext cx="6309360" cy="2240280"/>
          </a:xfrm>
          <a:prstGeom prst="roundRect">
            <a:avLst>
              <a:gd name="adj" fmla="val 3265"/>
            </a:avLst>
          </a:prstGeom>
          <a:solidFill>
            <a:srgbClr val="0F1720"/>
          </a:solidFill>
          <a:ln w="12700">
            <a:solidFill>
              <a:srgbClr val="10B981"/>
            </a:solidFill>
            <a:prstDash val="solid"/>
          </a:ln>
        </p:spPr>
      </p:sp>
      <p:sp>
        <p:nvSpPr>
          <p:cNvPr id="6" name="Text 4"/>
          <p:cNvSpPr/>
          <p:nvPr/>
        </p:nvSpPr>
        <p:spPr>
          <a:xfrm>
            <a:off x="777240" y="1719072"/>
            <a:ext cx="2743200" cy="274320"/>
          </a:xfrm>
          <a:prstGeom prst="rect">
            <a:avLst/>
          </a:prstGeom>
          <a:noFill/>
          <a:ln/>
        </p:spPr>
        <p:txBody>
          <a:bodyPr wrap="square" rtlCol="0" anchor="ctr"/>
          <a:lstStyle/>
          <a:p>
            <a:pPr indent="0" marL="0">
              <a:buNone/>
            </a:pPr>
            <a:r>
              <a:rPr lang="en-US" sz="1000" spc="400" kern="0" dirty="0">
                <a:solidFill>
                  <a:srgbClr val="10B981"/>
                </a:solidFill>
                <a:latin typeface="Segoe UI Semibold" pitchFamily="34" charset="0"/>
                <a:ea typeface="Segoe UI Semibold" pitchFamily="34" charset="-122"/>
                <a:cs typeface="Segoe UI Semibold" pitchFamily="34" charset="-120"/>
              </a:rPr>
              <a:t>MAIN PROMPT</a:t>
            </a:r>
            <a:endParaRPr lang="en-US" sz="1000" dirty="0"/>
          </a:p>
        </p:txBody>
      </p:sp>
      <p:sp>
        <p:nvSpPr>
          <p:cNvPr id="7" name="Text 5"/>
          <p:cNvSpPr/>
          <p:nvPr/>
        </p:nvSpPr>
        <p:spPr>
          <a:xfrm>
            <a:off x="777240" y="2011680"/>
            <a:ext cx="5897880" cy="1737360"/>
          </a:xfrm>
          <a:prstGeom prst="rect">
            <a:avLst/>
          </a:prstGeom>
          <a:noFill/>
          <a:ln/>
        </p:spPr>
        <p:txBody>
          <a:bodyPr wrap="square" rtlCol="0" anchor="t"/>
          <a:lstStyle/>
          <a:p>
            <a:pPr indent="0" marL="0">
              <a:buNone/>
            </a:pPr>
            <a:r>
              <a:rPr lang="en-US" sz="1350" dirty="0">
                <a:solidFill>
                  <a:srgbClr val="E6EDF3"/>
                </a:solidFill>
                <a:latin typeface="Consolas" pitchFamily="34" charset="0"/>
                <a:ea typeface="Consolas" pitchFamily="34" charset="-122"/>
                <a:cs typeface="Consolas" pitchFamily="34" charset="-120"/>
              </a:rPr>
              <a:t>"Calculate invested value, current value, profit or loss, and percentage profit or loss for each holding. Classify the portfolio as Buy, Hold, Trim, or Exit using only the supplied arithmetic."</a:t>
            </a:r>
            <a:endParaRPr lang="en-US" sz="1350" dirty="0"/>
          </a:p>
        </p:txBody>
      </p:sp>
      <p:sp>
        <p:nvSpPr>
          <p:cNvPr id="8" name="Text 6"/>
          <p:cNvSpPr/>
          <p:nvPr/>
        </p:nvSpPr>
        <p:spPr>
          <a:xfrm>
            <a:off x="7223760" y="1554480"/>
            <a:ext cx="4389120" cy="365760"/>
          </a:xfrm>
          <a:prstGeom prst="rect">
            <a:avLst/>
          </a:prstGeom>
          <a:noFill/>
          <a:ln/>
        </p:spPr>
        <p:txBody>
          <a:bodyPr wrap="square" rtlCol="0" anchor="ctr"/>
          <a:lstStyle/>
          <a:p>
            <a:pPr indent="0" marL="0">
              <a:buNone/>
            </a:pPr>
            <a:r>
              <a:rPr lang="en-US" sz="1400" dirty="0">
                <a:solidFill>
                  <a:srgbClr val="E6EDF3"/>
                </a:solidFill>
                <a:latin typeface="Segoe UI Semibold" pitchFamily="34" charset="0"/>
                <a:ea typeface="Segoe UI Semibold" pitchFamily="34" charset="-122"/>
                <a:cs typeface="Segoe UI Semibold" pitchFamily="34" charset="-120"/>
              </a:rPr>
              <a:t>Holdings (real Upstox account)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223760" y="1965960"/>
          <a:ext cx="4416552" cy="914400"/>
        </p:xfrm>
        <a:graphic>
          <a:graphicData uri="http://schemas.openxmlformats.org/drawingml/2006/table">
            <a:tbl>
              <a:tblPr/>
              <a:tblGrid>
                <a:gridCol w="1463040"/>
                <a:gridCol w="640080"/>
                <a:gridCol w="1143000"/>
                <a:gridCol w="1170432"/>
              </a:tblGrid>
              <a:tr h="347472">
                <a:tc>
                  <a:txBody>
                    <a:bodyPr/>
                    <a:lstStyle/>
                    <a:p>
                      <a:pPr algn="l" indent="0" marL="0">
                        <a:buNone/>
                      </a:pPr>
                      <a:r>
                        <a:rPr lang="en-US" sz="1250" dirty="0">
                          <a:solidFill>
                            <a:srgbClr val="E6EDF3"/>
                          </a:solidFill>
                          <a:latin typeface="Segoe UI Semibold" pitchFamily="34" charset="0"/>
                          <a:ea typeface="Segoe UI Semibold" pitchFamily="34" charset="-122"/>
                          <a:cs typeface="Segoe UI Semibold" pitchFamily="34" charset="-120"/>
                        </a:rPr>
                        <a:t>Stock</a:t>
                      </a:r>
                      <a:endParaRPr lang="en-US" sz="12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50" dirty="0">
                          <a:solidFill>
                            <a:srgbClr val="E6EDF3"/>
                          </a:solidFill>
                          <a:latin typeface="Segoe UI Semibold" pitchFamily="34" charset="0"/>
                          <a:ea typeface="Segoe UI Semibold" pitchFamily="34" charset="-122"/>
                          <a:cs typeface="Segoe UI Semibold" pitchFamily="34" charset="-120"/>
                        </a:rPr>
                        <a:t>Qty</a:t>
                      </a:r>
                      <a:endParaRPr lang="en-US" sz="12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50" dirty="0">
                          <a:solidFill>
                            <a:srgbClr val="E6EDF3"/>
                          </a:solidFill>
                          <a:latin typeface="Segoe UI Semibold" pitchFamily="34" charset="0"/>
                          <a:ea typeface="Segoe UI Semibold" pitchFamily="34" charset="-122"/>
                          <a:cs typeface="Segoe UI Semibold" pitchFamily="34" charset="-120"/>
                        </a:rPr>
                        <a:t>Avg price</a:t>
                      </a:r>
                      <a:endParaRPr lang="en-US" sz="12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50" dirty="0">
                          <a:solidFill>
                            <a:srgbClr val="E6EDF3"/>
                          </a:solidFill>
                          <a:latin typeface="Segoe UI Semibold" pitchFamily="34" charset="0"/>
                          <a:ea typeface="Segoe UI Semibold" pitchFamily="34" charset="-122"/>
                          <a:cs typeface="Segoe UI Semibold" pitchFamily="34" charset="-120"/>
                        </a:rPr>
                        <a:t>Last price</a:t>
                      </a:r>
                      <a:endParaRPr lang="en-US" sz="12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r>
              <a:tr h="347472">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IDEA</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1</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₹13.34</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₹11.53</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r h="347472">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YESBANK</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1</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₹23.14</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₹16.05</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r>
              <a:tr h="347472">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SUZLON</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1</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₹52.99</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50" dirty="0">
                          <a:solidFill>
                            <a:srgbClr val="E6EDF3"/>
                          </a:solidFill>
                          <a:latin typeface="Segoe UI" pitchFamily="34" charset="0"/>
                          <a:ea typeface="Segoe UI" pitchFamily="34" charset="-122"/>
                          <a:cs typeface="Segoe UI" pitchFamily="34" charset="-120"/>
                        </a:rPr>
                        <a:t>₹38.57</a:t>
                      </a:r>
                      <a:endParaRPr lang="en-US" sz="12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bl>
          </a:graphicData>
        </a:graphic>
      </p:graphicFrame>
      <p:sp>
        <p:nvSpPr>
          <p:cNvPr id="10" name="Text 7"/>
          <p:cNvSpPr/>
          <p:nvPr/>
        </p:nvSpPr>
        <p:spPr>
          <a:xfrm>
            <a:off x="7223760" y="3429000"/>
            <a:ext cx="4416552" cy="411480"/>
          </a:xfrm>
          <a:prstGeom prst="rect">
            <a:avLst/>
          </a:prstGeom>
          <a:noFill/>
          <a:ln/>
        </p:spPr>
        <p:txBody>
          <a:bodyPr wrap="square" rtlCol="0" anchor="ctr"/>
          <a:lstStyle/>
          <a:p>
            <a:pPr indent="0" marL="0">
              <a:buNone/>
            </a:pPr>
            <a:r>
              <a:rPr lang="en-US" sz="1250" dirty="0">
                <a:solidFill>
                  <a:srgbClr val="10B981"/>
                </a:solidFill>
                <a:latin typeface="Segoe UI Semibold" pitchFamily="34" charset="0"/>
                <a:ea typeface="Segoe UI Semibold" pitchFamily="34" charset="-122"/>
                <a:cs typeface="Segoe UI Semibold" pitchFamily="34" charset="-120"/>
              </a:rPr>
              <a:t>Reference: ₹89.47 · ₹66.15 · −₹23.32 (−26.06%) → Exit</a:t>
            </a:r>
            <a:endParaRPr lang="en-US" sz="1250" dirty="0"/>
          </a:p>
        </p:txBody>
      </p:sp>
      <p:sp>
        <p:nvSpPr>
          <p:cNvPr id="11" name="Shape 8"/>
          <p:cNvSpPr/>
          <p:nvPr/>
        </p:nvSpPr>
        <p:spPr>
          <a:xfrm>
            <a:off x="548640" y="4114800"/>
            <a:ext cx="3611880" cy="2103120"/>
          </a:xfrm>
          <a:prstGeom prst="roundRect">
            <a:avLst>
              <a:gd name="adj" fmla="val 3478"/>
            </a:avLst>
          </a:prstGeom>
          <a:solidFill>
            <a:srgbClr val="141A22"/>
          </a:solidFill>
          <a:ln w="12700">
            <a:solidFill>
              <a:srgbClr val="263243"/>
            </a:solidFill>
            <a:prstDash val="solid"/>
          </a:ln>
        </p:spPr>
      </p:sp>
      <p:sp>
        <p:nvSpPr>
          <p:cNvPr id="12" name="Shape 9"/>
          <p:cNvSpPr/>
          <p:nvPr/>
        </p:nvSpPr>
        <p:spPr>
          <a:xfrm>
            <a:off x="731520" y="4279392"/>
            <a:ext cx="438912" cy="438912"/>
          </a:xfrm>
          <a:prstGeom prst="ellipse">
            <a:avLst/>
          </a:prstGeom>
          <a:solidFill>
            <a:srgbClr val="38BDF8"/>
          </a:solidFill>
          <a:ln w="12700">
            <a:solidFill>
              <a:srgbClr val="38BDF8"/>
            </a:solidFill>
            <a:prstDash val="solid"/>
          </a:ln>
        </p:spPr>
      </p:sp>
      <p:sp>
        <p:nvSpPr>
          <p:cNvPr id="13" name="Text 10"/>
          <p:cNvSpPr/>
          <p:nvPr/>
        </p:nvSpPr>
        <p:spPr>
          <a:xfrm>
            <a:off x="731520" y="4279392"/>
            <a:ext cx="438912" cy="438912"/>
          </a:xfrm>
          <a:prstGeom prst="rect">
            <a:avLst/>
          </a:prstGeom>
          <a:noFill/>
          <a:ln/>
        </p:spPr>
        <p:txBody>
          <a:bodyPr wrap="square" rtlCol="0" anchor="ctr"/>
          <a:lstStyle/>
          <a:p>
            <a:pPr algn="ctr" indent="0" marL="0">
              <a:buNone/>
            </a:pPr>
            <a:r>
              <a:rPr lang="en-US" sz="1440" dirty="0">
                <a:solidFill>
                  <a:srgbClr val="FFFFFF"/>
                </a:solidFill>
                <a:latin typeface="Segoe UI Semibold" pitchFamily="34" charset="0"/>
                <a:ea typeface="Segoe UI Semibold" pitchFamily="34" charset="-122"/>
                <a:cs typeface="Segoe UI Semibold" pitchFamily="34" charset="-120"/>
              </a:rPr>
              <a:t>G</a:t>
            </a:r>
            <a:endParaRPr lang="en-US" sz="1440" dirty="0"/>
          </a:p>
        </p:txBody>
      </p:sp>
      <p:sp>
        <p:nvSpPr>
          <p:cNvPr id="14" name="Text 11"/>
          <p:cNvSpPr/>
          <p:nvPr/>
        </p:nvSpPr>
        <p:spPr>
          <a:xfrm>
            <a:off x="1280160" y="4279392"/>
            <a:ext cx="2743200" cy="438912"/>
          </a:xfrm>
          <a:prstGeom prst="rect">
            <a:avLst/>
          </a:prstGeom>
          <a:noFill/>
          <a:ln/>
        </p:spPr>
        <p:txBody>
          <a:bodyPr wrap="square" rtlCol="0" anchor="ctr"/>
          <a:lstStyle/>
          <a:p>
            <a:pPr indent="0" marL="0">
              <a:buNone/>
            </a:pPr>
            <a:r>
              <a:rPr lang="en-US" sz="1500" dirty="0">
                <a:solidFill>
                  <a:srgbClr val="38BDF8"/>
                </a:solidFill>
                <a:latin typeface="Segoe UI Semibold" pitchFamily="34" charset="0"/>
                <a:ea typeface="Segoe UI Semibold" pitchFamily="34" charset="-122"/>
                <a:cs typeface="Segoe UI Semibold" pitchFamily="34" charset="-120"/>
              </a:rPr>
              <a:t>ChatGPT</a:t>
            </a:r>
            <a:endParaRPr lang="en-US" sz="1500" dirty="0"/>
          </a:p>
        </p:txBody>
      </p:sp>
      <p:sp>
        <p:nvSpPr>
          <p:cNvPr id="15" name="Text 12"/>
          <p:cNvSpPr/>
          <p:nvPr/>
        </p:nvSpPr>
        <p:spPr>
          <a:xfrm>
            <a:off x="731520" y="4846320"/>
            <a:ext cx="3291840" cy="1325880"/>
          </a:xfrm>
          <a:prstGeom prst="rect">
            <a:avLst/>
          </a:prstGeom>
          <a:noFill/>
          <a:ln/>
        </p:spPr>
        <p:txBody>
          <a:bodyPr wrap="square" rtlCol="0" anchor="t"/>
          <a:lstStyle/>
          <a:p>
            <a:pPr indent="0" marL="0">
              <a:buNone/>
            </a:pPr>
            <a:r>
              <a:rPr lang="en-US" sz="1300" dirty="0">
                <a:solidFill>
                  <a:srgbClr val="E6EDF3"/>
                </a:solidFill>
                <a:latin typeface="Segoe UI" pitchFamily="34" charset="0"/>
                <a:ea typeface="Segoe UI" pitchFamily="34" charset="-122"/>
                <a:cs typeface="Segoe UI" pitchFamily="34" charset="-120"/>
              </a:rPr>
              <a:t>One long pasted prompt: holdings, 64 days × 3 stocks of closing prices (192 numbers), every formula and the Buy/Hold/Trim/Exit rule.</a:t>
            </a:r>
            <a:endParaRPr lang="en-US" sz="1300" dirty="0"/>
          </a:p>
        </p:txBody>
      </p:sp>
      <p:sp>
        <p:nvSpPr>
          <p:cNvPr id="16" name="Shape 13"/>
          <p:cNvSpPr/>
          <p:nvPr/>
        </p:nvSpPr>
        <p:spPr>
          <a:xfrm>
            <a:off x="4297680" y="4114800"/>
            <a:ext cx="3611880" cy="2103120"/>
          </a:xfrm>
          <a:prstGeom prst="roundRect">
            <a:avLst>
              <a:gd name="adj" fmla="val 3478"/>
            </a:avLst>
          </a:prstGeom>
          <a:solidFill>
            <a:srgbClr val="141A22"/>
          </a:solidFill>
          <a:ln w="12700">
            <a:solidFill>
              <a:srgbClr val="263243"/>
            </a:solidFill>
            <a:prstDash val="solid"/>
          </a:ln>
        </p:spPr>
      </p:sp>
      <p:sp>
        <p:nvSpPr>
          <p:cNvPr id="17" name="Shape 14"/>
          <p:cNvSpPr/>
          <p:nvPr/>
        </p:nvSpPr>
        <p:spPr>
          <a:xfrm>
            <a:off x="4480560" y="4279392"/>
            <a:ext cx="438912" cy="438912"/>
          </a:xfrm>
          <a:prstGeom prst="ellipse">
            <a:avLst/>
          </a:prstGeom>
          <a:solidFill>
            <a:srgbClr val="F97316"/>
          </a:solidFill>
          <a:ln w="12700">
            <a:solidFill>
              <a:srgbClr val="F97316"/>
            </a:solidFill>
            <a:prstDash val="solid"/>
          </a:ln>
        </p:spPr>
      </p:sp>
      <p:sp>
        <p:nvSpPr>
          <p:cNvPr id="18" name="Text 15"/>
          <p:cNvSpPr/>
          <p:nvPr/>
        </p:nvSpPr>
        <p:spPr>
          <a:xfrm>
            <a:off x="4480560" y="4279392"/>
            <a:ext cx="438912" cy="438912"/>
          </a:xfrm>
          <a:prstGeom prst="rect">
            <a:avLst/>
          </a:prstGeom>
          <a:noFill/>
          <a:ln/>
        </p:spPr>
        <p:txBody>
          <a:bodyPr wrap="square" rtlCol="0" anchor="ctr"/>
          <a:lstStyle/>
          <a:p>
            <a:pPr algn="ctr" indent="0" marL="0">
              <a:buNone/>
            </a:pPr>
            <a:r>
              <a:rPr lang="en-US" sz="1440" dirty="0">
                <a:solidFill>
                  <a:srgbClr val="FFFFFF"/>
                </a:solidFill>
                <a:latin typeface="Segoe UI Semibold" pitchFamily="34" charset="0"/>
                <a:ea typeface="Segoe UI Semibold" pitchFamily="34" charset="-122"/>
                <a:cs typeface="Segoe UI Semibold" pitchFamily="34" charset="-120"/>
              </a:rPr>
              <a:t>C</a:t>
            </a:r>
            <a:endParaRPr lang="en-US" sz="1440" dirty="0"/>
          </a:p>
        </p:txBody>
      </p:sp>
      <p:sp>
        <p:nvSpPr>
          <p:cNvPr id="19" name="Text 16"/>
          <p:cNvSpPr/>
          <p:nvPr/>
        </p:nvSpPr>
        <p:spPr>
          <a:xfrm>
            <a:off x="5029200" y="4279392"/>
            <a:ext cx="2743200" cy="438912"/>
          </a:xfrm>
          <a:prstGeom prst="rect">
            <a:avLst/>
          </a:prstGeom>
          <a:noFill/>
          <a:ln/>
        </p:spPr>
        <p:txBody>
          <a:bodyPr wrap="square" rtlCol="0" anchor="ctr"/>
          <a:lstStyle/>
          <a:p>
            <a:pPr indent="0" marL="0">
              <a:buNone/>
            </a:pPr>
            <a:r>
              <a:rPr lang="en-US" sz="1500" dirty="0">
                <a:solidFill>
                  <a:srgbClr val="F97316"/>
                </a:solidFill>
                <a:latin typeface="Segoe UI Semibold" pitchFamily="34" charset="0"/>
                <a:ea typeface="Segoe UI Semibold" pitchFamily="34" charset="-122"/>
                <a:cs typeface="Segoe UI Semibold" pitchFamily="34" charset="-120"/>
              </a:rPr>
              <a:t>Claude</a:t>
            </a:r>
            <a:endParaRPr lang="en-US" sz="1500" dirty="0"/>
          </a:p>
        </p:txBody>
      </p:sp>
      <p:sp>
        <p:nvSpPr>
          <p:cNvPr id="20" name="Text 17"/>
          <p:cNvSpPr/>
          <p:nvPr/>
        </p:nvSpPr>
        <p:spPr>
          <a:xfrm>
            <a:off x="4480560" y="4846320"/>
            <a:ext cx="3291840" cy="1325880"/>
          </a:xfrm>
          <a:prstGeom prst="rect">
            <a:avLst/>
          </a:prstGeom>
          <a:noFill/>
          <a:ln/>
        </p:spPr>
        <p:txBody>
          <a:bodyPr wrap="square" rtlCol="0" anchor="t"/>
          <a:lstStyle/>
          <a:p>
            <a:pPr indent="0" marL="0">
              <a:buNone/>
            </a:pPr>
            <a:r>
              <a:rPr lang="en-US" sz="1300" dirty="0">
                <a:solidFill>
                  <a:srgbClr val="E6EDF3"/>
                </a:solidFill>
                <a:latin typeface="Segoe UI" pitchFamily="34" charset="0"/>
                <a:ea typeface="Segoe UI" pitchFamily="34" charset="-122"/>
                <a:cs typeface="Segoe UI" pitchFamily="34" charset="-120"/>
              </a:rPr>
              <a:t>Exactly the same pasted prompt as ChatGPT, in a fresh chat.</a:t>
            </a:r>
            <a:endParaRPr lang="en-US" sz="1300" dirty="0"/>
          </a:p>
        </p:txBody>
      </p:sp>
      <p:sp>
        <p:nvSpPr>
          <p:cNvPr id="21" name="Shape 18"/>
          <p:cNvSpPr/>
          <p:nvPr/>
        </p:nvSpPr>
        <p:spPr>
          <a:xfrm>
            <a:off x="8046720" y="4114800"/>
            <a:ext cx="3611880" cy="2103120"/>
          </a:xfrm>
          <a:prstGeom prst="roundRect">
            <a:avLst>
              <a:gd name="adj" fmla="val 3478"/>
            </a:avLst>
          </a:prstGeom>
          <a:solidFill>
            <a:srgbClr val="0B3B2E"/>
          </a:solidFill>
          <a:ln w="12700">
            <a:solidFill>
              <a:srgbClr val="10B981"/>
            </a:solidFill>
            <a:prstDash val="solid"/>
          </a:ln>
        </p:spPr>
      </p:sp>
      <p:sp>
        <p:nvSpPr>
          <p:cNvPr id="22" name="Shape 19"/>
          <p:cNvSpPr/>
          <p:nvPr/>
        </p:nvSpPr>
        <p:spPr>
          <a:xfrm>
            <a:off x="8229600" y="4279392"/>
            <a:ext cx="438912" cy="438912"/>
          </a:xfrm>
          <a:prstGeom prst="ellipse">
            <a:avLst/>
          </a:prstGeom>
          <a:solidFill>
            <a:srgbClr val="10B981"/>
          </a:solidFill>
          <a:ln w="12700">
            <a:solidFill>
              <a:srgbClr val="10B981"/>
            </a:solidFill>
            <a:prstDash val="solid"/>
          </a:ln>
        </p:spPr>
      </p:sp>
      <p:sp>
        <p:nvSpPr>
          <p:cNvPr id="23" name="Text 20"/>
          <p:cNvSpPr/>
          <p:nvPr/>
        </p:nvSpPr>
        <p:spPr>
          <a:xfrm>
            <a:off x="8229600" y="4279392"/>
            <a:ext cx="438912" cy="438912"/>
          </a:xfrm>
          <a:prstGeom prst="rect">
            <a:avLst/>
          </a:prstGeom>
          <a:noFill/>
          <a:ln/>
        </p:spPr>
        <p:txBody>
          <a:bodyPr wrap="square" rtlCol="0" anchor="ctr"/>
          <a:lstStyle/>
          <a:p>
            <a:pPr algn="ctr" indent="0" marL="0">
              <a:buNone/>
            </a:pPr>
            <a:r>
              <a:rPr lang="en-US" sz="1440" dirty="0">
                <a:solidFill>
                  <a:srgbClr val="FFFFFF"/>
                </a:solidFill>
                <a:latin typeface="Segoe UI Semibold" pitchFamily="34" charset="0"/>
                <a:ea typeface="Segoe UI Semibold" pitchFamily="34" charset="-122"/>
                <a:cs typeface="Segoe UI Semibold" pitchFamily="34" charset="-120"/>
              </a:rPr>
              <a:t>F</a:t>
            </a:r>
            <a:endParaRPr lang="en-US" sz="1440" dirty="0"/>
          </a:p>
        </p:txBody>
      </p:sp>
      <p:sp>
        <p:nvSpPr>
          <p:cNvPr id="24" name="Text 21"/>
          <p:cNvSpPr/>
          <p:nvPr/>
        </p:nvSpPr>
        <p:spPr>
          <a:xfrm>
            <a:off x="8778240" y="4279392"/>
            <a:ext cx="2743200" cy="438912"/>
          </a:xfrm>
          <a:prstGeom prst="rect">
            <a:avLst/>
          </a:prstGeom>
          <a:noFill/>
          <a:ln/>
        </p:spPr>
        <p:txBody>
          <a:bodyPr wrap="square" rtlCol="0" anchor="ctr"/>
          <a:lstStyle/>
          <a:p>
            <a:pPr indent="0" marL="0">
              <a:buNone/>
            </a:pPr>
            <a:r>
              <a:rPr lang="en-US" sz="1500" dirty="0">
                <a:solidFill>
                  <a:srgbClr val="10B981"/>
                </a:solidFill>
                <a:latin typeface="Segoe UI Semibold" pitchFamily="34" charset="0"/>
                <a:ea typeface="Segoe UI Semibold" pitchFamily="34" charset="-122"/>
                <a:cs typeface="Segoe UI Semibold" pitchFamily="34" charset="-120"/>
              </a:rPr>
              <a:t>Foleo</a:t>
            </a:r>
            <a:endParaRPr lang="en-US" sz="1500" dirty="0"/>
          </a:p>
        </p:txBody>
      </p:sp>
      <p:sp>
        <p:nvSpPr>
          <p:cNvPr id="25" name="Text 22"/>
          <p:cNvSpPr/>
          <p:nvPr/>
        </p:nvSpPr>
        <p:spPr>
          <a:xfrm>
            <a:off x="8229600" y="4846320"/>
            <a:ext cx="3291840" cy="1325880"/>
          </a:xfrm>
          <a:prstGeom prst="rect">
            <a:avLst/>
          </a:prstGeom>
          <a:noFill/>
          <a:ln/>
        </p:spPr>
        <p:txBody>
          <a:bodyPr wrap="square" rtlCol="0" anchor="t"/>
          <a:lstStyle/>
          <a:p>
            <a:pPr indent="0" marL="0">
              <a:buNone/>
            </a:pPr>
            <a:r>
              <a:rPr lang="en-US" sz="1300" dirty="0">
                <a:solidFill>
                  <a:srgbClr val="E6EDF3"/>
                </a:solidFill>
                <a:latin typeface="Segoe UI" pitchFamily="34" charset="0"/>
                <a:ea typeface="Segoe UI" pitchFamily="34" charset="-122"/>
                <a:cs typeface="Segoe UI" pitchFamily="34" charset="-120"/>
              </a:rPr>
              <a:t>Five short questions typed in chat. Holdings come from the linked Upstox account, prices are fetched by Foleo, formulas are built in.</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Foleo: outputs from the live app</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Screenshots from foleo-one.vercel.app · no stocks, prices or formulas were typed</a:t>
            </a:r>
            <a:endParaRPr lang="en-US" sz="1300" dirty="0"/>
          </a:p>
        </p:txBody>
      </p:sp>
      <p:pic>
        <p:nvPicPr>
          <p:cNvPr id="5" name="Image 0" descr="C:\Users\shrey\AppData\Local\Temp\claude\c--ML-Projects-STOCKMATE\e61211e2-765c-47d1-b149-44f7e78c2c4d\scratchpad\deck\live\14.png">    </p:cNvPr>
          <p:cNvPicPr>
            <a:picLocks noChangeAspect="1"/>
          </p:cNvPicPr>
          <p:nvPr/>
        </p:nvPicPr>
        <p:blipFill>
          <a:blip r:embed="rId1"/>
          <a:stretch>
            <a:fillRect/>
          </a:stretch>
        </p:blipFill>
        <p:spPr>
          <a:xfrm>
            <a:off x="548640" y="1463040"/>
            <a:ext cx="6949440" cy="1219604"/>
          </a:xfrm>
          <a:prstGeom prst="rect">
            <a:avLst/>
          </a:prstGeom>
        </p:spPr>
      </p:pic>
      <p:sp>
        <p:nvSpPr>
          <p:cNvPr id="6" name="Shape 3"/>
          <p:cNvSpPr/>
          <p:nvPr/>
        </p:nvSpPr>
        <p:spPr>
          <a:xfrm>
            <a:off x="7680960" y="1463040"/>
            <a:ext cx="3959352" cy="1219604"/>
          </a:xfrm>
          <a:prstGeom prst="roundRect">
            <a:avLst>
              <a:gd name="adj" fmla="val 5998"/>
            </a:avLst>
          </a:prstGeom>
          <a:solidFill>
            <a:srgbClr val="141A22"/>
          </a:solidFill>
          <a:ln w="12700">
            <a:solidFill>
              <a:srgbClr val="263243"/>
            </a:solidFill>
            <a:prstDash val="solid"/>
          </a:ln>
        </p:spPr>
      </p:sp>
      <p:sp>
        <p:nvSpPr>
          <p:cNvPr id="7" name="Shape 4"/>
          <p:cNvSpPr/>
          <p:nvPr/>
        </p:nvSpPr>
        <p:spPr>
          <a:xfrm>
            <a:off x="7699248" y="1572768"/>
            <a:ext cx="54864" cy="1000148"/>
          </a:xfrm>
          <a:prstGeom prst="rect">
            <a:avLst/>
          </a:prstGeom>
          <a:solidFill>
            <a:srgbClr val="10B981"/>
          </a:solidFill>
          <a:ln w="12700">
            <a:solidFill>
              <a:srgbClr val="10B981"/>
            </a:solidFill>
            <a:prstDash val="solid"/>
          </a:ln>
        </p:spPr>
      </p:sp>
      <p:sp>
        <p:nvSpPr>
          <p:cNvPr id="8" name="Text 5"/>
          <p:cNvSpPr/>
          <p:nvPr/>
        </p:nvSpPr>
        <p:spPr>
          <a:xfrm>
            <a:off x="7863840" y="1463040"/>
            <a:ext cx="3703320" cy="1219604"/>
          </a:xfrm>
          <a:prstGeom prst="rect">
            <a:avLst/>
          </a:prstGeom>
          <a:noFill/>
          <a:ln/>
        </p:spPr>
        <p:txBody>
          <a:bodyPr wrap="square" rtlCol="0" anchor="ctr"/>
          <a:lstStyle/>
          <a:p>
            <a:pPr indent="0" marL="0">
              <a:buNone/>
            </a:pPr>
            <a:r>
              <a:rPr lang="en-US" sz="1250" dirty="0">
                <a:solidFill>
                  <a:srgbClr val="10B981"/>
                </a:solidFill>
                <a:latin typeface="Segoe UI Semibold" pitchFamily="34" charset="0"/>
                <a:ea typeface="Segoe UI Semibold" pitchFamily="34" charset="-122"/>
                <a:cs typeface="Segoe UI Semibold" pitchFamily="34" charset="-120"/>
              </a:rPr>
              <a:t>Main prompt → portfolio tool</a:t>
            </a:r>
            <a:endParaRPr lang="en-US" sz="1250" dirty="0"/>
          </a:p>
          <a:p>
            <a:pPr indent="0" marL="0">
              <a:buNone/>
            </a:pPr>
            <a:r>
              <a:rPr lang="en-US" sz="1050" dirty="0">
                <a:solidFill>
                  <a:srgbClr val="E6EDF3"/>
                </a:solidFill>
                <a:latin typeface="Segoe UI" pitchFamily="34" charset="0"/>
                <a:ea typeface="Segoe UI" pitchFamily="34" charset="-122"/>
                <a:cs typeface="Segoe UI" pitchFamily="34" charset="-120"/>
              </a:rPr>
              <a:t>₹89.47 invested, ₹66.15 current, −₹23.32 (−26.06%). P&amp;L% ≤ −10 so the fixed rule gives Exit.</a:t>
            </a:r>
            <a:endParaRPr lang="en-US" sz="1250" dirty="0"/>
          </a:p>
          <a:p>
            <a:pPr indent="0" marL="0">
              <a:buNone/>
            </a:pPr>
            <a:r>
              <a:rPr lang="en-US" sz="950" dirty="0">
                <a:solidFill>
                  <a:srgbClr val="8B98A9"/>
                </a:solidFill>
                <a:latin typeface="Segoe UI" pitchFamily="34" charset="0"/>
                <a:ea typeface="Segoe UI" pitchFamily="34" charset="-122"/>
                <a:cs typeface="Segoe UI" pitchFamily="34" charset="-120"/>
              </a:rPr>
              <a:t>0 LLM tokens</a:t>
            </a:r>
            <a:endParaRPr lang="en-US" sz="1250" dirty="0"/>
          </a:p>
        </p:txBody>
      </p:sp>
      <p:pic>
        <p:nvPicPr>
          <p:cNvPr id="9" name="Image 1" descr="C:\Users\shrey\AppData\Local\Temp\claude\c--ML-Projects-STOCKMATE\e61211e2-765c-47d1-b149-44f7e78c2c4d\scratchpad\deck\live\15.png">    </p:cNvPr>
          <p:cNvPicPr>
            <a:picLocks noChangeAspect="1"/>
          </p:cNvPicPr>
          <p:nvPr/>
        </p:nvPicPr>
        <p:blipFill>
          <a:blip r:embed="rId2"/>
          <a:stretch>
            <a:fillRect/>
          </a:stretch>
        </p:blipFill>
        <p:spPr>
          <a:xfrm>
            <a:off x="548640" y="2792372"/>
            <a:ext cx="6949440" cy="1081535"/>
          </a:xfrm>
          <a:prstGeom prst="rect">
            <a:avLst/>
          </a:prstGeom>
        </p:spPr>
      </p:pic>
      <p:sp>
        <p:nvSpPr>
          <p:cNvPr id="10" name="Shape 6"/>
          <p:cNvSpPr/>
          <p:nvPr/>
        </p:nvSpPr>
        <p:spPr>
          <a:xfrm>
            <a:off x="7680960" y="2792372"/>
            <a:ext cx="3959352" cy="1081535"/>
          </a:xfrm>
          <a:prstGeom prst="roundRect">
            <a:avLst>
              <a:gd name="adj" fmla="val 6764"/>
            </a:avLst>
          </a:prstGeom>
          <a:solidFill>
            <a:srgbClr val="141A22"/>
          </a:solidFill>
          <a:ln w="12700">
            <a:solidFill>
              <a:srgbClr val="263243"/>
            </a:solidFill>
            <a:prstDash val="solid"/>
          </a:ln>
        </p:spPr>
      </p:sp>
      <p:sp>
        <p:nvSpPr>
          <p:cNvPr id="11" name="Shape 7"/>
          <p:cNvSpPr/>
          <p:nvPr/>
        </p:nvSpPr>
        <p:spPr>
          <a:xfrm>
            <a:off x="7699248" y="2902100"/>
            <a:ext cx="54864" cy="862079"/>
          </a:xfrm>
          <a:prstGeom prst="rect">
            <a:avLst/>
          </a:prstGeom>
          <a:solidFill>
            <a:srgbClr val="10B981"/>
          </a:solidFill>
          <a:ln w="12700">
            <a:solidFill>
              <a:srgbClr val="10B981"/>
            </a:solidFill>
            <a:prstDash val="solid"/>
          </a:ln>
        </p:spPr>
      </p:sp>
      <p:sp>
        <p:nvSpPr>
          <p:cNvPr id="12" name="Text 8"/>
          <p:cNvSpPr/>
          <p:nvPr/>
        </p:nvSpPr>
        <p:spPr>
          <a:xfrm>
            <a:off x="7863840" y="2792372"/>
            <a:ext cx="3703320" cy="1081535"/>
          </a:xfrm>
          <a:prstGeom prst="rect">
            <a:avLst/>
          </a:prstGeom>
          <a:noFill/>
          <a:ln/>
        </p:spPr>
        <p:txBody>
          <a:bodyPr wrap="square" rtlCol="0" anchor="ctr"/>
          <a:lstStyle/>
          <a:p>
            <a:pPr indent="0" marL="0">
              <a:buNone/>
            </a:pPr>
            <a:r>
              <a:rPr lang="en-US" sz="1250" dirty="0">
                <a:solidFill>
                  <a:srgbClr val="10B981"/>
                </a:solidFill>
                <a:latin typeface="Segoe UI Semibold" pitchFamily="34" charset="0"/>
                <a:ea typeface="Segoe UI Semibold" pitchFamily="34" charset="-122"/>
                <a:cs typeface="Segoe UI Semibold" pitchFamily="34" charset="-120"/>
              </a:rPr>
              <a:t>Sharpe ratio → −4.7283</a:t>
            </a:r>
            <a:endParaRPr lang="en-US" sz="1250" dirty="0"/>
          </a:p>
          <a:p>
            <a:pPr indent="0" marL="0">
              <a:buNone/>
            </a:pPr>
            <a:r>
              <a:rPr lang="en-US" sz="1050" dirty="0">
                <a:solidFill>
                  <a:srgbClr val="E6EDF3"/>
                </a:solidFill>
                <a:latin typeface="Segoe UI" pitchFamily="34" charset="0"/>
                <a:ea typeface="Segoe UI" pitchFamily="34" charset="-122"/>
                <a:cs typeface="Segoe UI" pitchFamily="34" charset="-120"/>
              </a:rPr>
              <a:t>Whole portfolio, 3-month window as asked. Strongly negative: returns far below the 5% risk-free rate.</a:t>
            </a:r>
            <a:endParaRPr lang="en-US" sz="1250" dirty="0"/>
          </a:p>
          <a:p>
            <a:pPr indent="0" marL="0">
              <a:buNone/>
            </a:pPr>
            <a:r>
              <a:rPr lang="en-US" sz="950" dirty="0">
                <a:solidFill>
                  <a:srgbClr val="8B98A9"/>
                </a:solidFill>
                <a:latin typeface="Segoe UI" pitchFamily="34" charset="0"/>
                <a:ea typeface="Segoe UI" pitchFamily="34" charset="-122"/>
                <a:cs typeface="Segoe UI" pitchFamily="34" charset="-120"/>
              </a:rPr>
              <a:t>0 LLM tokens</a:t>
            </a:r>
            <a:endParaRPr lang="en-US" sz="1250" dirty="0"/>
          </a:p>
        </p:txBody>
      </p:sp>
      <p:pic>
        <p:nvPicPr>
          <p:cNvPr id="13" name="Image 2" descr="C:\Users\shrey\AppData\Local\Temp\claude\c--ML-Projects-STOCKMATE\e61211e2-765c-47d1-b149-44f7e78c2c4d\scratchpad\deck\live\16.png">    </p:cNvPr>
          <p:cNvPicPr>
            <a:picLocks noChangeAspect="1"/>
          </p:cNvPicPr>
          <p:nvPr/>
        </p:nvPicPr>
        <p:blipFill>
          <a:blip r:embed="rId3"/>
          <a:stretch>
            <a:fillRect/>
          </a:stretch>
        </p:blipFill>
        <p:spPr>
          <a:xfrm>
            <a:off x="548640" y="3983635"/>
            <a:ext cx="6949440" cy="1081535"/>
          </a:xfrm>
          <a:prstGeom prst="rect">
            <a:avLst/>
          </a:prstGeom>
        </p:spPr>
      </p:pic>
      <p:sp>
        <p:nvSpPr>
          <p:cNvPr id="14" name="Shape 9"/>
          <p:cNvSpPr/>
          <p:nvPr/>
        </p:nvSpPr>
        <p:spPr>
          <a:xfrm>
            <a:off x="7680960" y="3983635"/>
            <a:ext cx="3959352" cy="1081535"/>
          </a:xfrm>
          <a:prstGeom prst="roundRect">
            <a:avLst>
              <a:gd name="adj" fmla="val 6764"/>
            </a:avLst>
          </a:prstGeom>
          <a:solidFill>
            <a:srgbClr val="141A22"/>
          </a:solidFill>
          <a:ln w="12700">
            <a:solidFill>
              <a:srgbClr val="263243"/>
            </a:solidFill>
            <a:prstDash val="solid"/>
          </a:ln>
        </p:spPr>
      </p:sp>
      <p:sp>
        <p:nvSpPr>
          <p:cNvPr id="15" name="Shape 10"/>
          <p:cNvSpPr/>
          <p:nvPr/>
        </p:nvSpPr>
        <p:spPr>
          <a:xfrm>
            <a:off x="7699248" y="4093363"/>
            <a:ext cx="54864" cy="862079"/>
          </a:xfrm>
          <a:prstGeom prst="rect">
            <a:avLst/>
          </a:prstGeom>
          <a:solidFill>
            <a:srgbClr val="10B981"/>
          </a:solidFill>
          <a:ln w="12700">
            <a:solidFill>
              <a:srgbClr val="10B981"/>
            </a:solidFill>
            <a:prstDash val="solid"/>
          </a:ln>
        </p:spPr>
      </p:sp>
      <p:sp>
        <p:nvSpPr>
          <p:cNvPr id="16" name="Text 11"/>
          <p:cNvSpPr/>
          <p:nvPr/>
        </p:nvSpPr>
        <p:spPr>
          <a:xfrm>
            <a:off x="7863840" y="3983635"/>
            <a:ext cx="3703320" cy="1081535"/>
          </a:xfrm>
          <a:prstGeom prst="rect">
            <a:avLst/>
          </a:prstGeom>
          <a:noFill/>
          <a:ln/>
        </p:spPr>
        <p:txBody>
          <a:bodyPr wrap="square" rtlCol="0" anchor="ctr"/>
          <a:lstStyle/>
          <a:p>
            <a:pPr indent="0" marL="0">
              <a:buNone/>
            </a:pPr>
            <a:r>
              <a:rPr lang="en-US" sz="1250" dirty="0">
                <a:solidFill>
                  <a:srgbClr val="10B981"/>
                </a:solidFill>
                <a:latin typeface="Segoe UI Semibold" pitchFamily="34" charset="0"/>
                <a:ea typeface="Segoe UI Semibold" pitchFamily="34" charset="-122"/>
                <a:cs typeface="Segoe UI Semibold" pitchFamily="34" charset="-120"/>
              </a:rPr>
              <a:t>95% VaR → 3.63%</a:t>
            </a:r>
            <a:endParaRPr lang="en-US" sz="1250" dirty="0"/>
          </a:p>
          <a:p>
            <a:pPr indent="0" marL="0">
              <a:buNone/>
            </a:pPr>
            <a:r>
              <a:rPr lang="en-US" sz="1050" dirty="0">
                <a:solidFill>
                  <a:srgbClr val="E6EDF3"/>
                </a:solidFill>
                <a:latin typeface="Segoe UI" pitchFamily="34" charset="0"/>
                <a:ea typeface="Segoe UI" pitchFamily="34" charset="-122"/>
                <a:cs typeface="Segoe UI" pitchFamily="34" charset="-120"/>
              </a:rPr>
              <a:t>Historically, on about 1 trading day in 20 the portfolio lost more than 3.63%.</a:t>
            </a:r>
            <a:endParaRPr lang="en-US" sz="1250" dirty="0"/>
          </a:p>
          <a:p>
            <a:pPr indent="0" marL="0">
              <a:buNone/>
            </a:pPr>
            <a:r>
              <a:rPr lang="en-US" sz="950" dirty="0">
                <a:solidFill>
                  <a:srgbClr val="8B98A9"/>
                </a:solidFill>
                <a:latin typeface="Segoe UI" pitchFamily="34" charset="0"/>
                <a:ea typeface="Segoe UI" pitchFamily="34" charset="-122"/>
                <a:cs typeface="Segoe UI" pitchFamily="34" charset="-120"/>
              </a:rPr>
              <a:t>0 LLM tokens</a:t>
            </a:r>
            <a:endParaRPr lang="en-US" sz="1250" dirty="0"/>
          </a:p>
        </p:txBody>
      </p:sp>
      <p:pic>
        <p:nvPicPr>
          <p:cNvPr id="17" name="Image 3" descr="C:\Users\shrey\AppData\Local\Temp\claude\c--ML-Projects-STOCKMATE\e61211e2-765c-47d1-b149-44f7e78c2c4d\scratchpad\deck\live\17.png">    </p:cNvPr>
          <p:cNvPicPr>
            <a:picLocks noChangeAspect="1"/>
          </p:cNvPicPr>
          <p:nvPr/>
        </p:nvPicPr>
        <p:blipFill>
          <a:blip r:embed="rId4"/>
          <a:stretch>
            <a:fillRect/>
          </a:stretch>
        </p:blipFill>
        <p:spPr>
          <a:xfrm>
            <a:off x="548640" y="5174898"/>
            <a:ext cx="6949440" cy="1058524"/>
          </a:xfrm>
          <a:prstGeom prst="rect">
            <a:avLst/>
          </a:prstGeom>
        </p:spPr>
      </p:pic>
      <p:sp>
        <p:nvSpPr>
          <p:cNvPr id="18" name="Shape 12"/>
          <p:cNvSpPr/>
          <p:nvPr/>
        </p:nvSpPr>
        <p:spPr>
          <a:xfrm>
            <a:off x="7680960" y="5174898"/>
            <a:ext cx="3959352" cy="1058524"/>
          </a:xfrm>
          <a:prstGeom prst="roundRect">
            <a:avLst>
              <a:gd name="adj" fmla="val 6911"/>
            </a:avLst>
          </a:prstGeom>
          <a:solidFill>
            <a:srgbClr val="141A22"/>
          </a:solidFill>
          <a:ln w="12700">
            <a:solidFill>
              <a:srgbClr val="263243"/>
            </a:solidFill>
            <a:prstDash val="solid"/>
          </a:ln>
        </p:spPr>
      </p:sp>
      <p:sp>
        <p:nvSpPr>
          <p:cNvPr id="19" name="Shape 13"/>
          <p:cNvSpPr/>
          <p:nvPr/>
        </p:nvSpPr>
        <p:spPr>
          <a:xfrm>
            <a:off x="7699248" y="5284626"/>
            <a:ext cx="54864" cy="839068"/>
          </a:xfrm>
          <a:prstGeom prst="rect">
            <a:avLst/>
          </a:prstGeom>
          <a:solidFill>
            <a:srgbClr val="10B981"/>
          </a:solidFill>
          <a:ln w="12700">
            <a:solidFill>
              <a:srgbClr val="10B981"/>
            </a:solidFill>
            <a:prstDash val="solid"/>
          </a:ln>
        </p:spPr>
      </p:sp>
      <p:sp>
        <p:nvSpPr>
          <p:cNvPr id="20" name="Text 14"/>
          <p:cNvSpPr/>
          <p:nvPr/>
        </p:nvSpPr>
        <p:spPr>
          <a:xfrm>
            <a:off x="7863840" y="5174898"/>
            <a:ext cx="3703320" cy="1058524"/>
          </a:xfrm>
          <a:prstGeom prst="rect">
            <a:avLst/>
          </a:prstGeom>
          <a:noFill/>
          <a:ln/>
        </p:spPr>
        <p:txBody>
          <a:bodyPr wrap="square" rtlCol="0" anchor="ctr"/>
          <a:lstStyle/>
          <a:p>
            <a:pPr indent="0" marL="0">
              <a:buNone/>
            </a:pPr>
            <a:r>
              <a:rPr lang="en-US" sz="1250" dirty="0">
                <a:solidFill>
                  <a:srgbClr val="10B981"/>
                </a:solidFill>
                <a:latin typeface="Segoe UI Semibold" pitchFamily="34" charset="0"/>
                <a:ea typeface="Segoe UI Semibold" pitchFamily="34" charset="-122"/>
                <a:cs typeface="Segoe UI Semibold" pitchFamily="34" charset="-120"/>
              </a:rPr>
              <a:t>Max drawdown → −26.33%</a:t>
            </a:r>
            <a:endParaRPr lang="en-US" sz="1250" dirty="0"/>
          </a:p>
          <a:p>
            <a:pPr indent="0" marL="0">
              <a:buNone/>
            </a:pPr>
            <a:r>
              <a:rPr lang="en-US" sz="1050" dirty="0">
                <a:solidFill>
                  <a:srgbClr val="E6EDF3"/>
                </a:solidFill>
                <a:latin typeface="Segoe UI" pitchFamily="34" charset="0"/>
                <a:ea typeface="Segoe UI" pitchFamily="34" charset="-122"/>
                <a:cs typeface="Segoe UI" pitchFamily="34" charset="-120"/>
              </a:rPr>
              <a:t>Fall from the 3-month peak. Today is the low point, so the current drawdown equals the maximum.</a:t>
            </a:r>
            <a:endParaRPr lang="en-US" sz="1250" dirty="0"/>
          </a:p>
          <a:p>
            <a:pPr indent="0" marL="0">
              <a:buNone/>
            </a:pPr>
            <a:r>
              <a:rPr lang="en-US" sz="950" dirty="0">
                <a:solidFill>
                  <a:srgbClr val="8B98A9"/>
                </a:solidFill>
                <a:latin typeface="Segoe UI" pitchFamily="34" charset="0"/>
                <a:ea typeface="Segoe UI" pitchFamily="34" charset="-122"/>
                <a:cs typeface="Segoe UI" pitchFamily="34" charset="-120"/>
              </a:rPr>
              <a:t>0 LLM tokens</a:t>
            </a:r>
            <a:endParaRPr lang="en-US" sz="12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Foleo: what the screenshots show</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Two paths in one chat: exact tools for numbers, the LLM for open questions</a:t>
            </a:r>
            <a:endParaRPr lang="en-US" sz="1300" dirty="0"/>
          </a:p>
        </p:txBody>
      </p:sp>
      <p:sp>
        <p:nvSpPr>
          <p:cNvPr id="5" name="Shape 3"/>
          <p:cNvSpPr/>
          <p:nvPr/>
        </p:nvSpPr>
        <p:spPr>
          <a:xfrm>
            <a:off x="548640" y="1600200"/>
            <a:ext cx="5486400" cy="4617720"/>
          </a:xfrm>
          <a:prstGeom prst="roundRect">
            <a:avLst>
              <a:gd name="adj" fmla="val 1584"/>
            </a:avLst>
          </a:prstGeom>
          <a:solidFill>
            <a:srgbClr val="141A22"/>
          </a:solidFill>
          <a:ln w="12700">
            <a:solidFill>
              <a:srgbClr val="263243"/>
            </a:solidFill>
            <a:prstDash val="solid"/>
          </a:ln>
        </p:spPr>
      </p:sp>
      <p:sp>
        <p:nvSpPr>
          <p:cNvPr id="6" name="Shape 4"/>
          <p:cNvSpPr/>
          <p:nvPr/>
        </p:nvSpPr>
        <p:spPr>
          <a:xfrm>
            <a:off x="566928" y="1709928"/>
            <a:ext cx="54864" cy="4398264"/>
          </a:xfrm>
          <a:prstGeom prst="rect">
            <a:avLst/>
          </a:prstGeom>
          <a:solidFill>
            <a:srgbClr val="10B981"/>
          </a:solidFill>
          <a:ln w="12700">
            <a:solidFill>
              <a:srgbClr val="10B981"/>
            </a:solidFill>
            <a:prstDash val="solid"/>
          </a:ln>
        </p:spPr>
      </p:sp>
      <p:sp>
        <p:nvSpPr>
          <p:cNvPr id="7" name="Text 5"/>
          <p:cNvSpPr/>
          <p:nvPr/>
        </p:nvSpPr>
        <p:spPr>
          <a:xfrm>
            <a:off x="777240" y="1691640"/>
            <a:ext cx="5120640" cy="365760"/>
          </a:xfrm>
          <a:prstGeom prst="rect">
            <a:avLst/>
          </a:prstGeom>
          <a:noFill/>
          <a:ln/>
        </p:spPr>
        <p:txBody>
          <a:bodyPr wrap="square" rtlCol="0" anchor="ctr"/>
          <a:lstStyle/>
          <a:p>
            <a:pPr indent="0" marL="0">
              <a:buNone/>
            </a:pPr>
            <a:r>
              <a:rPr lang="en-US" sz="1500" dirty="0">
                <a:solidFill>
                  <a:srgbClr val="10B981"/>
                </a:solidFill>
                <a:latin typeface="Segoe UI Semibold" pitchFamily="34" charset="0"/>
                <a:ea typeface="Segoe UI Semibold" pitchFamily="34" charset="-122"/>
                <a:cs typeface="Segoe UI Semibold" pitchFamily="34" charset="-120"/>
              </a:rPr>
              <a:t>Tool path (the four answers)</a:t>
            </a:r>
            <a:endParaRPr lang="en-US" sz="1500" dirty="0"/>
          </a:p>
        </p:txBody>
      </p:sp>
      <p:sp>
        <p:nvSpPr>
          <p:cNvPr id="8" name="Text 6"/>
          <p:cNvSpPr/>
          <p:nvPr/>
        </p:nvSpPr>
        <p:spPr>
          <a:xfrm>
            <a:off x="731520" y="2103120"/>
            <a:ext cx="5166360" cy="4069080"/>
          </a:xfrm>
          <a:prstGeom prst="rect">
            <a:avLst/>
          </a:prstGeom>
          <a:noFill/>
          <a:ln/>
        </p:spPr>
        <p:txBody>
          <a:bodyPr wrap="square" lIns="50800" tIns="50800" rIns="50800" bIns="50800" rtlCol="0" anchor="t"/>
          <a:lstStyle/>
          <a:p>
            <a:pPr marL="342900" indent="-342900">
              <a:spcAft>
                <a:spcPts val="1200"/>
              </a:spcAft>
              <a:buSzPct val="100000"/>
              <a:buChar char="▪"/>
            </a:pPr>
            <a:r>
              <a:rPr lang="en-US" sz="1450" b="1" dirty="0">
                <a:solidFill>
                  <a:srgbClr val="E6EDF3"/>
                </a:solidFill>
                <a:latin typeface="Segoe UI" pitchFamily="34" charset="0"/>
                <a:ea typeface="Segoe UI" pitchFamily="34" charset="-122"/>
                <a:cs typeface="Segoe UI" pitchFamily="34" charset="-120"/>
              </a:rPr>
              <a:t>Nothing typed but the question: </a:t>
            </a:r>
            <a:pPr indent="0" marL="0">
              <a:spcAft>
                <a:spcPts val="1200"/>
              </a:spcAft>
              <a:buNone/>
            </a:pPr>
            <a:r>
              <a:rPr lang="en-US" sz="1450" dirty="0">
                <a:solidFill>
                  <a:srgbClr val="E6EDF3"/>
                </a:solidFill>
                <a:latin typeface="Segoe UI" pitchFamily="34" charset="0"/>
                <a:ea typeface="Segoe UI" pitchFamily="34" charset="-122"/>
                <a:cs typeface="Segoe UI" pitchFamily="34" charset="-120"/>
              </a:rPr>
              <a:t>holdings from Upstox, prices from Yahoo Finance</a:t>
            </a:r>
            <a:endParaRPr lang="en-US" sz="1450" dirty="0"/>
          </a:p>
          <a:p>
            <a:pPr marL="342900" indent="-342900">
              <a:spcAft>
                <a:spcPts val="1200"/>
              </a:spcAft>
              <a:buSzPct val="100000"/>
              <a:buChar char="▪"/>
            </a:pPr>
            <a:r>
              <a:rPr lang="en-US" sz="1450" b="1" dirty="0">
                <a:solidFill>
                  <a:srgbClr val="E6EDF3"/>
                </a:solidFill>
                <a:latin typeface="Segoe UI" pitchFamily="34" charset="0"/>
                <a:ea typeface="Segoe UI" pitchFamily="34" charset="-122"/>
                <a:cs typeface="Segoe UI" pitchFamily="34" charset="-120"/>
              </a:rPr>
              <a:t>"My portfolio" understood: </a:t>
            </a:r>
            <a:pPr indent="0" marL="0">
              <a:spcAft>
                <a:spcPts val="1200"/>
              </a:spcAft>
              <a:buNone/>
            </a:pPr>
            <a:r>
              <a:rPr lang="en-US" sz="1450" dirty="0">
                <a:solidFill>
                  <a:srgbClr val="E6EDF3"/>
                </a:solidFill>
                <a:latin typeface="Segoe UI" pitchFamily="34" charset="0"/>
                <a:ea typeface="Segoe UI" pitchFamily="34" charset="-122"/>
                <a:cs typeface="Segoe UI" pitchFamily="34" charset="-120"/>
              </a:rPr>
              <a:t>all three holdings on NSE (IDEA.NS, not the US stock "IDEA")</a:t>
            </a:r>
            <a:endParaRPr lang="en-US" sz="1450" dirty="0"/>
          </a:p>
          <a:p>
            <a:pPr marL="342900" indent="-342900">
              <a:spcAft>
                <a:spcPts val="1200"/>
              </a:spcAft>
              <a:buSzPct val="100000"/>
              <a:buChar char="▪"/>
            </a:pPr>
            <a:r>
              <a:rPr lang="en-US" sz="1450" b="1" dirty="0">
                <a:solidFill>
                  <a:srgbClr val="E6EDF3"/>
                </a:solidFill>
                <a:latin typeface="Segoe UI" pitchFamily="34" charset="0"/>
                <a:ea typeface="Segoe UI" pitchFamily="34" charset="-122"/>
                <a:cs typeface="Segoe UI" pitchFamily="34" charset="-120"/>
              </a:rPr>
              <a:t>"Last 3 months" understood: </a:t>
            </a:r>
            <a:pPr indent="0" marL="0">
              <a:spcAft>
                <a:spcPts val="1200"/>
              </a:spcAft>
              <a:buNone/>
            </a:pPr>
            <a:r>
              <a:rPr lang="en-US" sz="1450" dirty="0">
                <a:solidFill>
                  <a:srgbClr val="E6EDF3"/>
                </a:solidFill>
                <a:latin typeface="Segoe UI" pitchFamily="34" charset="0"/>
                <a:ea typeface="Segoe UI" pitchFamily="34" charset="-122"/>
                <a:cs typeface="Segoe UI" pitchFamily="34" charset="-120"/>
              </a:rPr>
              <a:t>and each answer states the window it used</a:t>
            </a:r>
            <a:endParaRPr lang="en-US" sz="1450" dirty="0"/>
          </a:p>
          <a:p>
            <a:pPr marL="342900" indent="-342900">
              <a:spcAft>
                <a:spcPts val="1200"/>
              </a:spcAft>
              <a:buSzPct val="100000"/>
              <a:buChar char="▪"/>
            </a:pPr>
            <a:r>
              <a:rPr lang="en-US" sz="1450" b="1" dirty="0">
                <a:solidFill>
                  <a:srgbClr val="E6EDF3"/>
                </a:solidFill>
                <a:latin typeface="Segoe UI" pitchFamily="34" charset="0"/>
                <a:ea typeface="Segoe UI" pitchFamily="34" charset="-122"/>
                <a:cs typeface="Segoe UI" pitchFamily="34" charset="-120"/>
              </a:rPr>
              <a:t>Exact: </a:t>
            </a:r>
            <a:pPr indent="0" marL="0">
              <a:spcAft>
                <a:spcPts val="1200"/>
              </a:spcAft>
              <a:buNone/>
            </a:pPr>
            <a:r>
              <a:rPr lang="en-US" sz="1450" dirty="0">
                <a:solidFill>
                  <a:srgbClr val="E6EDF3"/>
                </a:solidFill>
                <a:latin typeface="Segoe UI" pitchFamily="34" charset="0"/>
                <a:ea typeface="Segoe UI" pitchFamily="34" charset="-122"/>
                <a:cs typeface="Segoe UI" pitchFamily="34" charset="-120"/>
              </a:rPr>
              <a:t>every value equals our independent pandas reference</a:t>
            </a:r>
            <a:endParaRPr lang="en-US" sz="1450" dirty="0"/>
          </a:p>
          <a:p>
            <a:pPr marL="342900" indent="-342900">
              <a:spcAft>
                <a:spcPts val="1200"/>
              </a:spcAft>
              <a:buSzPct val="100000"/>
              <a:buChar char="▪"/>
            </a:pPr>
            <a:r>
              <a:rPr lang="en-US" sz="1450" b="1" dirty="0">
                <a:solidFill>
                  <a:srgbClr val="E6EDF3"/>
                </a:solidFill>
                <a:latin typeface="Segoe UI" pitchFamily="34" charset="0"/>
                <a:ea typeface="Segoe UI" pitchFamily="34" charset="-122"/>
                <a:cs typeface="Segoe UI" pitchFamily="34" charset="-120"/>
              </a:rPr>
              <a:t>Cost: </a:t>
            </a:r>
            <a:pPr indent="0" marL="0">
              <a:spcAft>
                <a:spcPts val="1200"/>
              </a:spcAft>
              <a:buNone/>
            </a:pPr>
            <a:r>
              <a:rPr lang="en-US" sz="1450" dirty="0">
                <a:solidFill>
                  <a:srgbClr val="E6EDF3"/>
                </a:solidFill>
                <a:latin typeface="Segoe UI" pitchFamily="34" charset="0"/>
                <a:ea typeface="Segoe UI" pitchFamily="34" charset="-122"/>
                <a:cs typeface="Segoe UI" pitchFamily="34" charset="-120"/>
              </a:rPr>
              <a:t>0 LLM tokens; milliseconds of compute once prices are loaded</a:t>
            </a:r>
            <a:endParaRPr lang="en-US" sz="1450" dirty="0"/>
          </a:p>
          <a:p>
            <a:pPr marL="342900" indent="-342900">
              <a:spcAft>
                <a:spcPts val="1200"/>
              </a:spcAft>
              <a:buSzPct val="100000"/>
              <a:buChar char="▪"/>
            </a:pPr>
            <a:r>
              <a:rPr lang="en-US" sz="1450" b="1" dirty="0">
                <a:solidFill>
                  <a:srgbClr val="E6EDF3"/>
                </a:solidFill>
                <a:latin typeface="Segoe UI" pitchFamily="34" charset="0"/>
                <a:ea typeface="Segoe UI" pitchFamily="34" charset="-122"/>
                <a:cs typeface="Segoe UI" pitchFamily="34" charset="-120"/>
              </a:rPr>
              <a:t>Deterministic: </a:t>
            </a:r>
            <a:pPr indent="0" marL="0">
              <a:spcAft>
                <a:spcPts val="1200"/>
              </a:spcAft>
              <a:buNone/>
            </a:pPr>
            <a:r>
              <a:rPr lang="en-US" sz="1450" dirty="0">
                <a:solidFill>
                  <a:srgbClr val="E6EDF3"/>
                </a:solidFill>
                <a:latin typeface="Segoe UI" pitchFamily="34" charset="0"/>
                <a:ea typeface="Segoe UI" pitchFamily="34" charset="-122"/>
                <a:cs typeface="Segoe UI" pitchFamily="34" charset="-120"/>
              </a:rPr>
              <a:t>same data in, same number out, every time</a:t>
            </a:r>
            <a:endParaRPr lang="en-US" sz="1450" dirty="0"/>
          </a:p>
        </p:txBody>
      </p:sp>
      <p:sp>
        <p:nvSpPr>
          <p:cNvPr id="9" name="Text 7"/>
          <p:cNvSpPr/>
          <p:nvPr/>
        </p:nvSpPr>
        <p:spPr>
          <a:xfrm>
            <a:off x="6263640" y="1572768"/>
            <a:ext cx="5394960" cy="320040"/>
          </a:xfrm>
          <a:prstGeom prst="rect">
            <a:avLst/>
          </a:prstGeom>
          <a:noFill/>
          <a:ln/>
        </p:spPr>
        <p:txBody>
          <a:bodyPr wrap="square" rtlCol="0" anchor="ctr"/>
          <a:lstStyle/>
          <a:p>
            <a:pPr indent="0" marL="0">
              <a:buNone/>
            </a:pPr>
            <a:r>
              <a:rPr lang="en-US" sz="1250" dirty="0">
                <a:solidFill>
                  <a:srgbClr val="E6EDF3"/>
                </a:solidFill>
                <a:latin typeface="Segoe UI Semibold" pitchFamily="34" charset="0"/>
                <a:ea typeface="Segoe UI Semibold" pitchFamily="34" charset="-122"/>
                <a:cs typeface="Segoe UI Semibold" pitchFamily="34" charset="-120"/>
              </a:rPr>
              <a:t>Open question → LLM path: "How is my portfolio doing?"</a:t>
            </a:r>
            <a:endParaRPr lang="en-US" sz="1250" dirty="0"/>
          </a:p>
        </p:txBody>
      </p:sp>
      <p:pic>
        <p:nvPicPr>
          <p:cNvPr id="10" name="Image 0" descr="C:\Users\shrey\AppData\Local\Temp\claude\c--ML-Projects-STOCKMATE\e61211e2-765c-47d1-b149-44f7e78c2c4d\scratchpad\deck\live\18.png">    </p:cNvPr>
          <p:cNvPicPr>
            <a:picLocks noChangeAspect="1"/>
          </p:cNvPicPr>
          <p:nvPr/>
        </p:nvPicPr>
        <p:blipFill>
          <a:blip r:embed="rId1"/>
          <a:stretch>
            <a:fillRect/>
          </a:stretch>
        </p:blipFill>
        <p:spPr>
          <a:xfrm>
            <a:off x="6263640" y="1920240"/>
            <a:ext cx="5376672" cy="1317463"/>
          </a:xfrm>
          <a:prstGeom prst="rect">
            <a:avLst/>
          </a:prstGeom>
        </p:spPr>
      </p:pic>
      <p:sp>
        <p:nvSpPr>
          <p:cNvPr id="11" name="Shape 8"/>
          <p:cNvSpPr/>
          <p:nvPr/>
        </p:nvSpPr>
        <p:spPr>
          <a:xfrm>
            <a:off x="6263640" y="3337560"/>
            <a:ext cx="5376672" cy="2880360"/>
          </a:xfrm>
          <a:prstGeom prst="roundRect">
            <a:avLst>
              <a:gd name="adj" fmla="val 2540"/>
            </a:avLst>
          </a:prstGeom>
          <a:solidFill>
            <a:srgbClr val="1B2330"/>
          </a:solidFill>
          <a:ln w="12700">
            <a:solidFill>
              <a:srgbClr val="263243"/>
            </a:solidFill>
            <a:prstDash val="solid"/>
          </a:ln>
        </p:spPr>
      </p:sp>
      <p:sp>
        <p:nvSpPr>
          <p:cNvPr id="12" name="Text 9"/>
          <p:cNvSpPr/>
          <p:nvPr/>
        </p:nvSpPr>
        <p:spPr>
          <a:xfrm>
            <a:off x="6400800" y="3401568"/>
            <a:ext cx="5138928" cy="2788920"/>
          </a:xfrm>
          <a:prstGeom prst="rect">
            <a:avLst/>
          </a:prstGeom>
          <a:noFill/>
          <a:ln/>
        </p:spPr>
        <p:txBody>
          <a:bodyPr wrap="square" lIns="50800" tIns="50800" rIns="50800" bIns="50800" rtlCol="0" anchor="t"/>
          <a:lstStyle/>
          <a:p>
            <a:pPr marL="342900" indent="-342900">
              <a:spcAft>
                <a:spcPts val="500"/>
              </a:spcAft>
              <a:buSzPct val="100000"/>
              <a:buChar char="▪"/>
            </a:pPr>
            <a:r>
              <a:rPr lang="en-US" sz="1150" dirty="0">
                <a:solidFill>
                  <a:srgbClr val="E6EDF3"/>
                </a:solidFill>
                <a:latin typeface="Segoe UI" pitchFamily="34" charset="0"/>
                <a:ea typeface="Segoe UI" pitchFamily="34" charset="-122"/>
                <a:cs typeface="Segoe UI" pitchFamily="34" charset="-120"/>
              </a:rPr>
              <a:t>No tool matches, so Groq's gpt-oss-120b answers with the portfolio as context</a:t>
            </a:r>
            <a:endParaRPr lang="en-US" sz="1150" dirty="0"/>
          </a:p>
          <a:p>
            <a:pPr marL="342900" indent="-342900">
              <a:spcAft>
                <a:spcPts val="500"/>
              </a:spcAft>
              <a:buSzPct val="100000"/>
              <a:buChar char="▪"/>
            </a:pPr>
            <a:r>
              <a:rPr lang="en-US" sz="1150" dirty="0">
                <a:solidFill>
                  <a:srgbClr val="E6EDF3"/>
                </a:solidFill>
                <a:latin typeface="Segoe UI" pitchFamily="34" charset="0"/>
                <a:ea typeface="Segoe UI" pitchFamily="34" charset="-122"/>
                <a:cs typeface="Segoe UI" pitchFamily="34" charset="-120"/>
              </a:rPr>
              <a:t>Its facts are right: SUZLON is 58.3% of value (38.57 / 66.15); down ₹23.32 (−26.1%); health 21/100, same as the dashboard</a:t>
            </a:r>
            <a:endParaRPr lang="en-US" sz="1150" dirty="0"/>
          </a:p>
          <a:p>
            <a:pPr marL="342900" indent="-342900">
              <a:spcAft>
                <a:spcPts val="500"/>
              </a:spcAft>
              <a:buSzPct val="100000"/>
              <a:buChar char="▪"/>
            </a:pPr>
            <a:r>
              <a:rPr lang="en-US" sz="1150" dirty="0">
                <a:solidFill>
                  <a:srgbClr val="E6EDF3"/>
                </a:solidFill>
                <a:latin typeface="Segoe UI" pitchFamily="34" charset="0"/>
                <a:ea typeface="Segoe UI" pitchFamily="34" charset="-122"/>
                <a:cs typeface="Segoe UI" pitchFamily="34" charset="-120"/>
              </a:rPr>
              <a:t>Adds judgement a tool can't: concentration risk, trim SUZLON below 35%, add low-beta, uncorrelated stocks</a:t>
            </a:r>
            <a:endParaRPr lang="en-US" sz="1150" dirty="0"/>
          </a:p>
          <a:p>
            <a:pPr marL="342900" indent="-342900">
              <a:spcAft>
                <a:spcPts val="500"/>
              </a:spcAft>
              <a:buSzPct val="100000"/>
              <a:buChar char="▪"/>
            </a:pPr>
            <a:r>
              <a:rPr lang="en-US" sz="1150" dirty="0">
                <a:solidFill>
                  <a:srgbClr val="E6EDF3"/>
                </a:solidFill>
                <a:latin typeface="Segoe UI" pitchFamily="34" charset="0"/>
                <a:ea typeface="Segoe UI" pitchFamily="34" charset="-122"/>
                <a:cs typeface="Segoe UI" pitchFamily="34" charset="-120"/>
              </a:rPr>
              <a:t>Costs thousands of tokens and a few seconds per answer, and the wording changes every time</a:t>
            </a:r>
            <a:endParaRPr lang="en-US" sz="11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Live run: ChatGPT and Claude</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Same pasted prompt in a fresh chat each · both ended with the requested FINAL lines</a:t>
            </a:r>
            <a:endParaRPr lang="en-US" sz="1300" dirty="0"/>
          </a:p>
        </p:txBody>
      </p:sp>
      <p:sp>
        <p:nvSpPr>
          <p:cNvPr id="5" name="Shape 3"/>
          <p:cNvSpPr/>
          <p:nvPr/>
        </p:nvSpPr>
        <p:spPr>
          <a:xfrm>
            <a:off x="548640" y="1508760"/>
            <a:ext cx="384048" cy="384048"/>
          </a:xfrm>
          <a:prstGeom prst="ellipse">
            <a:avLst/>
          </a:prstGeom>
          <a:solidFill>
            <a:srgbClr val="38BDF8"/>
          </a:solidFill>
          <a:ln w="12700">
            <a:solidFill>
              <a:srgbClr val="38BDF8"/>
            </a:solidFill>
            <a:prstDash val="solid"/>
          </a:ln>
        </p:spPr>
      </p:sp>
      <p:sp>
        <p:nvSpPr>
          <p:cNvPr id="6" name="Text 4"/>
          <p:cNvSpPr/>
          <p:nvPr/>
        </p:nvSpPr>
        <p:spPr>
          <a:xfrm>
            <a:off x="548640" y="1508760"/>
            <a:ext cx="384048" cy="384048"/>
          </a:xfrm>
          <a:prstGeom prst="rect">
            <a:avLst/>
          </a:prstGeom>
          <a:noFill/>
          <a:ln/>
        </p:spPr>
        <p:txBody>
          <a:bodyPr wrap="square" rtlCol="0" anchor="ctr"/>
          <a:lstStyle/>
          <a:p>
            <a:pPr algn="ctr" indent="0" marL="0">
              <a:buNone/>
            </a:pPr>
            <a:r>
              <a:rPr lang="en-US" sz="1260" dirty="0">
                <a:solidFill>
                  <a:srgbClr val="FFFFFF"/>
                </a:solidFill>
                <a:latin typeface="Segoe UI Semibold" pitchFamily="34" charset="0"/>
                <a:ea typeface="Segoe UI Semibold" pitchFamily="34" charset="-122"/>
                <a:cs typeface="Segoe UI Semibold" pitchFamily="34" charset="-120"/>
              </a:rPr>
              <a:t>G</a:t>
            </a:r>
            <a:endParaRPr lang="en-US" sz="1260" dirty="0"/>
          </a:p>
        </p:txBody>
      </p:sp>
      <p:sp>
        <p:nvSpPr>
          <p:cNvPr id="7" name="Text 5"/>
          <p:cNvSpPr/>
          <p:nvPr/>
        </p:nvSpPr>
        <p:spPr>
          <a:xfrm>
            <a:off x="1005840" y="1508760"/>
            <a:ext cx="2743200" cy="384048"/>
          </a:xfrm>
          <a:prstGeom prst="rect">
            <a:avLst/>
          </a:prstGeom>
          <a:noFill/>
          <a:ln/>
        </p:spPr>
        <p:txBody>
          <a:bodyPr wrap="square" rtlCol="0" anchor="ctr"/>
          <a:lstStyle/>
          <a:p>
            <a:pPr indent="0" marL="0">
              <a:buNone/>
            </a:pPr>
            <a:r>
              <a:rPr lang="en-US" sz="1400" dirty="0">
                <a:solidFill>
                  <a:srgbClr val="38BDF8"/>
                </a:solidFill>
                <a:latin typeface="Segoe UI Semibold" pitchFamily="34" charset="0"/>
                <a:ea typeface="Segoe UI Semibold" pitchFamily="34" charset="-122"/>
                <a:cs typeface="Segoe UI Semibold" pitchFamily="34" charset="-120"/>
              </a:rPr>
              <a:t>ChatGPT</a:t>
            </a:r>
            <a:endParaRPr lang="en-US" sz="1400" dirty="0"/>
          </a:p>
        </p:txBody>
      </p:sp>
      <p:pic>
        <p:nvPicPr>
          <p:cNvPr id="8" name="Image 0" descr="C:\Users\shrey\AppData\Local\Temp\claude\c--ML-Projects-STOCKMATE\e61211e2-765c-47d1-b149-44f7e78c2c4d\scratchpad\deck\live\19.png">    </p:cNvPr>
          <p:cNvPicPr>
            <a:picLocks noChangeAspect="1"/>
          </p:cNvPicPr>
          <p:nvPr/>
        </p:nvPicPr>
        <p:blipFill>
          <a:blip r:embed="rId1"/>
          <a:stretch>
            <a:fillRect/>
          </a:stretch>
        </p:blipFill>
        <p:spPr>
          <a:xfrm>
            <a:off x="548640" y="1965960"/>
            <a:ext cx="4206240" cy="1543156"/>
          </a:xfrm>
          <a:prstGeom prst="rect">
            <a:avLst/>
          </a:prstGeom>
        </p:spPr>
      </p:pic>
      <p:sp>
        <p:nvSpPr>
          <p:cNvPr id="9" name="Shape 6"/>
          <p:cNvSpPr/>
          <p:nvPr/>
        </p:nvSpPr>
        <p:spPr>
          <a:xfrm>
            <a:off x="5074920" y="1508760"/>
            <a:ext cx="384048" cy="384048"/>
          </a:xfrm>
          <a:prstGeom prst="ellipse">
            <a:avLst/>
          </a:prstGeom>
          <a:solidFill>
            <a:srgbClr val="F97316"/>
          </a:solidFill>
          <a:ln w="12700">
            <a:solidFill>
              <a:srgbClr val="F97316"/>
            </a:solidFill>
            <a:prstDash val="solid"/>
          </a:ln>
        </p:spPr>
      </p:sp>
      <p:sp>
        <p:nvSpPr>
          <p:cNvPr id="10" name="Text 7"/>
          <p:cNvSpPr/>
          <p:nvPr/>
        </p:nvSpPr>
        <p:spPr>
          <a:xfrm>
            <a:off x="5074920" y="1508760"/>
            <a:ext cx="384048" cy="384048"/>
          </a:xfrm>
          <a:prstGeom prst="rect">
            <a:avLst/>
          </a:prstGeom>
          <a:noFill/>
          <a:ln/>
        </p:spPr>
        <p:txBody>
          <a:bodyPr wrap="square" rtlCol="0" anchor="ctr"/>
          <a:lstStyle/>
          <a:p>
            <a:pPr algn="ctr" indent="0" marL="0">
              <a:buNone/>
            </a:pPr>
            <a:r>
              <a:rPr lang="en-US" sz="1260" dirty="0">
                <a:solidFill>
                  <a:srgbClr val="FFFFFF"/>
                </a:solidFill>
                <a:latin typeface="Segoe UI Semibold" pitchFamily="34" charset="0"/>
                <a:ea typeface="Segoe UI Semibold" pitchFamily="34" charset="-122"/>
                <a:cs typeface="Segoe UI Semibold" pitchFamily="34" charset="-120"/>
              </a:rPr>
              <a:t>C</a:t>
            </a:r>
            <a:endParaRPr lang="en-US" sz="1260" dirty="0"/>
          </a:p>
        </p:txBody>
      </p:sp>
      <p:sp>
        <p:nvSpPr>
          <p:cNvPr id="11" name="Text 8"/>
          <p:cNvSpPr/>
          <p:nvPr/>
        </p:nvSpPr>
        <p:spPr>
          <a:xfrm>
            <a:off x="5532120" y="1508760"/>
            <a:ext cx="2743200" cy="384048"/>
          </a:xfrm>
          <a:prstGeom prst="rect">
            <a:avLst/>
          </a:prstGeom>
          <a:noFill/>
          <a:ln/>
        </p:spPr>
        <p:txBody>
          <a:bodyPr wrap="square" rtlCol="0" anchor="ctr"/>
          <a:lstStyle/>
          <a:p>
            <a:pPr indent="0" marL="0">
              <a:buNone/>
            </a:pPr>
            <a:r>
              <a:rPr lang="en-US" sz="1400" dirty="0">
                <a:solidFill>
                  <a:srgbClr val="F97316"/>
                </a:solidFill>
                <a:latin typeface="Segoe UI Semibold" pitchFamily="34" charset="0"/>
                <a:ea typeface="Segoe UI Semibold" pitchFamily="34" charset="-122"/>
                <a:cs typeface="Segoe UI Semibold" pitchFamily="34" charset="-120"/>
              </a:rPr>
              <a:t>Claude</a:t>
            </a:r>
            <a:endParaRPr lang="en-US" sz="1400" dirty="0"/>
          </a:p>
        </p:txBody>
      </p:sp>
      <p:pic>
        <p:nvPicPr>
          <p:cNvPr id="12" name="Image 1" descr="C:\Users\shrey\AppData\Local\Temp\claude\c--ML-Projects-STOCKMATE\e61211e2-765c-47d1-b149-44f7e78c2c4d\scratchpad\deck\live\20.png">    </p:cNvPr>
          <p:cNvPicPr>
            <a:picLocks noChangeAspect="1"/>
          </p:cNvPicPr>
          <p:nvPr/>
        </p:nvPicPr>
        <p:blipFill>
          <a:blip r:embed="rId2"/>
          <a:stretch>
            <a:fillRect/>
          </a:stretch>
        </p:blipFill>
        <p:spPr>
          <a:xfrm>
            <a:off x="5074920" y="1965960"/>
            <a:ext cx="2125818" cy="1545336"/>
          </a:xfrm>
          <a:prstGeom prst="rect">
            <a:avLst/>
          </a:prstGeom>
        </p:spPr>
      </p:pic>
      <p:sp>
        <p:nvSpPr>
          <p:cNvPr id="13" name="Shape 9"/>
          <p:cNvSpPr/>
          <p:nvPr/>
        </p:nvSpPr>
        <p:spPr>
          <a:xfrm>
            <a:off x="7452360" y="1508760"/>
            <a:ext cx="4187952" cy="2002536"/>
          </a:xfrm>
          <a:prstGeom prst="roundRect">
            <a:avLst>
              <a:gd name="adj" fmla="val 3653"/>
            </a:avLst>
          </a:prstGeom>
          <a:solidFill>
            <a:srgbClr val="1B2330"/>
          </a:solidFill>
          <a:ln w="12700">
            <a:solidFill>
              <a:srgbClr val="263243"/>
            </a:solidFill>
            <a:prstDash val="solid"/>
          </a:ln>
        </p:spPr>
      </p:sp>
      <p:sp>
        <p:nvSpPr>
          <p:cNvPr id="14" name="Text 10"/>
          <p:cNvSpPr/>
          <p:nvPr/>
        </p:nvSpPr>
        <p:spPr>
          <a:xfrm>
            <a:off x="7589520" y="1600200"/>
            <a:ext cx="3977640" cy="1874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Prompt carried 192 prices + 3 formulas + the decision rule</a:t>
            </a:r>
            <a:endParaRPr lang="en-US" sz="1200" dirty="0"/>
          </a:p>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Both answered every field; nothing invented or missing</a:t>
            </a:r>
            <a:endParaRPr lang="en-US" sz="1200" dirty="0"/>
          </a:p>
          <a:p>
            <a:pPr marL="342900" indent="-342900">
              <a:spcAft>
                <a:spcPts val="600"/>
              </a:spcAft>
              <a:buSzPct val="100000"/>
              <a:buChar char="▪"/>
            </a:pPr>
            <a:r>
              <a:rPr lang="en-US" sz="1200" dirty="0">
                <a:solidFill>
                  <a:srgbClr val="E6EDF3"/>
                </a:solidFill>
                <a:latin typeface="Segoe UI" pitchFamily="34" charset="0"/>
                <a:ea typeface="Segoe UI" pitchFamily="34" charset="-122"/>
                <a:cs typeface="Segoe UI" pitchFamily="34" charset="-120"/>
              </a:rPr>
              <a:t>Values checked against an independent pandas script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11091672" cy="914400"/>
        </p:xfrm>
        <a:graphic>
          <a:graphicData uri="http://schemas.openxmlformats.org/drawingml/2006/table">
            <a:tbl>
              <a:tblPr/>
              <a:tblGrid>
                <a:gridCol w="1874520"/>
                <a:gridCol w="1005840"/>
                <a:gridCol w="1005840"/>
                <a:gridCol w="1005840"/>
                <a:gridCol w="1600200"/>
                <a:gridCol w="1051560"/>
                <a:gridCol w="1188720"/>
                <a:gridCol w="1143000"/>
                <a:gridCol w="1216152"/>
              </a:tblGrid>
              <a:tr h="402336">
                <a:tc>
                  <a:txBody>
                    <a:bodyPr/>
                    <a:lstStyle/>
                    <a:p>
                      <a:pPr algn="l" indent="0" marL="0">
                        <a:buNone/>
                      </a:pPr>
                      <a:r>
                        <a:rPr lang="en-US" sz="1150" dirty="0">
                          <a:solidFill>
                            <a:srgbClr val="E6EDF3"/>
                          </a:solidFill>
                          <a:latin typeface="Segoe UI Semibold" pitchFamily="34" charset="0"/>
                          <a:ea typeface="Segoe UI Semibold" pitchFamily="34" charset="-122"/>
                          <a:cs typeface="Segoe UI Semibold" pitchFamily="34" charset="-120"/>
                        </a:rPr>
                        <a:t>System</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ctr" indent="0" marL="0">
                        <a:buNone/>
                      </a:pPr>
                      <a:r>
                        <a:rPr lang="en-US" sz="1150" dirty="0">
                          <a:solidFill>
                            <a:srgbClr val="E6EDF3"/>
                          </a:solidFill>
                          <a:latin typeface="Segoe UI Semibold" pitchFamily="34" charset="0"/>
                          <a:ea typeface="Segoe UI Semibold" pitchFamily="34" charset="-122"/>
                          <a:cs typeface="Segoe UI Semibold" pitchFamily="34" charset="-120"/>
                        </a:rPr>
                        <a:t>Invested</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ctr" indent="0" marL="0">
                        <a:buNone/>
                      </a:pPr>
                      <a:r>
                        <a:rPr lang="en-US" sz="1150" dirty="0">
                          <a:solidFill>
                            <a:srgbClr val="E6EDF3"/>
                          </a:solidFill>
                          <a:latin typeface="Segoe UI Semibold" pitchFamily="34" charset="0"/>
                          <a:ea typeface="Segoe UI Semibold" pitchFamily="34" charset="-122"/>
                          <a:cs typeface="Segoe UI Semibold" pitchFamily="34" charset="-120"/>
                        </a:rPr>
                        <a:t>Current</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ctr" indent="0" marL="0">
                        <a:buNone/>
                      </a:pPr>
                      <a:r>
                        <a:rPr lang="en-US" sz="1150" dirty="0">
                          <a:solidFill>
                            <a:srgbClr val="E6EDF3"/>
                          </a:solidFill>
                          <a:latin typeface="Segoe UI Semibold" pitchFamily="34" charset="0"/>
                          <a:ea typeface="Segoe UI Semibold" pitchFamily="34" charset="-122"/>
                          <a:cs typeface="Segoe UI Semibold" pitchFamily="34" charset="-120"/>
                        </a:rPr>
                        <a:t>P&amp;L</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ctr" indent="0" marL="0">
                        <a:buNone/>
                      </a:pPr>
                      <a:r>
                        <a:rPr lang="en-US" sz="1150" dirty="0">
                          <a:solidFill>
                            <a:srgbClr val="E6EDF3"/>
                          </a:solidFill>
                          <a:latin typeface="Segoe UI Semibold" pitchFamily="34" charset="0"/>
                          <a:ea typeface="Segoe UI Semibold" pitchFamily="34" charset="-122"/>
                          <a:cs typeface="Segoe UI Semibold" pitchFamily="34" charset="-120"/>
                        </a:rPr>
                        <a:t>P&amp;L %</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ctr" indent="0" marL="0">
                        <a:buNone/>
                      </a:pPr>
                      <a:r>
                        <a:rPr lang="en-US" sz="1150" dirty="0">
                          <a:solidFill>
                            <a:srgbClr val="E6EDF3"/>
                          </a:solidFill>
                          <a:latin typeface="Segoe UI Semibold" pitchFamily="34" charset="0"/>
                          <a:ea typeface="Segoe UI Semibold" pitchFamily="34" charset="-122"/>
                          <a:cs typeface="Segoe UI Semibold" pitchFamily="34" charset="-120"/>
                        </a:rPr>
                        <a:t>Decision</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ctr" indent="0" marL="0">
                        <a:buNone/>
                      </a:pPr>
                      <a:r>
                        <a:rPr lang="en-US" sz="1150" dirty="0">
                          <a:solidFill>
                            <a:srgbClr val="E6EDF3"/>
                          </a:solidFill>
                          <a:latin typeface="Segoe UI Semibold" pitchFamily="34" charset="0"/>
                          <a:ea typeface="Segoe UI Semibold" pitchFamily="34" charset="-122"/>
                          <a:cs typeface="Segoe UI Semibold" pitchFamily="34" charset="-120"/>
                        </a:rPr>
                        <a:t>Sharpe</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ctr" indent="0" marL="0">
                        <a:buNone/>
                      </a:pPr>
                      <a:r>
                        <a:rPr lang="en-US" sz="1150" dirty="0">
                          <a:solidFill>
                            <a:srgbClr val="E6EDF3"/>
                          </a:solidFill>
                          <a:latin typeface="Segoe UI Semibold" pitchFamily="34" charset="0"/>
                          <a:ea typeface="Segoe UI Semibold" pitchFamily="34" charset="-122"/>
                          <a:cs typeface="Segoe UI Semibold" pitchFamily="34" charset="-120"/>
                        </a:rPr>
                        <a:t>VaR 95</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ctr" indent="0" marL="0">
                        <a:buNone/>
                      </a:pPr>
                      <a:r>
                        <a:rPr lang="en-US" sz="1150" dirty="0">
                          <a:solidFill>
                            <a:srgbClr val="E6EDF3"/>
                          </a:solidFill>
                          <a:latin typeface="Segoe UI Semibold" pitchFamily="34" charset="0"/>
                          <a:ea typeface="Segoe UI Semibold" pitchFamily="34" charset="-122"/>
                          <a:cs typeface="Segoe UI Semibold" pitchFamily="34" charset="-120"/>
                        </a:rPr>
                        <a:t>Max DD</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r>
              <a:tr h="402336">
                <a:tc>
                  <a:txBody>
                    <a:bodyPr/>
                    <a:lstStyle/>
                    <a:p>
                      <a:pPr algn="l" indent="0" marL="0">
                        <a:buNone/>
                      </a:pPr>
                      <a:r>
                        <a:rPr lang="en-US" sz="1150" b="1" dirty="0">
                          <a:solidFill>
                            <a:srgbClr val="E6EDF3"/>
                          </a:solidFill>
                          <a:latin typeface="Segoe UI" pitchFamily="34" charset="0"/>
                          <a:ea typeface="Segoe UI" pitchFamily="34" charset="-122"/>
                          <a:cs typeface="Segoe UI" pitchFamily="34" charset="-120"/>
                        </a:rPr>
                        <a:t>Reference (pandas)</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89.47</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66.15</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−23.32</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−26.06</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Exit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−4.7283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3.63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−26.33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r h="402336">
                <a:tc>
                  <a:txBody>
                    <a:bodyPr/>
                    <a:lstStyle/>
                    <a:p>
                      <a:pPr algn="l" indent="0" marL="0">
                        <a:buNone/>
                      </a:pPr>
                      <a:r>
                        <a:rPr lang="en-US" sz="1150" b="1" dirty="0">
                          <a:solidFill>
                            <a:srgbClr val="10B981"/>
                          </a:solidFill>
                          <a:latin typeface="Segoe UI" pitchFamily="34" charset="0"/>
                          <a:ea typeface="Segoe UI" pitchFamily="34" charset="-122"/>
                          <a:cs typeface="Segoe UI" pitchFamily="34" charset="-120"/>
                        </a:rPr>
                        <a:t>Foleo</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89.47</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66.15</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−23.32</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−26.06</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Exit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−4.7283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3.63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−26.33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r>
              <a:tr h="402336">
                <a:tc>
                  <a:txBody>
                    <a:bodyPr/>
                    <a:lstStyle/>
                    <a:p>
                      <a:pPr algn="l" indent="0" marL="0">
                        <a:buNone/>
                      </a:pPr>
                      <a:r>
                        <a:rPr lang="en-US" sz="1150" b="1" dirty="0">
                          <a:solidFill>
                            <a:srgbClr val="38BDF8"/>
                          </a:solidFill>
                          <a:latin typeface="Segoe UI" pitchFamily="34" charset="0"/>
                          <a:ea typeface="Segoe UI" pitchFamily="34" charset="-122"/>
                          <a:cs typeface="Segoe UI" pitchFamily="34" charset="-120"/>
                        </a:rPr>
                        <a:t>ChatGPT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89.47</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66.15</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−23.32</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FBBF24"/>
                          </a:solidFill>
                          <a:latin typeface="Segoe UI" pitchFamily="34" charset="0"/>
                          <a:ea typeface="Segoe UI" pitchFamily="34" charset="-122"/>
                          <a:cs typeface="Segoe UI" pitchFamily="34" charset="-120"/>
                        </a:rPr>
                        <a:t>−26.0646026601</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Exit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−4.7283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3.63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−26.33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r h="402336">
                <a:tc>
                  <a:txBody>
                    <a:bodyPr/>
                    <a:lstStyle/>
                    <a:p>
                      <a:pPr algn="l" indent="0" marL="0">
                        <a:buNone/>
                      </a:pPr>
                      <a:r>
                        <a:rPr lang="en-US" sz="1150" b="1" dirty="0">
                          <a:solidFill>
                            <a:srgbClr val="F97316"/>
                          </a:solidFill>
                          <a:latin typeface="Segoe UI" pitchFamily="34" charset="0"/>
                          <a:ea typeface="Segoe UI" pitchFamily="34" charset="-122"/>
                          <a:cs typeface="Segoe UI" pitchFamily="34" charset="-120"/>
                        </a:rPr>
                        <a:t>Claude</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89.47</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66.15</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−23.32</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−26.0646</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Exit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−4.7283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3.63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ctr" indent="0" marL="0">
                        <a:buNone/>
                      </a:pPr>
                      <a:r>
                        <a:rPr lang="en-US" sz="1150" dirty="0">
                          <a:solidFill>
                            <a:srgbClr val="10B981"/>
                          </a:solidFill>
                          <a:latin typeface="Segoe UI" pitchFamily="34" charset="0"/>
                          <a:ea typeface="Segoe UI" pitchFamily="34" charset="-122"/>
                          <a:cs typeface="Segoe UI" pitchFamily="34" charset="-120"/>
                        </a:rPr>
                        <a:t>−26.33</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r>
            </a:tbl>
          </a:graphicData>
        </a:graphic>
      </p:graphicFrame>
      <p:sp>
        <p:nvSpPr>
          <p:cNvPr id="16" name="Text 11"/>
          <p:cNvSpPr/>
          <p:nvPr/>
        </p:nvSpPr>
        <p:spPr>
          <a:xfrm>
            <a:off x="548640" y="5852160"/>
            <a:ext cx="11091672" cy="365760"/>
          </a:xfrm>
          <a:prstGeom prst="rect">
            <a:avLst/>
          </a:prstGeom>
          <a:noFill/>
          <a:ln/>
        </p:spPr>
        <p:txBody>
          <a:bodyPr wrap="square" rtlCol="0" anchor="ctr"/>
          <a:lstStyle/>
          <a:p>
            <a:pPr indent="0" marL="0">
              <a:buNone/>
            </a:pPr>
            <a:r>
              <a:rPr lang="en-US" sz="1150" i="1" dirty="0">
                <a:solidFill>
                  <a:srgbClr val="8B98A9"/>
                </a:solidFill>
                <a:latin typeface="Segoe UI" pitchFamily="34" charset="0"/>
                <a:ea typeface="Segoe UI" pitchFamily="34" charset="-122"/>
                <a:cs typeface="Segoe UI" pitchFamily="34" charset="-120"/>
              </a:rPr>
              <a:t>8 / 8 values agree across all three systems.  Amber = correct, but unrounded: the output format was left to the model.</a:t>
            </a:r>
            <a:endParaRPr lang="en-US" sz="11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Live run: what we observed</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Given perfect inputs, all three agree. The difference is who has to supply those inputs, and what it costs</a:t>
            </a:r>
            <a:endParaRPr lang="en-US" sz="1300" dirty="0"/>
          </a:p>
        </p:txBody>
      </p:sp>
      <p:sp>
        <p:nvSpPr>
          <p:cNvPr id="5" name="Shape 3"/>
          <p:cNvSpPr/>
          <p:nvPr/>
        </p:nvSpPr>
        <p:spPr>
          <a:xfrm>
            <a:off x="548640" y="1600200"/>
            <a:ext cx="3611880" cy="3657600"/>
          </a:xfrm>
          <a:prstGeom prst="roundRect">
            <a:avLst>
              <a:gd name="adj" fmla="val 2025"/>
            </a:avLst>
          </a:prstGeom>
          <a:solidFill>
            <a:srgbClr val="141A22"/>
          </a:solidFill>
          <a:ln w="12700">
            <a:solidFill>
              <a:srgbClr val="263243"/>
            </a:solidFill>
            <a:prstDash val="solid"/>
          </a:ln>
        </p:spPr>
      </p:sp>
      <p:sp>
        <p:nvSpPr>
          <p:cNvPr id="6" name="Shape 4"/>
          <p:cNvSpPr/>
          <p:nvPr/>
        </p:nvSpPr>
        <p:spPr>
          <a:xfrm>
            <a:off x="731520" y="1737360"/>
            <a:ext cx="411480" cy="411480"/>
          </a:xfrm>
          <a:prstGeom prst="ellipse">
            <a:avLst/>
          </a:prstGeom>
          <a:solidFill>
            <a:srgbClr val="38BDF8"/>
          </a:solidFill>
          <a:ln w="12700">
            <a:solidFill>
              <a:srgbClr val="38BDF8"/>
            </a:solidFill>
            <a:prstDash val="solid"/>
          </a:ln>
        </p:spPr>
      </p:sp>
      <p:sp>
        <p:nvSpPr>
          <p:cNvPr id="7" name="Text 5"/>
          <p:cNvSpPr/>
          <p:nvPr/>
        </p:nvSpPr>
        <p:spPr>
          <a:xfrm>
            <a:off x="731520" y="1737360"/>
            <a:ext cx="411480" cy="411480"/>
          </a:xfrm>
          <a:prstGeom prst="rect">
            <a:avLst/>
          </a:prstGeom>
          <a:noFill/>
          <a:ln/>
        </p:spPr>
        <p:txBody>
          <a:bodyPr wrap="square" rtlCol="0" anchor="ctr"/>
          <a:lstStyle/>
          <a:p>
            <a:pPr algn="ctr" indent="0" marL="0">
              <a:buNone/>
            </a:pPr>
            <a:r>
              <a:rPr lang="en-US" sz="1350" dirty="0">
                <a:solidFill>
                  <a:srgbClr val="FFFFFF"/>
                </a:solidFill>
                <a:latin typeface="Segoe UI Semibold" pitchFamily="34" charset="0"/>
                <a:ea typeface="Segoe UI Semibold" pitchFamily="34" charset="-122"/>
                <a:cs typeface="Segoe UI Semibold" pitchFamily="34" charset="-120"/>
              </a:rPr>
              <a:t>G</a:t>
            </a:r>
            <a:endParaRPr lang="en-US" sz="1350" dirty="0"/>
          </a:p>
        </p:txBody>
      </p:sp>
      <p:sp>
        <p:nvSpPr>
          <p:cNvPr id="8" name="Text 6"/>
          <p:cNvSpPr/>
          <p:nvPr/>
        </p:nvSpPr>
        <p:spPr>
          <a:xfrm>
            <a:off x="1261872" y="1737360"/>
            <a:ext cx="2743200" cy="411480"/>
          </a:xfrm>
          <a:prstGeom prst="rect">
            <a:avLst/>
          </a:prstGeom>
          <a:noFill/>
          <a:ln/>
        </p:spPr>
        <p:txBody>
          <a:bodyPr wrap="square" rtlCol="0" anchor="ctr"/>
          <a:lstStyle/>
          <a:p>
            <a:pPr indent="0" marL="0">
              <a:buNone/>
            </a:pPr>
            <a:r>
              <a:rPr lang="en-US" sz="1500" dirty="0">
                <a:solidFill>
                  <a:srgbClr val="38BDF8"/>
                </a:solidFill>
                <a:latin typeface="Segoe UI Semibold" pitchFamily="34" charset="0"/>
                <a:ea typeface="Segoe UI Semibold" pitchFamily="34" charset="-122"/>
                <a:cs typeface="Segoe UI Semibold" pitchFamily="34" charset="-120"/>
              </a:rPr>
              <a:t>ChatGPT</a:t>
            </a:r>
            <a:endParaRPr lang="en-US" sz="1500" dirty="0"/>
          </a:p>
        </p:txBody>
      </p:sp>
      <p:sp>
        <p:nvSpPr>
          <p:cNvPr id="9" name="Text 7"/>
          <p:cNvSpPr/>
          <p:nvPr/>
        </p:nvSpPr>
        <p:spPr>
          <a:xfrm>
            <a:off x="685800" y="2286000"/>
            <a:ext cx="3383280" cy="2926080"/>
          </a:xfrm>
          <a:prstGeom prst="rect">
            <a:avLst/>
          </a:prstGeom>
          <a:noFill/>
          <a:ln/>
        </p:spPr>
        <p:txBody>
          <a:bodyPr wrap="square" lIns="50800" tIns="50800" rIns="50800" bIns="50800" rtlCol="0" anchor="t"/>
          <a:lstStyle/>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All 8 values exact, computed from the pasted table</a:t>
            </a:r>
            <a:endParaRPr lang="en-US" sz="1350" dirty="0"/>
          </a:p>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P&amp;L% given unrounded (−26.0646026601): right, but the format is the model's choice</a:t>
            </a:r>
            <a:endParaRPr lang="en-US" sz="1350" dirty="0"/>
          </a:p>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Needed the user to paste 192 prices and spell out every formula and the rule</a:t>
            </a:r>
            <a:endParaRPr lang="en-US" sz="1350" dirty="0"/>
          </a:p>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In our 30 Sep benchmark it swapped our RSI formula for its own: 3 wrong values</a:t>
            </a:r>
            <a:endParaRPr lang="en-US" sz="1350" dirty="0"/>
          </a:p>
        </p:txBody>
      </p:sp>
      <p:sp>
        <p:nvSpPr>
          <p:cNvPr id="10" name="Shape 8"/>
          <p:cNvSpPr/>
          <p:nvPr/>
        </p:nvSpPr>
        <p:spPr>
          <a:xfrm>
            <a:off x="4297680" y="1600200"/>
            <a:ext cx="3611880" cy="3657600"/>
          </a:xfrm>
          <a:prstGeom prst="roundRect">
            <a:avLst>
              <a:gd name="adj" fmla="val 2025"/>
            </a:avLst>
          </a:prstGeom>
          <a:solidFill>
            <a:srgbClr val="141A22"/>
          </a:solidFill>
          <a:ln w="12700">
            <a:solidFill>
              <a:srgbClr val="263243"/>
            </a:solidFill>
            <a:prstDash val="solid"/>
          </a:ln>
        </p:spPr>
      </p:sp>
      <p:sp>
        <p:nvSpPr>
          <p:cNvPr id="11" name="Shape 9"/>
          <p:cNvSpPr/>
          <p:nvPr/>
        </p:nvSpPr>
        <p:spPr>
          <a:xfrm>
            <a:off x="4480560" y="1737360"/>
            <a:ext cx="411480" cy="411480"/>
          </a:xfrm>
          <a:prstGeom prst="ellipse">
            <a:avLst/>
          </a:prstGeom>
          <a:solidFill>
            <a:srgbClr val="F97316"/>
          </a:solidFill>
          <a:ln w="12700">
            <a:solidFill>
              <a:srgbClr val="F97316"/>
            </a:solidFill>
            <a:prstDash val="solid"/>
          </a:ln>
        </p:spPr>
      </p:sp>
      <p:sp>
        <p:nvSpPr>
          <p:cNvPr id="12" name="Text 10"/>
          <p:cNvSpPr/>
          <p:nvPr/>
        </p:nvSpPr>
        <p:spPr>
          <a:xfrm>
            <a:off x="4480560" y="1737360"/>
            <a:ext cx="411480" cy="411480"/>
          </a:xfrm>
          <a:prstGeom prst="rect">
            <a:avLst/>
          </a:prstGeom>
          <a:noFill/>
          <a:ln/>
        </p:spPr>
        <p:txBody>
          <a:bodyPr wrap="square" rtlCol="0" anchor="ctr"/>
          <a:lstStyle/>
          <a:p>
            <a:pPr algn="ctr" indent="0" marL="0">
              <a:buNone/>
            </a:pPr>
            <a:r>
              <a:rPr lang="en-US" sz="1350" dirty="0">
                <a:solidFill>
                  <a:srgbClr val="FFFFFF"/>
                </a:solidFill>
                <a:latin typeface="Segoe UI Semibold" pitchFamily="34" charset="0"/>
                <a:ea typeface="Segoe UI Semibold" pitchFamily="34" charset="-122"/>
                <a:cs typeface="Segoe UI Semibold" pitchFamily="34" charset="-120"/>
              </a:rPr>
              <a:t>C</a:t>
            </a:r>
            <a:endParaRPr lang="en-US" sz="1350" dirty="0"/>
          </a:p>
        </p:txBody>
      </p:sp>
      <p:sp>
        <p:nvSpPr>
          <p:cNvPr id="13" name="Text 11"/>
          <p:cNvSpPr/>
          <p:nvPr/>
        </p:nvSpPr>
        <p:spPr>
          <a:xfrm>
            <a:off x="5010912" y="1737360"/>
            <a:ext cx="2743200" cy="411480"/>
          </a:xfrm>
          <a:prstGeom prst="rect">
            <a:avLst/>
          </a:prstGeom>
          <a:noFill/>
          <a:ln/>
        </p:spPr>
        <p:txBody>
          <a:bodyPr wrap="square" rtlCol="0" anchor="ctr"/>
          <a:lstStyle/>
          <a:p>
            <a:pPr indent="0" marL="0">
              <a:buNone/>
            </a:pPr>
            <a:r>
              <a:rPr lang="en-US" sz="1500" dirty="0">
                <a:solidFill>
                  <a:srgbClr val="F97316"/>
                </a:solidFill>
                <a:latin typeface="Segoe UI Semibold" pitchFamily="34" charset="0"/>
                <a:ea typeface="Segoe UI Semibold" pitchFamily="34" charset="-122"/>
                <a:cs typeface="Segoe UI Semibold" pitchFamily="34" charset="-120"/>
              </a:rPr>
              <a:t>Claude</a:t>
            </a:r>
            <a:endParaRPr lang="en-US" sz="1500" dirty="0"/>
          </a:p>
        </p:txBody>
      </p:sp>
      <p:sp>
        <p:nvSpPr>
          <p:cNvPr id="14" name="Text 12"/>
          <p:cNvSpPr/>
          <p:nvPr/>
        </p:nvSpPr>
        <p:spPr>
          <a:xfrm>
            <a:off x="4434840" y="2286000"/>
            <a:ext cx="3383280" cy="2926080"/>
          </a:xfrm>
          <a:prstGeom prst="rect">
            <a:avLst/>
          </a:prstGeom>
          <a:noFill/>
          <a:ln/>
        </p:spPr>
        <p:txBody>
          <a:bodyPr wrap="square" lIns="50800" tIns="50800" rIns="50800" bIns="50800" rtlCol="0" anchor="t"/>
          <a:lstStyle/>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All 8 values exact, rounded to 4 decimals</a:t>
            </a:r>
            <a:endParaRPr lang="en-US" sz="1350" dirty="0"/>
          </a:p>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Said Exit because the rule was in the prompt. On 30 Sep, with no rule, it said HOLD</a:t>
            </a:r>
            <a:endParaRPr lang="en-US" sz="1350" dirty="0"/>
          </a:p>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So its decision depends on how the prompt is written</a:t>
            </a:r>
            <a:endParaRPr lang="en-US" sz="1350" dirty="0"/>
          </a:p>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On 30 Sep it could not report its own token use or latency</a:t>
            </a:r>
            <a:endParaRPr lang="en-US" sz="1350" dirty="0"/>
          </a:p>
        </p:txBody>
      </p:sp>
      <p:sp>
        <p:nvSpPr>
          <p:cNvPr id="15" name="Shape 13"/>
          <p:cNvSpPr/>
          <p:nvPr/>
        </p:nvSpPr>
        <p:spPr>
          <a:xfrm>
            <a:off x="8046720" y="1600200"/>
            <a:ext cx="3611880" cy="3657600"/>
          </a:xfrm>
          <a:prstGeom prst="roundRect">
            <a:avLst>
              <a:gd name="adj" fmla="val 2025"/>
            </a:avLst>
          </a:prstGeom>
          <a:solidFill>
            <a:srgbClr val="0B3B2E"/>
          </a:solidFill>
          <a:ln w="12700">
            <a:solidFill>
              <a:srgbClr val="10B981"/>
            </a:solidFill>
            <a:prstDash val="solid"/>
          </a:ln>
        </p:spPr>
      </p:sp>
      <p:sp>
        <p:nvSpPr>
          <p:cNvPr id="16" name="Shape 14"/>
          <p:cNvSpPr/>
          <p:nvPr/>
        </p:nvSpPr>
        <p:spPr>
          <a:xfrm>
            <a:off x="8229600" y="1737360"/>
            <a:ext cx="411480" cy="411480"/>
          </a:xfrm>
          <a:prstGeom prst="ellipse">
            <a:avLst/>
          </a:prstGeom>
          <a:solidFill>
            <a:srgbClr val="10B981"/>
          </a:solidFill>
          <a:ln w="12700">
            <a:solidFill>
              <a:srgbClr val="10B981"/>
            </a:solidFill>
            <a:prstDash val="solid"/>
          </a:ln>
        </p:spPr>
      </p:sp>
      <p:sp>
        <p:nvSpPr>
          <p:cNvPr id="17" name="Text 15"/>
          <p:cNvSpPr/>
          <p:nvPr/>
        </p:nvSpPr>
        <p:spPr>
          <a:xfrm>
            <a:off x="8229600" y="1737360"/>
            <a:ext cx="411480" cy="411480"/>
          </a:xfrm>
          <a:prstGeom prst="rect">
            <a:avLst/>
          </a:prstGeom>
          <a:noFill/>
          <a:ln/>
        </p:spPr>
        <p:txBody>
          <a:bodyPr wrap="square" rtlCol="0" anchor="ctr"/>
          <a:lstStyle/>
          <a:p>
            <a:pPr algn="ctr" indent="0" marL="0">
              <a:buNone/>
            </a:pPr>
            <a:r>
              <a:rPr lang="en-US" sz="1350" dirty="0">
                <a:solidFill>
                  <a:srgbClr val="FFFFFF"/>
                </a:solidFill>
                <a:latin typeface="Segoe UI Semibold" pitchFamily="34" charset="0"/>
                <a:ea typeface="Segoe UI Semibold" pitchFamily="34" charset="-122"/>
                <a:cs typeface="Segoe UI Semibold" pitchFamily="34" charset="-120"/>
              </a:rPr>
              <a:t>F</a:t>
            </a:r>
            <a:endParaRPr lang="en-US" sz="1350" dirty="0"/>
          </a:p>
        </p:txBody>
      </p:sp>
      <p:sp>
        <p:nvSpPr>
          <p:cNvPr id="18" name="Text 16"/>
          <p:cNvSpPr/>
          <p:nvPr/>
        </p:nvSpPr>
        <p:spPr>
          <a:xfrm>
            <a:off x="8759952" y="1737360"/>
            <a:ext cx="2743200" cy="411480"/>
          </a:xfrm>
          <a:prstGeom prst="rect">
            <a:avLst/>
          </a:prstGeom>
          <a:noFill/>
          <a:ln/>
        </p:spPr>
        <p:txBody>
          <a:bodyPr wrap="square" rtlCol="0" anchor="ctr"/>
          <a:lstStyle/>
          <a:p>
            <a:pPr indent="0" marL="0">
              <a:buNone/>
            </a:pPr>
            <a:r>
              <a:rPr lang="en-US" sz="1500" dirty="0">
                <a:solidFill>
                  <a:srgbClr val="10B981"/>
                </a:solidFill>
                <a:latin typeface="Segoe UI Semibold" pitchFamily="34" charset="0"/>
                <a:ea typeface="Segoe UI Semibold" pitchFamily="34" charset="-122"/>
                <a:cs typeface="Segoe UI Semibold" pitchFamily="34" charset="-120"/>
              </a:rPr>
              <a:t>Foleo</a:t>
            </a:r>
            <a:endParaRPr lang="en-US" sz="1500" dirty="0"/>
          </a:p>
        </p:txBody>
      </p:sp>
      <p:sp>
        <p:nvSpPr>
          <p:cNvPr id="19" name="Text 17"/>
          <p:cNvSpPr/>
          <p:nvPr/>
        </p:nvSpPr>
        <p:spPr>
          <a:xfrm>
            <a:off x="8183880" y="2286000"/>
            <a:ext cx="3383280" cy="2926080"/>
          </a:xfrm>
          <a:prstGeom prst="rect">
            <a:avLst/>
          </a:prstGeom>
          <a:noFill/>
          <a:ln/>
        </p:spPr>
        <p:txBody>
          <a:bodyPr wrap="square" lIns="50800" tIns="50800" rIns="50800" bIns="50800" rtlCol="0" anchor="t"/>
          <a:lstStyle/>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Same 8 values from five short questions, with no data typed</a:t>
            </a:r>
            <a:endParaRPr lang="en-US" sz="1350" dirty="0"/>
          </a:p>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0 LLM tokens; the formula and rule are fixed in tested code</a:t>
            </a:r>
            <a:endParaRPr lang="en-US" sz="1350" dirty="0"/>
          </a:p>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Each answer states its scope and window, so it can be audited</a:t>
            </a:r>
            <a:endParaRPr lang="en-US" sz="1350" dirty="0"/>
          </a:p>
          <a:p>
            <a:pPr marL="342900" indent="-342900">
              <a:spcAft>
                <a:spcPts val="1000"/>
              </a:spcAft>
              <a:buSzPct val="100000"/>
              <a:buChar char="▪"/>
            </a:pPr>
            <a:r>
              <a:rPr lang="en-US" sz="1350" dirty="0">
                <a:solidFill>
                  <a:srgbClr val="E6EDF3"/>
                </a:solidFill>
                <a:latin typeface="Segoe UI" pitchFamily="34" charset="0"/>
                <a:ea typeface="Segoe UI" pitchFamily="34" charset="-122"/>
                <a:cs typeface="Segoe UI" pitchFamily="34" charset="-120"/>
              </a:rPr>
              <a:t>The LLM still handles open questions like "How is my portfolio doing?"</a:t>
            </a:r>
            <a:endParaRPr lang="en-US" sz="1350" dirty="0"/>
          </a:p>
        </p:txBody>
      </p:sp>
      <p:sp>
        <p:nvSpPr>
          <p:cNvPr id="20" name="Shape 18"/>
          <p:cNvSpPr/>
          <p:nvPr/>
        </p:nvSpPr>
        <p:spPr>
          <a:xfrm>
            <a:off x="548640" y="5440680"/>
            <a:ext cx="11091672" cy="777240"/>
          </a:xfrm>
          <a:prstGeom prst="roundRect">
            <a:avLst>
              <a:gd name="adj" fmla="val 9412"/>
            </a:avLst>
          </a:prstGeom>
          <a:solidFill>
            <a:srgbClr val="1B2330"/>
          </a:solidFill>
          <a:ln w="12700">
            <a:solidFill>
              <a:srgbClr val="10B981"/>
            </a:solidFill>
            <a:prstDash val="solid"/>
          </a:ln>
        </p:spPr>
      </p:sp>
      <p:sp>
        <p:nvSpPr>
          <p:cNvPr id="21" name="Text 19"/>
          <p:cNvSpPr/>
          <p:nvPr/>
        </p:nvSpPr>
        <p:spPr>
          <a:xfrm>
            <a:off x="731520" y="5440680"/>
            <a:ext cx="10789920" cy="777240"/>
          </a:xfrm>
          <a:prstGeom prst="rect">
            <a:avLst/>
          </a:prstGeom>
          <a:noFill/>
          <a:ln/>
        </p:spPr>
        <p:txBody>
          <a:bodyPr wrap="square" rtlCol="0" anchor="ctr"/>
          <a:lstStyle/>
          <a:p>
            <a:pPr indent="0" marL="0">
              <a:buNone/>
            </a:pPr>
            <a:r>
              <a:rPr lang="en-US" sz="1300" dirty="0">
                <a:solidFill>
                  <a:srgbClr val="10B981"/>
                </a:solidFill>
                <a:latin typeface="Segoe UI Semibold" pitchFamily="34" charset="0"/>
                <a:ea typeface="Segoe UI Semibold" pitchFamily="34" charset="-122"/>
                <a:cs typeface="Segoe UI Semibold" pitchFamily="34" charset="-120"/>
              </a:rPr>
              <a:t>Takeaway:  </a:t>
            </a:r>
            <a:pPr indent="0" marL="0">
              <a:buNone/>
            </a:pPr>
            <a:r>
              <a:rPr lang="en-US" sz="1300" dirty="0">
                <a:solidFill>
                  <a:srgbClr val="E6EDF3"/>
                </a:solidFill>
                <a:latin typeface="Segoe UI" pitchFamily="34" charset="0"/>
                <a:ea typeface="Segoe UI" pitchFamily="34" charset="-122"/>
                <a:cs typeface="Segoe UI" pitchFamily="34" charset="-120"/>
              </a:rPr>
              <a:t>frontier assistants match Foleo only when the user supplies perfect inputs. Foleo builds the data, the formula and the rule in, so every answer is exact, consistent and free of LLM cost.</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Benchmark (30 Sep): ChatGPT outputs</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GPT-5.6 Luna · whole 26-prompt pack in one chat · solved it by writing and running Python (39 s)</a:t>
            </a:r>
            <a:endParaRPr lang="en-US" sz="1300" dirty="0"/>
          </a:p>
        </p:txBody>
      </p:sp>
      <p:pic>
        <p:nvPicPr>
          <p:cNvPr id="5" name="Image 0" descr="C:\Users\shrey\AppData\Local\Temp\claude\c--ML-Projects-STOCKMATE\e61211e2-765c-47d1-b149-44f7e78c2c4d\scratchpad\deck\old\ppt\media\image-3-1.png">    </p:cNvPr>
          <p:cNvPicPr>
            <a:picLocks noChangeAspect="1"/>
          </p:cNvPicPr>
          <p:nvPr/>
        </p:nvPicPr>
        <p:blipFill>
          <a:blip r:embed="rId1"/>
          <a:stretch>
            <a:fillRect/>
          </a:stretch>
        </p:blipFill>
        <p:spPr>
          <a:xfrm>
            <a:off x="548640" y="1508760"/>
            <a:ext cx="4206240" cy="4352544"/>
          </a:xfrm>
          <a:prstGeom prst="rect">
            <a:avLst/>
          </a:prstGeom>
        </p:spPr>
      </p:pic>
      <p:pic>
        <p:nvPicPr>
          <p:cNvPr id="6" name="Image 1" descr="C:\Users\shrey\AppData\Local\Temp\claude\c--ML-Projects-STOCKMATE\e61211e2-765c-47d1-b149-44f7e78c2c4d\scratchpad\deck\old\ppt\media\image-3-2.png">    </p:cNvPr>
          <p:cNvPicPr>
            <a:picLocks noChangeAspect="1"/>
          </p:cNvPicPr>
          <p:nvPr/>
        </p:nvPicPr>
        <p:blipFill>
          <a:blip r:embed="rId2"/>
          <a:stretch>
            <a:fillRect/>
          </a:stretch>
        </p:blipFill>
        <p:spPr>
          <a:xfrm>
            <a:off x="4983480" y="1508760"/>
            <a:ext cx="5486400" cy="4297680"/>
          </a:xfrm>
          <a:prstGeom prst="rect">
            <a:avLst/>
          </a:prstGeom>
        </p:spPr>
      </p:pic>
      <p:sp>
        <p:nvSpPr>
          <p:cNvPr id="7" name="Text 3"/>
          <p:cNvSpPr/>
          <p:nvPr/>
        </p:nvSpPr>
        <p:spPr>
          <a:xfrm>
            <a:off x="548640" y="5925312"/>
            <a:ext cx="4297680" cy="457200"/>
          </a:xfrm>
          <a:prstGeom prst="rect">
            <a:avLst/>
          </a:prstGeom>
          <a:noFill/>
          <a:ln/>
        </p:spPr>
        <p:txBody>
          <a:bodyPr wrap="square" rtlCol="0" anchor="ctr"/>
          <a:lstStyle/>
          <a:p>
            <a:pPr indent="0" marL="0">
              <a:buNone/>
            </a:pPr>
            <a:r>
              <a:rPr lang="en-US" sz="1100" dirty="0">
                <a:solidFill>
                  <a:srgbClr val="38BDF8"/>
                </a:solidFill>
                <a:latin typeface="Segoe UI Semibold" pitchFamily="34" charset="0"/>
                <a:ea typeface="Segoe UI Semibold" pitchFamily="34" charset="-122"/>
                <a:cs typeface="Segoe UI Semibold" pitchFamily="34" charset="-120"/>
              </a:rPr>
              <a:t>①  </a:t>
            </a:r>
            <a:pPr indent="0" marL="0">
              <a:buNone/>
            </a:pPr>
            <a:r>
              <a:rPr lang="en-US" sz="1100" dirty="0">
                <a:solidFill>
                  <a:srgbClr val="8B98A9"/>
                </a:solidFill>
                <a:latin typeface="Segoe UI" pitchFamily="34" charset="0"/>
                <a:ea typeface="Segoe UI" pitchFamily="34" charset="-122"/>
                <a:cs typeface="Segoe UI" pitchFamily="34" charset="-120"/>
              </a:rPr>
              <a:t>Portfolio arithmetic: 3-stock P1 and 8-stock P2 totals with the class label</a:t>
            </a:r>
            <a:endParaRPr lang="en-US" sz="1100" dirty="0"/>
          </a:p>
        </p:txBody>
      </p:sp>
      <p:sp>
        <p:nvSpPr>
          <p:cNvPr id="8" name="Text 4"/>
          <p:cNvSpPr/>
          <p:nvPr/>
        </p:nvSpPr>
        <p:spPr>
          <a:xfrm>
            <a:off x="4983480" y="5925312"/>
            <a:ext cx="5577840" cy="457200"/>
          </a:xfrm>
          <a:prstGeom prst="rect">
            <a:avLst/>
          </a:prstGeom>
          <a:noFill/>
          <a:ln/>
        </p:spPr>
        <p:txBody>
          <a:bodyPr wrap="square" rtlCol="0" anchor="ctr"/>
          <a:lstStyle/>
          <a:p>
            <a:pPr indent="0" marL="0">
              <a:buNone/>
            </a:pPr>
            <a:r>
              <a:rPr lang="en-US" sz="1100" dirty="0">
                <a:solidFill>
                  <a:srgbClr val="38BDF8"/>
                </a:solidFill>
                <a:latin typeface="Segoe UI Semibold" pitchFamily="34" charset="0"/>
                <a:ea typeface="Segoe UI Semibold" pitchFamily="34" charset="-122"/>
                <a:cs typeface="Segoe UI Semibold" pitchFamily="34" charset="-120"/>
              </a:rPr>
              <a:t>②  </a:t>
            </a:r>
            <a:pPr indent="0" marL="0">
              <a:buNone/>
            </a:pPr>
            <a:r>
              <a:rPr lang="en-US" sz="1100" dirty="0">
                <a:solidFill>
                  <a:srgbClr val="8B98A9"/>
                </a:solidFill>
                <a:latin typeface="Segoe UI" pitchFamily="34" charset="0"/>
                <a:ea typeface="Segoe UI" pitchFamily="34" charset="-122"/>
                <a:cs typeface="Segoe UI" pitchFamily="34" charset="-120"/>
              </a:rPr>
              <a:t>Stock metrics (return, drawdown, VaR, RSI) and P1 risk metrics; it states rf = 5%, 252 days, sample std</a:t>
            </a:r>
            <a:endParaRPr lang="en-US" sz="1100" dirty="0"/>
          </a:p>
        </p:txBody>
      </p:sp>
      <p:sp>
        <p:nvSpPr>
          <p:cNvPr id="9" name="Shape 5"/>
          <p:cNvSpPr/>
          <p:nvPr/>
        </p:nvSpPr>
        <p:spPr>
          <a:xfrm>
            <a:off x="10652760" y="1508760"/>
            <a:ext cx="987552" cy="4297680"/>
          </a:xfrm>
          <a:prstGeom prst="roundRect">
            <a:avLst>
              <a:gd name="adj" fmla="val 7407"/>
            </a:avLst>
          </a:prstGeom>
          <a:solidFill>
            <a:srgbClr val="1B2330"/>
          </a:solidFill>
          <a:ln w="12700">
            <a:solidFill>
              <a:srgbClr val="263243"/>
            </a:solidFill>
            <a:prstDash val="solid"/>
          </a:ln>
        </p:spPr>
      </p:sp>
      <p:sp>
        <p:nvSpPr>
          <p:cNvPr id="10" name="Text 6"/>
          <p:cNvSpPr/>
          <p:nvPr/>
        </p:nvSpPr>
        <p:spPr>
          <a:xfrm>
            <a:off x="10652760" y="1508760"/>
            <a:ext cx="987552" cy="4297680"/>
          </a:xfrm>
          <a:prstGeom prst="rect">
            <a:avLst/>
          </a:prstGeom>
          <a:noFill/>
          <a:ln/>
        </p:spPr>
        <p:txBody>
          <a:bodyPr wrap="square" rtlCol="0" anchor="ctr"/>
          <a:lstStyle/>
          <a:p>
            <a:pPr algn="ctr" indent="0" marL="0">
              <a:buNone/>
            </a:pPr>
            <a:r>
              <a:rPr lang="en-US" sz="3000" dirty="0">
                <a:solidFill>
                  <a:srgbClr val="38BDF8"/>
                </a:solidFill>
                <a:latin typeface="Segoe UI Semibold" pitchFamily="34" charset="0"/>
                <a:ea typeface="Segoe UI Semibold" pitchFamily="34" charset="-122"/>
                <a:cs typeface="Segoe UI Semibold" pitchFamily="34" charset="-120"/>
              </a:rPr>
              <a:t>23</a:t>
            </a:r>
            <a:endParaRPr lang="en-US" sz="3000" dirty="0"/>
          </a:p>
          <a:p>
            <a:pPr algn="ctr" indent="0" marL="0">
              <a:buNone/>
            </a:pPr>
            <a:r>
              <a:rPr lang="en-US" sz="1100" dirty="0">
                <a:solidFill>
                  <a:srgbClr val="8B98A9"/>
                </a:solidFill>
                <a:latin typeface="Segoe UI" pitchFamily="34" charset="0"/>
                <a:ea typeface="Segoe UI" pitchFamily="34" charset="-122"/>
                <a:cs typeface="Segoe UI" pitchFamily="34" charset="-120"/>
              </a:rPr>
              <a:t>of 26 exact</a:t>
            </a:r>
            <a:endParaRPr lang="en-US" sz="3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Benchmark (30 Sep): ChatGPT</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Arithmetic was perfect. All three errors came from the formula it chose, not from calculating</a:t>
            </a:r>
            <a:endParaRPr lang="en-US" sz="1300" dirty="0"/>
          </a:p>
        </p:txBody>
      </p:sp>
      <p:sp>
        <p:nvSpPr>
          <p:cNvPr id="5" name="Shape 3"/>
          <p:cNvSpPr/>
          <p:nvPr/>
        </p:nvSpPr>
        <p:spPr>
          <a:xfrm>
            <a:off x="548640" y="1600200"/>
            <a:ext cx="5486400" cy="4617720"/>
          </a:xfrm>
          <a:prstGeom prst="roundRect">
            <a:avLst>
              <a:gd name="adj" fmla="val 1584"/>
            </a:avLst>
          </a:prstGeom>
          <a:solidFill>
            <a:srgbClr val="141A22"/>
          </a:solidFill>
          <a:ln w="12700">
            <a:solidFill>
              <a:srgbClr val="263243"/>
            </a:solidFill>
            <a:prstDash val="solid"/>
          </a:ln>
        </p:spPr>
      </p:sp>
      <p:sp>
        <p:nvSpPr>
          <p:cNvPr id="6" name="Shape 4"/>
          <p:cNvSpPr/>
          <p:nvPr/>
        </p:nvSpPr>
        <p:spPr>
          <a:xfrm>
            <a:off x="566928" y="1709928"/>
            <a:ext cx="54864" cy="4398264"/>
          </a:xfrm>
          <a:prstGeom prst="rect">
            <a:avLst/>
          </a:prstGeom>
          <a:solidFill>
            <a:srgbClr val="10B981"/>
          </a:solidFill>
          <a:ln w="12700">
            <a:solidFill>
              <a:srgbClr val="10B981"/>
            </a:solidFill>
            <a:prstDash val="solid"/>
          </a:ln>
        </p:spPr>
      </p:sp>
      <p:sp>
        <p:nvSpPr>
          <p:cNvPr id="7" name="Text 5"/>
          <p:cNvSpPr/>
          <p:nvPr/>
        </p:nvSpPr>
        <p:spPr>
          <a:xfrm>
            <a:off x="777240" y="1691640"/>
            <a:ext cx="5120640" cy="365760"/>
          </a:xfrm>
          <a:prstGeom prst="rect">
            <a:avLst/>
          </a:prstGeom>
          <a:noFill/>
          <a:ln/>
        </p:spPr>
        <p:txBody>
          <a:bodyPr wrap="square" rtlCol="0" anchor="ctr"/>
          <a:lstStyle/>
          <a:p>
            <a:pPr indent="0" marL="0">
              <a:buNone/>
            </a:pPr>
            <a:r>
              <a:rPr lang="en-US" sz="1500" dirty="0">
                <a:solidFill>
                  <a:srgbClr val="10B981"/>
                </a:solidFill>
                <a:latin typeface="Segoe UI Semibold" pitchFamily="34" charset="0"/>
                <a:ea typeface="Segoe UI Semibold" pitchFamily="34" charset="-122"/>
                <a:cs typeface="Segoe UI Semibold" pitchFamily="34" charset="-120"/>
              </a:rPr>
              <a:t>What it got right (23)</a:t>
            </a:r>
            <a:endParaRPr lang="en-US" sz="1500" dirty="0"/>
          </a:p>
        </p:txBody>
      </p:sp>
      <p:sp>
        <p:nvSpPr>
          <p:cNvPr id="8" name="Text 6"/>
          <p:cNvSpPr/>
          <p:nvPr/>
        </p:nvSpPr>
        <p:spPr>
          <a:xfrm>
            <a:off x="731520" y="2103120"/>
            <a:ext cx="5166360" cy="4023360"/>
          </a:xfrm>
          <a:prstGeom prst="rect">
            <a:avLst/>
          </a:prstGeom>
          <a:noFill/>
          <a:ln/>
        </p:spPr>
        <p:txBody>
          <a:bodyPr wrap="square" lIns="50800" tIns="50800" rIns="50800" bIns="50800" rtlCol="0" anchor="t"/>
          <a:lstStyle/>
          <a:p>
            <a:pPr marL="342900" indent="-342900">
              <a:spcAft>
                <a:spcPts val="1000"/>
              </a:spcAft>
              <a:buSzPct val="100000"/>
              <a:buChar char="▪"/>
            </a:pPr>
            <a:r>
              <a:rPr lang="en-US" sz="1400" b="1" dirty="0">
                <a:solidFill>
                  <a:srgbClr val="E6EDF3"/>
                </a:solidFill>
                <a:latin typeface="Segoe UI" pitchFamily="34" charset="0"/>
                <a:ea typeface="Segoe UI" pitchFamily="34" charset="-122"/>
                <a:cs typeface="Segoe UI" pitchFamily="34" charset="-120"/>
              </a:rPr>
              <a:t>Main prompt: </a:t>
            </a:r>
            <a:pPr indent="0" marL="0">
              <a:spcAft>
                <a:spcPts val="1000"/>
              </a:spcAft>
              <a:buNone/>
            </a:pPr>
            <a:r>
              <a:rPr lang="en-US" sz="1400" dirty="0">
                <a:solidFill>
                  <a:srgbClr val="E6EDF3"/>
                </a:solidFill>
                <a:latin typeface="Segoe UI" pitchFamily="34" charset="0"/>
                <a:ea typeface="Segoe UI" pitchFamily="34" charset="-122"/>
                <a:cs typeface="Segoe UI" pitchFamily="34" charset="-120"/>
              </a:rPr>
              <a:t>₹89 / ₹83 / −₹6 / −6.74% → Trim, matching the reference to the paisa</a:t>
            </a:r>
            <a:endParaRPr lang="en-US" sz="1400" dirty="0"/>
          </a:p>
          <a:p>
            <a:pPr marL="342900" indent="-342900">
              <a:spcAft>
                <a:spcPts val="1000"/>
              </a:spcAft>
              <a:buSzPct val="100000"/>
              <a:buChar char="▪"/>
            </a:pPr>
            <a:r>
              <a:rPr lang="en-US" sz="1400" b="1" dirty="0">
                <a:solidFill>
                  <a:srgbClr val="E6EDF3"/>
                </a:solidFill>
                <a:latin typeface="Segoe UI" pitchFamily="34" charset="0"/>
                <a:ea typeface="Segoe UI" pitchFamily="34" charset="-122"/>
                <a:cs typeface="Segoe UI" pitchFamily="34" charset="-120"/>
              </a:rPr>
              <a:t>8-stock portfolio: </a:t>
            </a:r>
            <a:pPr indent="0" marL="0">
              <a:spcAft>
                <a:spcPts val="1000"/>
              </a:spcAft>
              <a:buNone/>
            </a:pPr>
            <a:r>
              <a:rPr lang="en-US" sz="1400" dirty="0">
                <a:solidFill>
                  <a:srgbClr val="E6EDF3"/>
                </a:solidFill>
                <a:latin typeface="Segoe UI" pitchFamily="34" charset="0"/>
                <a:ea typeface="Segoe UI" pitchFamily="34" charset="-122"/>
                <a:cs typeface="Segoe UI" pitchFamily="34" charset="-120"/>
              </a:rPr>
              <a:t>₹6,09,742.20 invested, ₹6,85,857.65 current, +₹76,115.45 (+12.48%) → Buy</a:t>
            </a:r>
            <a:endParaRPr lang="en-US" sz="1400" dirty="0"/>
          </a:p>
          <a:p>
            <a:pPr marL="342900" indent="-342900">
              <a:spcAft>
                <a:spcPts val="1000"/>
              </a:spcAft>
              <a:buSzPct val="100000"/>
              <a:buChar char="▪"/>
            </a:pPr>
            <a:r>
              <a:rPr lang="en-US" sz="1400" b="1" dirty="0">
                <a:solidFill>
                  <a:srgbClr val="E6EDF3"/>
                </a:solidFill>
                <a:latin typeface="Segoe UI" pitchFamily="34" charset="0"/>
                <a:ea typeface="Segoe UI" pitchFamily="34" charset="-122"/>
                <a:cs typeface="Segoe UI" pitchFamily="34" charset="-120"/>
              </a:rPr>
              <a:t>Stock metrics: </a:t>
            </a:r>
            <a:pPr indent="0" marL="0">
              <a:spcAft>
                <a:spcPts val="1000"/>
              </a:spcAft>
              <a:buNone/>
            </a:pPr>
            <a:r>
              <a:rPr lang="en-US" sz="1400" dirty="0">
                <a:solidFill>
                  <a:srgbClr val="E6EDF3"/>
                </a:solidFill>
                <a:latin typeface="Segoe UI" pitchFamily="34" charset="0"/>
                <a:ea typeface="Segoe UI" pitchFamily="34" charset="-122"/>
                <a:cs typeface="Segoe UI" pitchFamily="34" charset="-120"/>
              </a:rPr>
              <a:t>every total return, max drawdown and VaR for RELIANCE, TCS, HDFCBANK</a:t>
            </a:r>
            <a:endParaRPr lang="en-US" sz="1400" dirty="0"/>
          </a:p>
          <a:p>
            <a:pPr marL="342900" indent="-342900">
              <a:spcAft>
                <a:spcPts val="1000"/>
              </a:spcAft>
              <a:buSzPct val="100000"/>
              <a:buChar char="▪"/>
            </a:pPr>
            <a:r>
              <a:rPr lang="en-US" sz="1400" b="1" dirty="0">
                <a:solidFill>
                  <a:srgbClr val="E6EDF3"/>
                </a:solidFill>
                <a:latin typeface="Segoe UI" pitchFamily="34" charset="0"/>
                <a:ea typeface="Segoe UI" pitchFamily="34" charset="-122"/>
                <a:cs typeface="Segoe UI" pitchFamily="34" charset="-120"/>
              </a:rPr>
              <a:t>Portfolio risk: </a:t>
            </a:r>
            <a:pPr indent="0" marL="0">
              <a:spcAft>
                <a:spcPts val="1000"/>
              </a:spcAft>
              <a:buNone/>
            </a:pPr>
            <a:r>
              <a:rPr lang="en-US" sz="1400" dirty="0">
                <a:solidFill>
                  <a:srgbClr val="E6EDF3"/>
                </a:solidFill>
                <a:latin typeface="Segoe UI" pitchFamily="34" charset="0"/>
                <a:ea typeface="Segoe UI" pitchFamily="34" charset="-122"/>
                <a:cs typeface="Segoe UI" pitchFamily="34" charset="-120"/>
              </a:rPr>
              <a:t>Sharpe −4.2766, VaR 2.38%, drawdown −20.77%, 3-month return −19.27%, all exact</a:t>
            </a:r>
            <a:endParaRPr lang="en-US" sz="1400" dirty="0"/>
          </a:p>
          <a:p>
            <a:pPr marL="342900" indent="-342900">
              <a:spcAft>
                <a:spcPts val="1000"/>
              </a:spcAft>
              <a:buSzPct val="100000"/>
              <a:buChar char="▪"/>
            </a:pPr>
            <a:r>
              <a:rPr lang="en-US" sz="1400" b="1" dirty="0">
                <a:solidFill>
                  <a:srgbClr val="E6EDF3"/>
                </a:solidFill>
                <a:latin typeface="Segoe UI" pitchFamily="34" charset="0"/>
                <a:ea typeface="Segoe UI" pitchFamily="34" charset="-122"/>
                <a:cs typeface="Segoe UI" pitchFamily="34" charset="-120"/>
              </a:rPr>
              <a:t>Honesty: </a:t>
            </a:r>
            <a:pPr indent="0" marL="0">
              <a:spcAft>
                <a:spcPts val="1000"/>
              </a:spcAft>
              <a:buNone/>
            </a:pPr>
            <a:r>
              <a:rPr lang="en-US" sz="1400" dirty="0">
                <a:solidFill>
                  <a:srgbClr val="E6EDF3"/>
                </a:solidFill>
                <a:latin typeface="Segoe UI" pitchFamily="34" charset="0"/>
                <a:ea typeface="Segoe UI" pitchFamily="34" charset="-122"/>
                <a:cs typeface="Segoe UI" pitchFamily="34" charset="-120"/>
              </a:rPr>
              <a:t>said it used only the supplied data and did not fabricate timings</a:t>
            </a:r>
            <a:endParaRPr lang="en-US" sz="1400" dirty="0"/>
          </a:p>
        </p:txBody>
      </p:sp>
      <p:sp>
        <p:nvSpPr>
          <p:cNvPr id="9" name="Shape 7"/>
          <p:cNvSpPr/>
          <p:nvPr/>
        </p:nvSpPr>
        <p:spPr>
          <a:xfrm>
            <a:off x="6263640" y="1600200"/>
            <a:ext cx="5376672" cy="2743200"/>
          </a:xfrm>
          <a:prstGeom prst="roundRect">
            <a:avLst>
              <a:gd name="adj" fmla="val 2667"/>
            </a:avLst>
          </a:prstGeom>
          <a:solidFill>
            <a:srgbClr val="141A22"/>
          </a:solidFill>
          <a:ln w="12700">
            <a:solidFill>
              <a:srgbClr val="263243"/>
            </a:solidFill>
            <a:prstDash val="solid"/>
          </a:ln>
        </p:spPr>
      </p:sp>
      <p:sp>
        <p:nvSpPr>
          <p:cNvPr id="10" name="Shape 8"/>
          <p:cNvSpPr/>
          <p:nvPr/>
        </p:nvSpPr>
        <p:spPr>
          <a:xfrm>
            <a:off x="6281928" y="1709928"/>
            <a:ext cx="54864" cy="2523744"/>
          </a:xfrm>
          <a:prstGeom prst="rect">
            <a:avLst/>
          </a:prstGeom>
          <a:solidFill>
            <a:srgbClr val="F87171"/>
          </a:solidFill>
          <a:ln w="12700">
            <a:solidFill>
              <a:srgbClr val="F87171"/>
            </a:solidFill>
            <a:prstDash val="solid"/>
          </a:ln>
        </p:spPr>
      </p:sp>
      <p:sp>
        <p:nvSpPr>
          <p:cNvPr id="11" name="Text 9"/>
          <p:cNvSpPr/>
          <p:nvPr/>
        </p:nvSpPr>
        <p:spPr>
          <a:xfrm>
            <a:off x="6492240" y="1691640"/>
            <a:ext cx="5029200" cy="365760"/>
          </a:xfrm>
          <a:prstGeom prst="rect">
            <a:avLst/>
          </a:prstGeom>
          <a:noFill/>
          <a:ln/>
        </p:spPr>
        <p:txBody>
          <a:bodyPr wrap="square" rtlCol="0" anchor="ctr"/>
          <a:lstStyle/>
          <a:p>
            <a:pPr indent="0" marL="0">
              <a:buNone/>
            </a:pPr>
            <a:r>
              <a:rPr lang="en-US" sz="1500" dirty="0">
                <a:solidFill>
                  <a:srgbClr val="F87171"/>
                </a:solidFill>
                <a:latin typeface="Segoe UI Semibold" pitchFamily="34" charset="0"/>
                <a:ea typeface="Segoe UI Semibold" pitchFamily="34" charset="-122"/>
                <a:cs typeface="Segoe UI Semibold" pitchFamily="34" charset="-120"/>
              </a:rPr>
              <a:t>What it got wrong (3): RSI-14</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46520" y="2148840"/>
          <a:ext cx="5029200" cy="914400"/>
        </p:xfrm>
        <a:graphic>
          <a:graphicData uri="http://schemas.openxmlformats.org/drawingml/2006/table">
            <a:tbl>
              <a:tblPr/>
              <a:tblGrid>
                <a:gridCol w="1463040"/>
                <a:gridCol w="1188720"/>
                <a:gridCol w="1188720"/>
                <a:gridCol w="1188720"/>
              </a:tblGrid>
              <a:tr h="347472">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Stock</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ChatGPT</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Reference</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Error</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r>
              <a:tr h="347472">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RELIANCE</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26.22</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25.66</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F87171"/>
                          </a:solidFill>
                          <a:latin typeface="Segoe UI" pitchFamily="34" charset="0"/>
                          <a:ea typeface="Segoe UI" pitchFamily="34" charset="-122"/>
                          <a:cs typeface="Segoe UI" pitchFamily="34" charset="-120"/>
                        </a:rPr>
                        <a:t>+0.56</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r h="347472">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TCS</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22.50</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22.21</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F87171"/>
                          </a:solidFill>
                          <a:latin typeface="Segoe UI" pitchFamily="34" charset="0"/>
                          <a:ea typeface="Segoe UI" pitchFamily="34" charset="-122"/>
                          <a:cs typeface="Segoe UI" pitchFamily="34" charset="-120"/>
                        </a:rPr>
                        <a:t>+0.29</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r>
              <a:tr h="347472">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HDFCBANK</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61.63</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61.40</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F87171"/>
                          </a:solidFill>
                          <a:latin typeface="Segoe UI" pitchFamily="34" charset="0"/>
                          <a:ea typeface="Segoe UI" pitchFamily="34" charset="-122"/>
                          <a:cs typeface="Segoe UI" pitchFamily="34" charset="-120"/>
                        </a:rPr>
                        <a:t>+0.23</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bl>
          </a:graphicData>
        </a:graphic>
      </p:graphicFrame>
      <p:sp>
        <p:nvSpPr>
          <p:cNvPr id="13" name="Shape 10"/>
          <p:cNvSpPr/>
          <p:nvPr/>
        </p:nvSpPr>
        <p:spPr>
          <a:xfrm>
            <a:off x="6263640" y="4526280"/>
            <a:ext cx="5376672" cy="1691640"/>
          </a:xfrm>
          <a:prstGeom prst="roundRect">
            <a:avLst>
              <a:gd name="adj" fmla="val 4324"/>
            </a:avLst>
          </a:prstGeom>
          <a:solidFill>
            <a:srgbClr val="1B2330"/>
          </a:solidFill>
          <a:ln w="12700">
            <a:solidFill>
              <a:srgbClr val="263243"/>
            </a:solidFill>
            <a:prstDash val="solid"/>
          </a:ln>
        </p:spPr>
      </p:sp>
      <p:sp>
        <p:nvSpPr>
          <p:cNvPr id="14" name="Text 11"/>
          <p:cNvSpPr/>
          <p:nvPr/>
        </p:nvSpPr>
        <p:spPr>
          <a:xfrm>
            <a:off x="6400800" y="4572000"/>
            <a:ext cx="5120640" cy="1627632"/>
          </a:xfrm>
          <a:prstGeom prst="rect">
            <a:avLst/>
          </a:prstGeom>
          <a:noFill/>
          <a:ln/>
        </p:spPr>
        <p:txBody>
          <a:bodyPr wrap="square" lIns="50800" tIns="50800" rIns="50800" bIns="50800" rtlCol="0" anchor="t"/>
          <a:lstStyle/>
          <a:p>
            <a:pPr marL="342900" indent="-342900">
              <a:spcAft>
                <a:spcPts val="400"/>
              </a:spcAft>
              <a:buSzPct val="100000"/>
              <a:buChar char="▪"/>
            </a:pPr>
            <a:r>
              <a:rPr lang="en-US" sz="1150" dirty="0">
                <a:solidFill>
                  <a:srgbClr val="E6EDF3"/>
                </a:solidFill>
                <a:latin typeface="Segoe UI" pitchFamily="34" charset="0"/>
                <a:ea typeface="Segoe UI" pitchFamily="34" charset="-122"/>
                <a:cs typeface="Segoe UI" pitchFamily="34" charset="-120"/>
              </a:rPr>
              <a:t>The prompt spelled out the simple-average RSI formula, yet it computed a different one</a:t>
            </a:r>
            <a:endParaRPr lang="en-US" sz="1150" dirty="0"/>
          </a:p>
          <a:p>
            <a:pPr marL="342900" indent="-342900">
              <a:spcAft>
                <a:spcPts val="400"/>
              </a:spcAft>
              <a:buSzPct val="100000"/>
              <a:buChar char="▪"/>
            </a:pPr>
            <a:r>
              <a:rPr lang="en-US" sz="1150" dirty="0">
                <a:solidFill>
                  <a:srgbClr val="E6EDF3"/>
                </a:solidFill>
                <a:latin typeface="Segoe UI" pitchFamily="34" charset="0"/>
                <a:ea typeface="Segoe UI" pitchFamily="34" charset="-122"/>
                <a:cs typeface="Segoe UI" pitchFamily="34" charset="-120"/>
              </a:rPr>
              <a:t>We could not reproduce its values with Wilder smoothing, 13- or 15-day windows, or skipping flat days, so it used its own definition</a:t>
            </a:r>
            <a:endParaRPr lang="en-US" sz="1150" dirty="0"/>
          </a:p>
          <a:p>
            <a:pPr marL="342900" indent="-342900">
              <a:spcAft>
                <a:spcPts val="400"/>
              </a:spcAft>
              <a:buSzPct val="100000"/>
              <a:buChar char="▪"/>
            </a:pPr>
            <a:r>
              <a:rPr lang="en-US" sz="1150" b="1" dirty="0">
                <a:solidFill>
                  <a:srgbClr val="FBBF24"/>
                </a:solidFill>
                <a:latin typeface="Segoe UI" pitchFamily="34" charset="0"/>
                <a:ea typeface="Segoe UI" pitchFamily="34" charset="-122"/>
                <a:cs typeface="Segoe UI" pitchFamily="34" charset="-120"/>
              </a:rPr>
              <a:t>Lesson: </a:t>
            </a:r>
            <a:pPr indent="0" marL="0">
              <a:spcAft>
                <a:spcPts val="400"/>
              </a:spcAft>
              <a:buNone/>
            </a:pPr>
            <a:r>
              <a:rPr lang="en-US" sz="1150" dirty="0">
                <a:solidFill>
                  <a:srgbClr val="E6EDF3"/>
                </a:solidFill>
                <a:latin typeface="Segoe UI" pitchFamily="34" charset="0"/>
                <a:ea typeface="Segoe UI" pitchFamily="34" charset="-122"/>
                <a:cs typeface="Segoe UI" pitchFamily="34" charset="-120"/>
              </a:rPr>
              <a:t>running code fixes arithmetic, not definitions. Whoever writes the code chooses the formula</a:t>
            </a:r>
            <a:endParaRPr lang="en-US" sz="11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Benchmark (30 Sep): Claude outputs</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Claude Sonnet 5 (low effort) · main prompt with per-holding working, rankings, formula audit and self-scored metrics</a:t>
            </a:r>
            <a:endParaRPr lang="en-US" sz="1300" dirty="0"/>
          </a:p>
        </p:txBody>
      </p:sp>
      <p:pic>
        <p:nvPicPr>
          <p:cNvPr id="5" name="Image 0" descr="C:\Users\shrey\AppData\Local\Temp\claude\c--ML-Projects-STOCKMATE\e61211e2-765c-47d1-b149-44f7e78c2c4d\scratchpad\deck\old\ppt\media\image-4-1.png">    </p:cNvPr>
          <p:cNvPicPr>
            <a:picLocks noChangeAspect="1"/>
          </p:cNvPicPr>
          <p:nvPr/>
        </p:nvPicPr>
        <p:blipFill>
          <a:blip r:embed="rId1"/>
          <a:stretch>
            <a:fillRect/>
          </a:stretch>
        </p:blipFill>
        <p:spPr>
          <a:xfrm>
            <a:off x="548640" y="1508760"/>
            <a:ext cx="3090672" cy="4443984"/>
          </a:xfrm>
          <a:prstGeom prst="rect">
            <a:avLst/>
          </a:prstGeom>
        </p:spPr>
      </p:pic>
      <p:sp>
        <p:nvSpPr>
          <p:cNvPr id="6" name="Text 3"/>
          <p:cNvSpPr/>
          <p:nvPr/>
        </p:nvSpPr>
        <p:spPr>
          <a:xfrm>
            <a:off x="548640" y="5961888"/>
            <a:ext cx="3639312" cy="457200"/>
          </a:xfrm>
          <a:prstGeom prst="rect">
            <a:avLst/>
          </a:prstGeom>
          <a:noFill/>
          <a:ln/>
        </p:spPr>
        <p:txBody>
          <a:bodyPr wrap="square" rtlCol="0" anchor="t"/>
          <a:lstStyle/>
          <a:p>
            <a:pPr indent="0" marL="0">
              <a:buNone/>
            </a:pPr>
            <a:r>
              <a:rPr lang="en-US" sz="1050" dirty="0">
                <a:solidFill>
                  <a:srgbClr val="8B98A9"/>
                </a:solidFill>
                <a:latin typeface="Segoe UI" pitchFamily="34" charset="0"/>
                <a:ea typeface="Segoe UI" pitchFamily="34" charset="-122"/>
                <a:cs typeface="Segoe UI" pitchFamily="34" charset="-120"/>
              </a:rPr>
              <a:t>① Per-holding working: IDEA +15.38%, YESBANK 0%, SUZLON −15.09%; totals ₹89 / ₹83 / −₹6 / −6.74%</a:t>
            </a:r>
            <a:endParaRPr lang="en-US" sz="1050" dirty="0"/>
          </a:p>
        </p:txBody>
      </p:sp>
      <p:pic>
        <p:nvPicPr>
          <p:cNvPr id="7" name="Image 1" descr="C:\Users\shrey\AppData\Local\Temp\claude\c--ML-Projects-STOCKMATE\e61211e2-765c-47d1-b149-44f7e78c2c4d\scratchpad\deck\old\ppt\media\image-4-2.png">    </p:cNvPr>
          <p:cNvPicPr>
            <a:picLocks noChangeAspect="1"/>
          </p:cNvPicPr>
          <p:nvPr/>
        </p:nvPicPr>
        <p:blipFill>
          <a:blip r:embed="rId2"/>
          <a:stretch>
            <a:fillRect/>
          </a:stretch>
        </p:blipFill>
        <p:spPr>
          <a:xfrm>
            <a:off x="4142232" y="1508760"/>
            <a:ext cx="2980944" cy="4443984"/>
          </a:xfrm>
          <a:prstGeom prst="rect">
            <a:avLst/>
          </a:prstGeom>
        </p:spPr>
      </p:pic>
      <p:sp>
        <p:nvSpPr>
          <p:cNvPr id="8" name="Text 4"/>
          <p:cNvSpPr/>
          <p:nvPr/>
        </p:nvSpPr>
        <p:spPr>
          <a:xfrm>
            <a:off x="4142232" y="5961888"/>
            <a:ext cx="3529584" cy="457200"/>
          </a:xfrm>
          <a:prstGeom prst="rect">
            <a:avLst/>
          </a:prstGeom>
          <a:noFill/>
          <a:ln/>
        </p:spPr>
        <p:txBody>
          <a:bodyPr wrap="square" rtlCol="0" anchor="t"/>
          <a:lstStyle/>
          <a:p>
            <a:pPr indent="0" marL="0">
              <a:buNone/>
            </a:pPr>
            <a:r>
              <a:rPr lang="en-US" sz="1050" dirty="0">
                <a:solidFill>
                  <a:srgbClr val="8B98A9"/>
                </a:solidFill>
                <a:latin typeface="Segoe UI" pitchFamily="34" charset="0"/>
                <a:ea typeface="Segoe UI" pitchFamily="34" charset="-122"/>
                <a:cs typeface="Segoe UI" pitchFamily="34" charset="-120"/>
              </a:rPr>
              <a:t>② Classifies the portfolio as HOLD, then audits its own 10 formulas against the prompt (all "Yes")</a:t>
            </a:r>
            <a:endParaRPr lang="en-US" sz="1050" dirty="0"/>
          </a:p>
        </p:txBody>
      </p:sp>
      <p:pic>
        <p:nvPicPr>
          <p:cNvPr id="9" name="Image 2" descr="C:\Users\shrey\AppData\Local\Temp\claude\c--ML-Projects-STOCKMATE\e61211e2-765c-47d1-b149-44f7e78c2c4d\scratchpad\deck\old\ppt\media\image-4-3.png">    </p:cNvPr>
          <p:cNvPicPr>
            <a:picLocks noChangeAspect="1"/>
          </p:cNvPicPr>
          <p:nvPr/>
        </p:nvPicPr>
        <p:blipFill>
          <a:blip r:embed="rId3"/>
          <a:stretch>
            <a:fillRect/>
          </a:stretch>
        </p:blipFill>
        <p:spPr>
          <a:xfrm>
            <a:off x="7626096" y="1508760"/>
            <a:ext cx="3154680" cy="4443984"/>
          </a:xfrm>
          <a:prstGeom prst="rect">
            <a:avLst/>
          </a:prstGeom>
        </p:spPr>
      </p:pic>
      <p:sp>
        <p:nvSpPr>
          <p:cNvPr id="10" name="Text 5"/>
          <p:cNvSpPr/>
          <p:nvPr/>
        </p:nvSpPr>
        <p:spPr>
          <a:xfrm>
            <a:off x="7626096" y="5961888"/>
            <a:ext cx="3703320" cy="457200"/>
          </a:xfrm>
          <a:prstGeom prst="rect">
            <a:avLst/>
          </a:prstGeom>
          <a:noFill/>
          <a:ln/>
        </p:spPr>
        <p:txBody>
          <a:bodyPr wrap="square" rtlCol="0" anchor="t"/>
          <a:lstStyle/>
          <a:p>
            <a:pPr indent="0" marL="0">
              <a:buNone/>
            </a:pPr>
            <a:r>
              <a:rPr lang="en-US" sz="1050" dirty="0">
                <a:solidFill>
                  <a:srgbClr val="8B98A9"/>
                </a:solidFill>
                <a:latin typeface="Segoe UI" pitchFamily="34" charset="0"/>
                <a:ea typeface="Segoe UI" pitchFamily="34" charset="-122"/>
                <a:cs typeface="Segoe UI" pitchFamily="34" charset="-120"/>
              </a:rPr>
              <a:t>③ Self-reported metrics: tokens and latency "cannot be measured"; accuracy marked 100% "estimated"</a:t>
            </a:r>
            <a:endParaRPr lang="en-US" sz="1050" dirty="0"/>
          </a:p>
        </p:txBody>
      </p:sp>
      <p:sp>
        <p:nvSpPr>
          <p:cNvPr id="11" name="Shape 6"/>
          <p:cNvSpPr/>
          <p:nvPr/>
        </p:nvSpPr>
        <p:spPr>
          <a:xfrm>
            <a:off x="10972800" y="1508760"/>
            <a:ext cx="667512" cy="4443984"/>
          </a:xfrm>
          <a:prstGeom prst="roundRect">
            <a:avLst>
              <a:gd name="adj" fmla="val 10959"/>
            </a:avLst>
          </a:prstGeom>
          <a:solidFill>
            <a:srgbClr val="1B2330"/>
          </a:solidFill>
          <a:ln w="12700">
            <a:solidFill>
              <a:srgbClr val="263243"/>
            </a:solidFill>
            <a:prstDash val="solid"/>
          </a:ln>
        </p:spPr>
      </p:sp>
      <p:sp>
        <p:nvSpPr>
          <p:cNvPr id="12" name="Text 7"/>
          <p:cNvSpPr/>
          <p:nvPr/>
        </p:nvSpPr>
        <p:spPr>
          <a:xfrm>
            <a:off x="10972800" y="1508760"/>
            <a:ext cx="667512" cy="4443984"/>
          </a:xfrm>
          <a:prstGeom prst="rect">
            <a:avLst/>
          </a:prstGeom>
          <a:noFill/>
          <a:ln/>
        </p:spPr>
        <p:txBody>
          <a:bodyPr wrap="square" rtlCol="0" anchor="ctr" vert="vert270"/>
          <a:lstStyle/>
          <a:p>
            <a:pPr algn="ctr" indent="0" marL="0">
              <a:buNone/>
            </a:pPr>
            <a:r>
              <a:rPr lang="en-US" sz="1800" dirty="0">
                <a:solidFill>
                  <a:srgbClr val="F97316"/>
                </a:solidFill>
                <a:latin typeface="Segoe UI Semibold" pitchFamily="34" charset="0"/>
                <a:ea typeface="Segoe UI Semibold" pitchFamily="34" charset="-122"/>
                <a:cs typeface="Segoe UI Semibold" pitchFamily="34" charset="-120"/>
              </a:rPr>
              <a:t>HOLD</a:t>
            </a:r>
            <a:endParaRPr lang="en-US" sz="18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Benchmark (30 Sep): Claude</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Every number was right. The decision differed because the model invented the rule it was not given</a:t>
            </a:r>
            <a:endParaRPr lang="en-US" sz="1300" dirty="0"/>
          </a:p>
        </p:txBody>
      </p:sp>
      <p:sp>
        <p:nvSpPr>
          <p:cNvPr id="5" name="Shape 3"/>
          <p:cNvSpPr/>
          <p:nvPr/>
        </p:nvSpPr>
        <p:spPr>
          <a:xfrm>
            <a:off x="548640" y="1600200"/>
            <a:ext cx="5486400" cy="4617720"/>
          </a:xfrm>
          <a:prstGeom prst="roundRect">
            <a:avLst>
              <a:gd name="adj" fmla="val 1584"/>
            </a:avLst>
          </a:prstGeom>
          <a:solidFill>
            <a:srgbClr val="141A22"/>
          </a:solidFill>
          <a:ln w="12700">
            <a:solidFill>
              <a:srgbClr val="263243"/>
            </a:solidFill>
            <a:prstDash val="solid"/>
          </a:ln>
        </p:spPr>
      </p:sp>
      <p:sp>
        <p:nvSpPr>
          <p:cNvPr id="6" name="Shape 4"/>
          <p:cNvSpPr/>
          <p:nvPr/>
        </p:nvSpPr>
        <p:spPr>
          <a:xfrm>
            <a:off x="566928" y="1709928"/>
            <a:ext cx="54864" cy="4398264"/>
          </a:xfrm>
          <a:prstGeom prst="rect">
            <a:avLst/>
          </a:prstGeom>
          <a:solidFill>
            <a:srgbClr val="10B981"/>
          </a:solidFill>
          <a:ln w="12700">
            <a:solidFill>
              <a:srgbClr val="10B981"/>
            </a:solidFill>
            <a:prstDash val="solid"/>
          </a:ln>
        </p:spPr>
      </p:sp>
      <p:sp>
        <p:nvSpPr>
          <p:cNvPr id="7" name="Text 5"/>
          <p:cNvSpPr/>
          <p:nvPr/>
        </p:nvSpPr>
        <p:spPr>
          <a:xfrm>
            <a:off x="777240" y="1691640"/>
            <a:ext cx="5120640" cy="365760"/>
          </a:xfrm>
          <a:prstGeom prst="rect">
            <a:avLst/>
          </a:prstGeom>
          <a:noFill/>
          <a:ln/>
        </p:spPr>
        <p:txBody>
          <a:bodyPr wrap="square" rtlCol="0" anchor="ctr"/>
          <a:lstStyle/>
          <a:p>
            <a:pPr indent="0" marL="0">
              <a:buNone/>
            </a:pPr>
            <a:r>
              <a:rPr lang="en-US" sz="1500" dirty="0">
                <a:solidFill>
                  <a:srgbClr val="10B981"/>
                </a:solidFill>
                <a:latin typeface="Segoe UI Semibold" pitchFamily="34" charset="0"/>
                <a:ea typeface="Segoe UI Semibold" pitchFamily="34" charset="-122"/>
                <a:cs typeface="Segoe UI Semibold" pitchFamily="34" charset="-120"/>
              </a:rPr>
              <a:t>What it got right</a:t>
            </a:r>
            <a:endParaRPr lang="en-US" sz="1500" dirty="0"/>
          </a:p>
        </p:txBody>
      </p:sp>
      <p:sp>
        <p:nvSpPr>
          <p:cNvPr id="8" name="Text 6"/>
          <p:cNvSpPr/>
          <p:nvPr/>
        </p:nvSpPr>
        <p:spPr>
          <a:xfrm>
            <a:off x="731520" y="2103120"/>
            <a:ext cx="5166360" cy="4023360"/>
          </a:xfrm>
          <a:prstGeom prst="rect">
            <a:avLst/>
          </a:prstGeom>
          <a:noFill/>
          <a:ln/>
        </p:spPr>
        <p:txBody>
          <a:bodyPr wrap="square" lIns="50800" tIns="50800" rIns="50800" bIns="50800" rtlCol="0" anchor="t"/>
          <a:lstStyle/>
          <a:p>
            <a:pPr marL="342900" indent="-342900">
              <a:spcAft>
                <a:spcPts val="1200"/>
              </a:spcAft>
              <a:buSzPct val="100000"/>
              <a:buChar char="▪"/>
            </a:pPr>
            <a:r>
              <a:rPr lang="en-US" sz="1400" b="1" dirty="0">
                <a:solidFill>
                  <a:srgbClr val="E6EDF3"/>
                </a:solidFill>
                <a:latin typeface="Segoe UI" pitchFamily="34" charset="0"/>
                <a:ea typeface="Segoe UI" pitchFamily="34" charset="-122"/>
                <a:cs typeface="Segoe UI" pitchFamily="34" charset="-120"/>
              </a:rPr>
              <a:t>Per holding: </a:t>
            </a:r>
            <a:pPr indent="0" marL="0">
              <a:spcAft>
                <a:spcPts val="1200"/>
              </a:spcAft>
              <a:buNone/>
            </a:pPr>
            <a:r>
              <a:rPr lang="en-US" sz="1400" dirty="0">
                <a:solidFill>
                  <a:srgbClr val="E6EDF3"/>
                </a:solidFill>
                <a:latin typeface="Segoe UI" pitchFamily="34" charset="0"/>
                <a:ea typeface="Segoe UI" pitchFamily="34" charset="-122"/>
                <a:cs typeface="Segoe UI" pitchFamily="34" charset="-120"/>
              </a:rPr>
              <a:t>IDEA +₹2 (+15.38%), YESBANK ₹0 (0%), SUZLON −₹8 (−15.09%)</a:t>
            </a:r>
            <a:endParaRPr lang="en-US" sz="1400" dirty="0"/>
          </a:p>
          <a:p>
            <a:pPr marL="342900" indent="-342900">
              <a:spcAft>
                <a:spcPts val="1200"/>
              </a:spcAft>
              <a:buSzPct val="100000"/>
              <a:buChar char="▪"/>
            </a:pPr>
            <a:r>
              <a:rPr lang="en-US" sz="1400" b="1" dirty="0">
                <a:solidFill>
                  <a:srgbClr val="E6EDF3"/>
                </a:solidFill>
                <a:latin typeface="Segoe UI" pitchFamily="34" charset="0"/>
                <a:ea typeface="Segoe UI" pitchFamily="34" charset="-122"/>
                <a:cs typeface="Segoe UI" pitchFamily="34" charset="-120"/>
              </a:rPr>
              <a:t>Totals: </a:t>
            </a:r>
            <a:pPr indent="0" marL="0">
              <a:spcAft>
                <a:spcPts val="1200"/>
              </a:spcAft>
              <a:buNone/>
            </a:pPr>
            <a:r>
              <a:rPr lang="en-US" sz="1400" dirty="0">
                <a:solidFill>
                  <a:srgbClr val="E6EDF3"/>
                </a:solidFill>
                <a:latin typeface="Segoe UI" pitchFamily="34" charset="0"/>
                <a:ea typeface="Segoe UI" pitchFamily="34" charset="-122"/>
                <a:cs typeface="Segoe UI" pitchFamily="34" charset="-120"/>
              </a:rPr>
              <a:t>₹89 invested, ₹83 current, −₹6, −6.74%. All exact</a:t>
            </a:r>
            <a:endParaRPr lang="en-US" sz="1400" dirty="0"/>
          </a:p>
          <a:p>
            <a:pPr marL="342900" indent="-342900">
              <a:spcAft>
                <a:spcPts val="1200"/>
              </a:spcAft>
              <a:buSzPct val="100000"/>
              <a:buChar char="▪"/>
            </a:pPr>
            <a:r>
              <a:rPr lang="en-US" sz="1400" b="1" dirty="0">
                <a:solidFill>
                  <a:srgbClr val="E6EDF3"/>
                </a:solidFill>
                <a:latin typeface="Segoe UI" pitchFamily="34" charset="0"/>
                <a:ea typeface="Segoe UI" pitchFamily="34" charset="-122"/>
                <a:cs typeface="Segoe UI" pitchFamily="34" charset="-120"/>
              </a:rPr>
              <a:t>Extras asked for: </a:t>
            </a:r>
            <a:pPr indent="0" marL="0">
              <a:spcAft>
                <a:spcPts val="1200"/>
              </a:spcAft>
              <a:buNone/>
            </a:pPr>
            <a:r>
              <a:rPr lang="en-US" sz="1400" dirty="0">
                <a:solidFill>
                  <a:srgbClr val="E6EDF3"/>
                </a:solidFill>
                <a:latin typeface="Segoe UI" pitchFamily="34" charset="0"/>
                <a:ea typeface="Segoe UI" pitchFamily="34" charset="-122"/>
                <a:cs typeface="Segoe UI" pitchFamily="34" charset="-120"/>
              </a:rPr>
              <a:t>rankings (SUZLON largest loss, IDEA best return) and SUZLON = 100% of gross loss</a:t>
            </a:r>
            <a:endParaRPr lang="en-US" sz="1400" dirty="0"/>
          </a:p>
          <a:p>
            <a:pPr marL="342900" indent="-342900">
              <a:spcAft>
                <a:spcPts val="1200"/>
              </a:spcAft>
              <a:buSzPct val="100000"/>
              <a:buChar char="▪"/>
            </a:pPr>
            <a:r>
              <a:rPr lang="en-US" sz="1400" b="1" dirty="0">
                <a:solidFill>
                  <a:srgbClr val="E6EDF3"/>
                </a:solidFill>
                <a:latin typeface="Segoe UI" pitchFamily="34" charset="0"/>
                <a:ea typeface="Segoe UI" pitchFamily="34" charset="-122"/>
                <a:cs typeface="Segoe UI" pitchFamily="34" charset="-120"/>
              </a:rPr>
              <a:t>Full 26-prompt pack: </a:t>
            </a:r>
            <a:pPr indent="0" marL="0">
              <a:spcAft>
                <a:spcPts val="1200"/>
              </a:spcAft>
              <a:buNone/>
            </a:pPr>
            <a:r>
              <a:rPr lang="en-US" sz="1400" dirty="0">
                <a:solidFill>
                  <a:srgbClr val="E6EDF3"/>
                </a:solidFill>
                <a:latin typeface="Segoe UI" pitchFamily="34" charset="0"/>
                <a:ea typeface="Segoe UI" pitchFamily="34" charset="-122"/>
                <a:cs typeface="Segoe UI" pitchFamily="34" charset="-120"/>
              </a:rPr>
              <a:t>26/26 exact when the formulas and decision rule were stated</a:t>
            </a:r>
            <a:endParaRPr lang="en-US" sz="1400" dirty="0"/>
          </a:p>
        </p:txBody>
      </p:sp>
      <p:sp>
        <p:nvSpPr>
          <p:cNvPr id="9" name="Shape 7"/>
          <p:cNvSpPr/>
          <p:nvPr/>
        </p:nvSpPr>
        <p:spPr>
          <a:xfrm>
            <a:off x="6263640" y="1600200"/>
            <a:ext cx="5376672" cy="2194560"/>
          </a:xfrm>
          <a:prstGeom prst="roundRect">
            <a:avLst>
              <a:gd name="adj" fmla="val 3333"/>
            </a:avLst>
          </a:prstGeom>
          <a:solidFill>
            <a:srgbClr val="141A22"/>
          </a:solidFill>
          <a:ln w="12700">
            <a:solidFill>
              <a:srgbClr val="263243"/>
            </a:solidFill>
            <a:prstDash val="solid"/>
          </a:ln>
        </p:spPr>
      </p:sp>
      <p:sp>
        <p:nvSpPr>
          <p:cNvPr id="10" name="Shape 8"/>
          <p:cNvSpPr/>
          <p:nvPr/>
        </p:nvSpPr>
        <p:spPr>
          <a:xfrm>
            <a:off x="6281928" y="1709928"/>
            <a:ext cx="54864" cy="1975104"/>
          </a:xfrm>
          <a:prstGeom prst="rect">
            <a:avLst/>
          </a:prstGeom>
          <a:solidFill>
            <a:srgbClr val="F97316"/>
          </a:solidFill>
          <a:ln w="12700">
            <a:solidFill>
              <a:srgbClr val="F97316"/>
            </a:solidFill>
            <a:prstDash val="solid"/>
          </a:ln>
        </p:spPr>
      </p:sp>
      <p:sp>
        <p:nvSpPr>
          <p:cNvPr id="11" name="Text 9"/>
          <p:cNvSpPr/>
          <p:nvPr/>
        </p:nvSpPr>
        <p:spPr>
          <a:xfrm>
            <a:off x="6492240" y="1691640"/>
            <a:ext cx="5029200" cy="365760"/>
          </a:xfrm>
          <a:prstGeom prst="rect">
            <a:avLst/>
          </a:prstGeom>
          <a:noFill/>
          <a:ln/>
        </p:spPr>
        <p:txBody>
          <a:bodyPr wrap="square" rtlCol="0" anchor="ctr"/>
          <a:lstStyle/>
          <a:p>
            <a:pPr indent="0" marL="0">
              <a:buNone/>
            </a:pPr>
            <a:r>
              <a:rPr lang="en-US" sz="1500" dirty="0">
                <a:solidFill>
                  <a:srgbClr val="F97316"/>
                </a:solidFill>
                <a:latin typeface="Segoe UI Semibold" pitchFamily="34" charset="0"/>
                <a:ea typeface="Segoe UI Semibold" pitchFamily="34" charset="-122"/>
                <a:cs typeface="Segoe UI Semibold" pitchFamily="34" charset="-120"/>
              </a:rPr>
              <a:t>Why HOLD instead of Trim</a:t>
            </a:r>
            <a:endParaRPr lang="en-US" sz="1500" dirty="0"/>
          </a:p>
        </p:txBody>
      </p:sp>
      <p:sp>
        <p:nvSpPr>
          <p:cNvPr id="12" name="Text 10"/>
          <p:cNvSpPr/>
          <p:nvPr/>
        </p:nvSpPr>
        <p:spPr>
          <a:xfrm>
            <a:off x="6400800" y="2103120"/>
            <a:ext cx="5120640" cy="1645920"/>
          </a:xfrm>
          <a:prstGeom prst="rect">
            <a:avLst/>
          </a:prstGeom>
          <a:noFill/>
          <a:ln/>
        </p:spPr>
        <p:txBody>
          <a:bodyPr wrap="square" lIns="50800" tIns="50800" rIns="50800" bIns="50800" rtlCol="0" anchor="t"/>
          <a:lstStyle/>
          <a:p>
            <a:pPr marL="342900" indent="-342900">
              <a:spcAft>
                <a:spcPts val="500"/>
              </a:spcAft>
              <a:buSzPct val="100000"/>
              <a:buChar char="▪"/>
            </a:pPr>
            <a:r>
              <a:rPr lang="en-US" sz="1200" dirty="0">
                <a:solidFill>
                  <a:srgbClr val="E6EDF3"/>
                </a:solidFill>
                <a:latin typeface="Segoe UI" pitchFamily="34" charset="0"/>
                <a:ea typeface="Segoe UI" pitchFamily="34" charset="-122"/>
                <a:cs typeface="Segoe UI" pitchFamily="34" charset="-120"/>
              </a:rPr>
              <a:t>The main prompt gave no Buy/Hold/Trim/Exit thresholds</a:t>
            </a:r>
            <a:endParaRPr lang="en-US" sz="1200" dirty="0"/>
          </a:p>
          <a:p>
            <a:pPr marL="342900" indent="-342900">
              <a:spcAft>
                <a:spcPts val="500"/>
              </a:spcAft>
              <a:buSzPct val="100000"/>
              <a:buChar char="▪"/>
            </a:pPr>
            <a:r>
              <a:rPr lang="en-US" sz="1200" dirty="0">
                <a:solidFill>
                  <a:srgbClr val="E6EDF3"/>
                </a:solidFill>
                <a:latin typeface="Segoe UI" pitchFamily="34" charset="0"/>
                <a:ea typeface="Segoe UI" pitchFamily="34" charset="-122"/>
                <a:cs typeface="Segoe UI" pitchFamily="34" charset="-120"/>
              </a:rPr>
              <a:t>Claude saw a mixed result (one up, one flat, one down) and chose HOLD</a:t>
            </a:r>
            <a:endParaRPr lang="en-US" sz="1200" dirty="0"/>
          </a:p>
          <a:p>
            <a:pPr marL="342900" indent="-342900">
              <a:spcAft>
                <a:spcPts val="500"/>
              </a:spcAft>
              <a:buSzPct val="100000"/>
              <a:buChar char="▪"/>
            </a:pPr>
            <a:r>
              <a:rPr lang="en-US" sz="1200" dirty="0">
                <a:solidFill>
                  <a:srgbClr val="E6EDF3"/>
                </a:solidFill>
                <a:latin typeface="Segoe UI" pitchFamily="34" charset="0"/>
                <a:ea typeface="Segoe UI" pitchFamily="34" charset="-122"/>
                <a:cs typeface="Segoe UI" pitchFamily="34" charset="-120"/>
              </a:rPr>
              <a:t>Under our rule (−10 &lt; P&amp;L% ≤ 0 → Trim) the answer is </a:t>
            </a:r>
            <a:pPr indent="0" marL="0">
              <a:spcAft>
                <a:spcPts val="500"/>
              </a:spcAft>
              <a:buNone/>
            </a:pPr>
            <a:r>
              <a:rPr lang="en-US" sz="1200" b="1" dirty="0">
                <a:solidFill>
                  <a:srgbClr val="E6EDF3"/>
                </a:solidFill>
                <a:latin typeface="Segoe UI" pitchFamily="34" charset="0"/>
                <a:ea typeface="Segoe UI" pitchFamily="34" charset="-122"/>
                <a:cs typeface="Segoe UI" pitchFamily="34" charset="-120"/>
              </a:rPr>
              <a:t>Trim</a:t>
            </a:r>
            <a:endParaRPr lang="en-US" sz="1200" dirty="0"/>
          </a:p>
        </p:txBody>
      </p:sp>
      <p:sp>
        <p:nvSpPr>
          <p:cNvPr id="13" name="Shape 11"/>
          <p:cNvSpPr/>
          <p:nvPr/>
        </p:nvSpPr>
        <p:spPr>
          <a:xfrm>
            <a:off x="6263640" y="3977640"/>
            <a:ext cx="5376672" cy="2240280"/>
          </a:xfrm>
          <a:prstGeom prst="roundRect">
            <a:avLst>
              <a:gd name="adj" fmla="val 3265"/>
            </a:avLst>
          </a:prstGeom>
          <a:solidFill>
            <a:srgbClr val="141A22"/>
          </a:solidFill>
          <a:ln w="12700">
            <a:solidFill>
              <a:srgbClr val="263243"/>
            </a:solidFill>
            <a:prstDash val="solid"/>
          </a:ln>
        </p:spPr>
      </p:sp>
      <p:sp>
        <p:nvSpPr>
          <p:cNvPr id="14" name="Shape 12"/>
          <p:cNvSpPr/>
          <p:nvPr/>
        </p:nvSpPr>
        <p:spPr>
          <a:xfrm>
            <a:off x="6281928" y="4087368"/>
            <a:ext cx="54864" cy="2020824"/>
          </a:xfrm>
          <a:prstGeom prst="rect">
            <a:avLst/>
          </a:prstGeom>
          <a:solidFill>
            <a:srgbClr val="FBBF24"/>
          </a:solidFill>
          <a:ln w="12700">
            <a:solidFill>
              <a:srgbClr val="FBBF24"/>
            </a:solidFill>
            <a:prstDash val="solid"/>
          </a:ln>
        </p:spPr>
      </p:sp>
      <p:sp>
        <p:nvSpPr>
          <p:cNvPr id="15" name="Text 13"/>
          <p:cNvSpPr/>
          <p:nvPr/>
        </p:nvSpPr>
        <p:spPr>
          <a:xfrm>
            <a:off x="6492240" y="4069080"/>
            <a:ext cx="5029200" cy="365760"/>
          </a:xfrm>
          <a:prstGeom prst="rect">
            <a:avLst/>
          </a:prstGeom>
          <a:noFill/>
          <a:ln/>
        </p:spPr>
        <p:txBody>
          <a:bodyPr wrap="square" rtlCol="0" anchor="ctr"/>
          <a:lstStyle/>
          <a:p>
            <a:pPr indent="0" marL="0">
              <a:buNone/>
            </a:pPr>
            <a:r>
              <a:rPr lang="en-US" sz="1500" dirty="0">
                <a:solidFill>
                  <a:srgbClr val="FBBF24"/>
                </a:solidFill>
                <a:latin typeface="Segoe UI Semibold" pitchFamily="34" charset="0"/>
                <a:ea typeface="Segoe UI Semibold" pitchFamily="34" charset="-122"/>
                <a:cs typeface="Segoe UI Semibold" pitchFamily="34" charset="-120"/>
              </a:rPr>
              <a:t>Self-scored metrics are not verification</a:t>
            </a:r>
            <a:endParaRPr lang="en-US" sz="1500" dirty="0"/>
          </a:p>
        </p:txBody>
      </p:sp>
      <p:sp>
        <p:nvSpPr>
          <p:cNvPr id="16" name="Text 14"/>
          <p:cNvSpPr/>
          <p:nvPr/>
        </p:nvSpPr>
        <p:spPr>
          <a:xfrm>
            <a:off x="6400800" y="4480560"/>
            <a:ext cx="5120640" cy="1691640"/>
          </a:xfrm>
          <a:prstGeom prst="rect">
            <a:avLst/>
          </a:prstGeom>
          <a:noFill/>
          <a:ln/>
        </p:spPr>
        <p:txBody>
          <a:bodyPr wrap="square" lIns="50800" tIns="50800" rIns="50800" bIns="50800" rtlCol="0" anchor="t"/>
          <a:lstStyle/>
          <a:p>
            <a:pPr marL="342900" indent="-342900">
              <a:spcAft>
                <a:spcPts val="500"/>
              </a:spcAft>
              <a:buSzPct val="100000"/>
              <a:buChar char="▪"/>
            </a:pPr>
            <a:r>
              <a:rPr lang="en-US" sz="1200" dirty="0">
                <a:solidFill>
                  <a:srgbClr val="E6EDF3"/>
                </a:solidFill>
                <a:latin typeface="Segoe UI" pitchFamily="34" charset="0"/>
                <a:ea typeface="Segoe UI" pitchFamily="34" charset="-122"/>
                <a:cs typeface="Segoe UI" pitchFamily="34" charset="-120"/>
              </a:rPr>
              <a:t>Could not see its own token count or latency, so marked them "estimated" or N/A</a:t>
            </a:r>
            <a:endParaRPr lang="en-US" sz="1200" dirty="0"/>
          </a:p>
          <a:p>
            <a:pPr marL="342900" indent="-342900">
              <a:spcAft>
                <a:spcPts val="500"/>
              </a:spcAft>
              <a:buSzPct val="100000"/>
              <a:buChar char="▪"/>
            </a:pPr>
            <a:r>
              <a:rPr lang="en-US" sz="1200" dirty="0">
                <a:solidFill>
                  <a:srgbClr val="E6EDF3"/>
                </a:solidFill>
                <a:latin typeface="Segoe UI" pitchFamily="34" charset="0"/>
                <a:ea typeface="Segoe UI" pitchFamily="34" charset="-122"/>
                <a:cs typeface="Segoe UI" pitchFamily="34" charset="-120"/>
              </a:rPr>
              <a:t>Rated its own accuracy 100% with no ground truth to check against</a:t>
            </a:r>
            <a:endParaRPr lang="en-US" sz="1200" dirty="0"/>
          </a:p>
          <a:p>
            <a:pPr marL="342900" indent="-342900">
              <a:spcAft>
                <a:spcPts val="500"/>
              </a:spcAft>
              <a:buSzPct val="100000"/>
              <a:buChar char="▪"/>
            </a:pPr>
            <a:r>
              <a:rPr lang="en-US" sz="1200" dirty="0">
                <a:solidFill>
                  <a:srgbClr val="E6EDF3"/>
                </a:solidFill>
                <a:latin typeface="Segoe UI" pitchFamily="34" charset="0"/>
                <a:ea typeface="Segoe UI" pitchFamily="34" charset="-122"/>
                <a:cs typeface="Segoe UI" pitchFamily="34" charset="-120"/>
              </a:rPr>
              <a:t>It also wrote tickers as "IDEANSE", gluing the exchange onto the symbol</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Benchmark: accuracy</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Exact matches with the independent reference · Groq arms run 3 times per prompt</a:t>
            </a:r>
            <a:endParaRPr lang="en-US" sz="1300" dirty="0"/>
          </a:p>
        </p:txBody>
      </p:sp>
      <p:graphicFrame>
        <p:nvGraphicFramePr>
          <p:cNvPr id="5" name="Chart 0" descr=""/>
          <p:cNvGraphicFramePr/>
          <p:nvPr/>
        </p:nvGraphicFramePr>
        <p:xfrm>
          <a:off x="548640" y="1554480"/>
          <a:ext cx="512064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 y="5486400"/>
            <a:ext cx="5120640" cy="274320"/>
          </a:xfrm>
          <a:prstGeom prst="rect">
            <a:avLst/>
          </a:prstGeom>
          <a:noFill/>
          <a:ln/>
        </p:spPr>
        <p:txBody>
          <a:bodyPr wrap="square" rtlCol="0" anchor="ctr"/>
          <a:lstStyle/>
          <a:p>
            <a:pPr algn="ctr" indent="0" marL="0">
              <a:buNone/>
            </a:pPr>
            <a:r>
              <a:rPr lang="en-US" sz="1100" dirty="0">
                <a:solidFill>
                  <a:srgbClr val="8B98A9"/>
                </a:solidFill>
                <a:latin typeface="Segoe UI" pitchFamily="34" charset="0"/>
                <a:ea typeface="Segoe UI" pitchFamily="34" charset="-122"/>
                <a:cs typeface="Segoe UI" pitchFamily="34" charset="-120"/>
              </a:rPr>
              <a:t>26/26 · 26/26 · 23/26 · 54/78 · 29/78</a:t>
            </a:r>
            <a:endParaRPr lang="en-US" sz="1100" dirty="0"/>
          </a:p>
        </p:txBody>
      </p:sp>
      <p:sp>
        <p:nvSpPr>
          <p:cNvPr id="7" name="Text 4"/>
          <p:cNvSpPr/>
          <p:nvPr/>
        </p:nvSpPr>
        <p:spPr>
          <a:xfrm>
            <a:off x="548640" y="5779008"/>
            <a:ext cx="5120640" cy="411480"/>
          </a:xfrm>
          <a:prstGeom prst="rect">
            <a:avLst/>
          </a:prstGeom>
          <a:noFill/>
          <a:ln/>
        </p:spPr>
        <p:txBody>
          <a:bodyPr wrap="square" rtlCol="0" anchor="ctr"/>
          <a:lstStyle/>
          <a:p>
            <a:pPr indent="0" marL="0">
              <a:buNone/>
            </a:pPr>
            <a:r>
              <a:rPr lang="en-US" sz="1000" i="1" dirty="0">
                <a:solidFill>
                  <a:srgbClr val="5B6878"/>
                </a:solidFill>
                <a:latin typeface="Segoe UI" pitchFamily="34" charset="0"/>
                <a:ea typeface="Segoe UI" pitchFamily="34" charset="-122"/>
                <a:cs typeface="Segoe UI" pitchFamily="34" charset="-120"/>
              </a:rPr>
              <a:t>* web apps with built-in code execution, single session: qualitative evidence only</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035040" y="1600200"/>
          <a:ext cx="5605272" cy="914400"/>
        </p:xfrm>
        <a:graphic>
          <a:graphicData uri="http://schemas.openxmlformats.org/drawingml/2006/table">
            <a:tbl>
              <a:tblPr/>
              <a:tblGrid>
                <a:gridCol w="1920240"/>
                <a:gridCol w="1097280"/>
                <a:gridCol w="1417320"/>
                <a:gridCol w="1170432"/>
              </a:tblGrid>
              <a:tr h="411480">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Tier</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Foleo tools</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Groq + full data</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Groq chatbot</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r>
              <a:tr h="411480">
                <a:tc>
                  <a:txBody>
                    <a:bodyPr/>
                    <a:lstStyle/>
                    <a:p>
                      <a:pPr algn="l" indent="0" marL="0">
                        <a:buNone/>
                      </a:pPr>
                      <a:r>
                        <a:rPr lang="en-US" sz="1200" b="1" dirty="0">
                          <a:solidFill>
                            <a:srgbClr val="E6EDF3"/>
                          </a:solidFill>
                          <a:latin typeface="Segoe UI" pitchFamily="34" charset="0"/>
                          <a:ea typeface="Segoe UI" pitchFamily="34" charset="-122"/>
                          <a:cs typeface="Segoe UI" pitchFamily="34" charset="-120"/>
                        </a:rPr>
                        <a:t>T1 Portfolio arithmetic</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10B981"/>
                          </a:solidFill>
                          <a:latin typeface="Segoe UI" pitchFamily="34" charset="0"/>
                          <a:ea typeface="Segoe UI" pitchFamily="34" charset="-122"/>
                          <a:cs typeface="Segoe UI" pitchFamily="34" charset="-120"/>
                        </a:rPr>
                        <a:t>10/10</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30/30</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29/30</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r h="411480">
                <a:tc>
                  <a:txBody>
                    <a:bodyPr/>
                    <a:lstStyle/>
                    <a:p>
                      <a:pPr algn="l" indent="0" marL="0">
                        <a:buNone/>
                      </a:pPr>
                      <a:r>
                        <a:rPr lang="en-US" sz="1200" b="1" dirty="0">
                          <a:solidFill>
                            <a:srgbClr val="E6EDF3"/>
                          </a:solidFill>
                          <a:latin typeface="Segoe UI" pitchFamily="34" charset="0"/>
                          <a:ea typeface="Segoe UI" pitchFamily="34" charset="-122"/>
                          <a:cs typeface="Segoe UI" pitchFamily="34" charset="-120"/>
                        </a:rPr>
                        <a:t>T2 Stock metrics</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10B981"/>
                          </a:solidFill>
                          <a:latin typeface="Segoe UI" pitchFamily="34" charset="0"/>
                          <a:ea typeface="Segoe UI" pitchFamily="34" charset="-122"/>
                          <a:cs typeface="Segoe UI" pitchFamily="34" charset="-120"/>
                        </a:rPr>
                        <a:t>12/12</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FBBF24"/>
                          </a:solidFill>
                          <a:latin typeface="Segoe UI" pitchFamily="34" charset="0"/>
                          <a:ea typeface="Segoe UI" pitchFamily="34" charset="-122"/>
                          <a:cs typeface="Segoe UI" pitchFamily="34" charset="-120"/>
                        </a:rPr>
                        <a:t>21/36 (58%)</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F87171"/>
                          </a:solidFill>
                          <a:latin typeface="Segoe UI" pitchFamily="34" charset="0"/>
                          <a:ea typeface="Segoe UI" pitchFamily="34" charset="-122"/>
                          <a:cs typeface="Segoe UI" pitchFamily="34" charset="-120"/>
                        </a:rPr>
                        <a:t>0/36</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r>
              <a:tr h="411480">
                <a:tc>
                  <a:txBody>
                    <a:bodyPr/>
                    <a:lstStyle/>
                    <a:p>
                      <a:pPr algn="l" indent="0" marL="0">
                        <a:buNone/>
                      </a:pPr>
                      <a:r>
                        <a:rPr lang="en-US" sz="1200" b="1" dirty="0">
                          <a:solidFill>
                            <a:srgbClr val="E6EDF3"/>
                          </a:solidFill>
                          <a:latin typeface="Segoe UI" pitchFamily="34" charset="0"/>
                          <a:ea typeface="Segoe UI" pitchFamily="34" charset="-122"/>
                          <a:cs typeface="Segoe UI" pitchFamily="34" charset="-120"/>
                        </a:rPr>
                        <a:t>T3 Portfolio risk</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10B981"/>
                          </a:solidFill>
                          <a:latin typeface="Segoe UI" pitchFamily="34" charset="0"/>
                          <a:ea typeface="Segoe UI" pitchFamily="34" charset="-122"/>
                          <a:cs typeface="Segoe UI" pitchFamily="34" charset="-120"/>
                        </a:rPr>
                        <a:t>4/4</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F87171"/>
                          </a:solidFill>
                          <a:latin typeface="Segoe UI" pitchFamily="34" charset="0"/>
                          <a:ea typeface="Segoe UI" pitchFamily="34" charset="-122"/>
                          <a:cs typeface="Segoe UI" pitchFamily="34" charset="-120"/>
                        </a:rPr>
                        <a:t>3/12 (25%)</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F87171"/>
                          </a:solidFill>
                          <a:latin typeface="Segoe UI" pitchFamily="34" charset="0"/>
                          <a:ea typeface="Segoe UI" pitchFamily="34" charset="-122"/>
                          <a:cs typeface="Segoe UI" pitchFamily="34" charset="-120"/>
                        </a:rPr>
                        <a:t>0/12</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bl>
          </a:graphicData>
        </a:graphic>
      </p:graphicFrame>
      <p:sp>
        <p:nvSpPr>
          <p:cNvPr id="9" name="Shape 5"/>
          <p:cNvSpPr/>
          <p:nvPr/>
        </p:nvSpPr>
        <p:spPr>
          <a:xfrm>
            <a:off x="6035040" y="3520440"/>
            <a:ext cx="5605272" cy="2697480"/>
          </a:xfrm>
          <a:prstGeom prst="roundRect">
            <a:avLst>
              <a:gd name="adj" fmla="val 2712"/>
            </a:avLst>
          </a:prstGeom>
          <a:solidFill>
            <a:srgbClr val="1B2330"/>
          </a:solidFill>
          <a:ln w="12700">
            <a:solidFill>
              <a:srgbClr val="263243"/>
            </a:solidFill>
            <a:prstDash val="solid"/>
          </a:ln>
        </p:spPr>
      </p:sp>
      <p:sp>
        <p:nvSpPr>
          <p:cNvPr id="10" name="Text 6"/>
          <p:cNvSpPr/>
          <p:nvPr/>
        </p:nvSpPr>
        <p:spPr>
          <a:xfrm>
            <a:off x="6172200" y="3611880"/>
            <a:ext cx="5349240" cy="2560320"/>
          </a:xfrm>
          <a:prstGeom prst="rect">
            <a:avLst/>
          </a:prstGeom>
          <a:noFill/>
          <a:ln/>
        </p:spPr>
        <p:txBody>
          <a:bodyPr wrap="square" lIns="50800" tIns="50800" rIns="50800" bIns="50800" rtlCol="0" anchor="t"/>
          <a:lstStyle/>
          <a:p>
            <a:pPr marL="342900" indent="-342900">
              <a:spcAft>
                <a:spcPts val="700"/>
              </a:spcAft>
              <a:buSzPct val="100000"/>
              <a:buChar char="▪"/>
            </a:pPr>
            <a:r>
              <a:rPr lang="en-US" sz="1200" b="1" dirty="0">
                <a:solidFill>
                  <a:srgbClr val="E6EDF3"/>
                </a:solidFill>
                <a:latin typeface="Segoe UI" pitchFamily="34" charset="0"/>
                <a:ea typeface="Segoe UI" pitchFamily="34" charset="-122"/>
                <a:cs typeface="Segoe UI" pitchFamily="34" charset="-120"/>
              </a:rPr>
              <a:t>Arithmetic is not the weak point: </a:t>
            </a:r>
            <a:pPr indent="0" marL="0">
              <a:spcAft>
                <a:spcPts val="700"/>
              </a:spcAft>
              <a:buNone/>
            </a:pPr>
            <a:r>
              <a:rPr lang="en-US" sz="1200" dirty="0">
                <a:solidFill>
                  <a:srgbClr val="E6EDF3"/>
                </a:solidFill>
                <a:latin typeface="Segoe UI" pitchFamily="34" charset="0"/>
                <a:ea typeface="Segoe UI" pitchFamily="34" charset="-122"/>
                <a:cs typeface="Segoe UI" pitchFamily="34" charset="-120"/>
              </a:rPr>
              <a:t>Groq scored 100% on T1 when given the holdings</a:t>
            </a:r>
            <a:endParaRPr lang="en-US" sz="1200" dirty="0"/>
          </a:p>
          <a:p>
            <a:pPr marL="342900" indent="-342900">
              <a:spcAft>
                <a:spcPts val="700"/>
              </a:spcAft>
              <a:buSzPct val="100000"/>
              <a:buChar char="▪"/>
            </a:pPr>
            <a:r>
              <a:rPr lang="en-US" sz="1200" b="1" dirty="0">
                <a:solidFill>
                  <a:srgbClr val="E6EDF3"/>
                </a:solidFill>
                <a:latin typeface="Segoe UI" pitchFamily="34" charset="0"/>
                <a:ea typeface="Segoe UI" pitchFamily="34" charset="-122"/>
                <a:cs typeface="Segoe UI" pitchFamily="34" charset="-120"/>
              </a:rPr>
              <a:t>Time series is: </a:t>
            </a:r>
            <a:pPr indent="0" marL="0">
              <a:spcAft>
                <a:spcPts val="700"/>
              </a:spcAft>
              <a:buNone/>
            </a:pPr>
            <a:r>
              <a:rPr lang="en-US" sz="1200" dirty="0">
                <a:solidFill>
                  <a:srgbClr val="E6EDF3"/>
                </a:solidFill>
                <a:latin typeface="Segoe UI" pitchFamily="34" charset="0"/>
                <a:ea typeface="Segoe UI" pitchFamily="34" charset="-122"/>
                <a:cs typeface="Segoe UI" pitchFamily="34" charset="-120"/>
              </a:rPr>
              <a:t>with the full 67-day price table, Groq fell to 58% and 25%</a:t>
            </a:r>
            <a:endParaRPr lang="en-US" sz="1200" dirty="0"/>
          </a:p>
          <a:p>
            <a:pPr marL="342900" indent="-342900">
              <a:spcAft>
                <a:spcPts val="700"/>
              </a:spcAft>
              <a:buSzPct val="100000"/>
              <a:buChar char="▪"/>
            </a:pPr>
            <a:r>
              <a:rPr lang="en-US" sz="1200" b="1" dirty="0">
                <a:solidFill>
                  <a:srgbClr val="E6EDF3"/>
                </a:solidFill>
                <a:latin typeface="Segoe UI" pitchFamily="34" charset="0"/>
                <a:ea typeface="Segoe UI" pitchFamily="34" charset="-122"/>
                <a:cs typeface="Segoe UI" pitchFamily="34" charset="-120"/>
              </a:rPr>
              <a:t>Chatbot without prices: </a:t>
            </a:r>
            <a:pPr indent="0" marL="0">
              <a:spcAft>
                <a:spcPts val="700"/>
              </a:spcAft>
              <a:buNone/>
            </a:pPr>
            <a:r>
              <a:rPr lang="en-US" sz="1200" dirty="0">
                <a:solidFill>
                  <a:srgbClr val="E6EDF3"/>
                </a:solidFill>
                <a:latin typeface="Segoe UI" pitchFamily="34" charset="0"/>
                <a:ea typeface="Segoe UI" pitchFamily="34" charset="-122"/>
                <a:cs typeface="Segoe UI" pitchFamily="34" charset="-120"/>
              </a:rPr>
              <a:t>declined 47 of 48 time-series questions: honest, but the user gets no answer</a:t>
            </a:r>
            <a:endParaRPr lang="en-US" sz="1200" dirty="0"/>
          </a:p>
          <a:p>
            <a:pPr marL="342900" indent="-342900">
              <a:spcAft>
                <a:spcPts val="700"/>
              </a:spcAft>
              <a:buSzPct val="100000"/>
              <a:buChar char="▪"/>
            </a:pPr>
            <a:r>
              <a:rPr lang="en-US" sz="1200" b="1" dirty="0">
                <a:solidFill>
                  <a:srgbClr val="E6EDF3"/>
                </a:solidFill>
                <a:latin typeface="Segoe UI" pitchFamily="34" charset="0"/>
                <a:ea typeface="Segoe UI" pitchFamily="34" charset="-122"/>
                <a:cs typeface="Segoe UI" pitchFamily="34" charset="-120"/>
              </a:rPr>
              <a:t>Foleo routed 26/26 </a:t>
            </a:r>
            <a:pPr indent="0" marL="0">
              <a:spcAft>
                <a:spcPts val="700"/>
              </a:spcAft>
              <a:buNone/>
            </a:pPr>
            <a:r>
              <a:rPr lang="en-US" sz="1200" dirty="0">
                <a:solidFill>
                  <a:srgbClr val="E6EDF3"/>
                </a:solidFill>
                <a:latin typeface="Segoe UI" pitchFamily="34" charset="0"/>
                <a:ea typeface="Segoe UI" pitchFamily="34" charset="-122"/>
                <a:cs typeface="Segoe UI" pitchFamily="34" charset="-120"/>
              </a:rPr>
              <a:t>questions to the right tool and scope, including "my portfolio" questions</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Benchmark: cost and speed</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Mean LLM tokens and median time per answer (hidden reasoning tokens included)</a:t>
            </a:r>
            <a:endParaRPr lang="en-US" sz="1300" dirty="0"/>
          </a:p>
        </p:txBody>
      </p:sp>
      <p:sp>
        <p:nvSpPr>
          <p:cNvPr id="5" name="Shape 3"/>
          <p:cNvSpPr/>
          <p:nvPr/>
        </p:nvSpPr>
        <p:spPr>
          <a:xfrm>
            <a:off x="548640" y="1600200"/>
            <a:ext cx="2670048" cy="1463040"/>
          </a:xfrm>
          <a:prstGeom prst="roundRect">
            <a:avLst>
              <a:gd name="adj" fmla="val 5000"/>
            </a:avLst>
          </a:prstGeom>
          <a:solidFill>
            <a:srgbClr val="141A22"/>
          </a:solidFill>
          <a:ln w="12700">
            <a:solidFill>
              <a:srgbClr val="263243"/>
            </a:solidFill>
            <a:prstDash val="solid"/>
          </a:ln>
        </p:spPr>
      </p:sp>
      <p:sp>
        <p:nvSpPr>
          <p:cNvPr id="6" name="Text 4"/>
          <p:cNvSpPr/>
          <p:nvPr/>
        </p:nvSpPr>
        <p:spPr>
          <a:xfrm>
            <a:off x="548640" y="1691640"/>
            <a:ext cx="2670048" cy="731520"/>
          </a:xfrm>
          <a:prstGeom prst="rect">
            <a:avLst/>
          </a:prstGeom>
          <a:noFill/>
          <a:ln/>
        </p:spPr>
        <p:txBody>
          <a:bodyPr wrap="square" rtlCol="0" anchor="ctr"/>
          <a:lstStyle/>
          <a:p>
            <a:pPr algn="ctr" indent="0" marL="0">
              <a:buNone/>
            </a:pPr>
            <a:r>
              <a:rPr lang="en-US" sz="2400" dirty="0">
                <a:solidFill>
                  <a:srgbClr val="10B981"/>
                </a:solidFill>
                <a:latin typeface="Segoe UI Semibold" pitchFamily="34" charset="0"/>
                <a:ea typeface="Segoe UI Semibold" pitchFamily="34" charset="-122"/>
                <a:cs typeface="Segoe UI Semibold" pitchFamily="34" charset="-120"/>
              </a:rPr>
              <a:t>0</a:t>
            </a:r>
            <a:endParaRPr lang="en-US" sz="2400" dirty="0"/>
          </a:p>
        </p:txBody>
      </p:sp>
      <p:sp>
        <p:nvSpPr>
          <p:cNvPr id="7" name="Text 5"/>
          <p:cNvSpPr/>
          <p:nvPr/>
        </p:nvSpPr>
        <p:spPr>
          <a:xfrm>
            <a:off x="640080" y="2423160"/>
            <a:ext cx="2487168" cy="548640"/>
          </a:xfrm>
          <a:prstGeom prst="rect">
            <a:avLst/>
          </a:prstGeom>
          <a:noFill/>
          <a:ln/>
        </p:spPr>
        <p:txBody>
          <a:bodyPr wrap="square" rtlCol="0" anchor="t"/>
          <a:lstStyle/>
          <a:p>
            <a:pPr algn="ctr" indent="0" marL="0">
              <a:buNone/>
            </a:pPr>
            <a:r>
              <a:rPr lang="en-US" sz="1150" dirty="0">
                <a:solidFill>
                  <a:srgbClr val="8B98A9"/>
                </a:solidFill>
                <a:latin typeface="Segoe UI" pitchFamily="34" charset="0"/>
                <a:ea typeface="Segoe UI" pitchFamily="34" charset="-122"/>
                <a:cs typeface="Segoe UI" pitchFamily="34" charset="-120"/>
              </a:rPr>
              <a:t>tokens per Foleo tool answer</a:t>
            </a:r>
            <a:endParaRPr lang="en-US" sz="1150" dirty="0"/>
          </a:p>
        </p:txBody>
      </p:sp>
      <p:sp>
        <p:nvSpPr>
          <p:cNvPr id="8" name="Shape 6"/>
          <p:cNvSpPr/>
          <p:nvPr/>
        </p:nvSpPr>
        <p:spPr>
          <a:xfrm>
            <a:off x="3346704" y="1600200"/>
            <a:ext cx="2670048" cy="1463040"/>
          </a:xfrm>
          <a:prstGeom prst="roundRect">
            <a:avLst>
              <a:gd name="adj" fmla="val 5000"/>
            </a:avLst>
          </a:prstGeom>
          <a:solidFill>
            <a:srgbClr val="141A22"/>
          </a:solidFill>
          <a:ln w="12700">
            <a:solidFill>
              <a:srgbClr val="263243"/>
            </a:solidFill>
            <a:prstDash val="solid"/>
          </a:ln>
        </p:spPr>
      </p:sp>
      <p:sp>
        <p:nvSpPr>
          <p:cNvPr id="9" name="Text 7"/>
          <p:cNvSpPr/>
          <p:nvPr/>
        </p:nvSpPr>
        <p:spPr>
          <a:xfrm>
            <a:off x="3346704" y="1691640"/>
            <a:ext cx="2670048" cy="731520"/>
          </a:xfrm>
          <a:prstGeom prst="rect">
            <a:avLst/>
          </a:prstGeom>
          <a:noFill/>
          <a:ln/>
        </p:spPr>
        <p:txBody>
          <a:bodyPr wrap="square" rtlCol="0" anchor="ctr"/>
          <a:lstStyle/>
          <a:p>
            <a:pPr algn="ctr" indent="0" marL="0">
              <a:buNone/>
            </a:pPr>
            <a:r>
              <a:rPr lang="en-US" sz="2400" dirty="0">
                <a:solidFill>
                  <a:srgbClr val="FBBF24"/>
                </a:solidFill>
                <a:latin typeface="Segoe UI Semibold" pitchFamily="34" charset="0"/>
                <a:ea typeface="Segoe UI Semibold" pitchFamily="34" charset="-122"/>
                <a:cs typeface="Segoe UI Semibold" pitchFamily="34" charset="-120"/>
              </a:rPr>
              <a:t>1,421 → 4,867</a:t>
            </a:r>
            <a:endParaRPr lang="en-US" sz="2400" dirty="0"/>
          </a:p>
        </p:txBody>
      </p:sp>
      <p:sp>
        <p:nvSpPr>
          <p:cNvPr id="10" name="Text 8"/>
          <p:cNvSpPr/>
          <p:nvPr/>
        </p:nvSpPr>
        <p:spPr>
          <a:xfrm>
            <a:off x="3438144" y="2423160"/>
            <a:ext cx="2487168" cy="548640"/>
          </a:xfrm>
          <a:prstGeom prst="rect">
            <a:avLst/>
          </a:prstGeom>
          <a:noFill/>
          <a:ln/>
        </p:spPr>
        <p:txBody>
          <a:bodyPr wrap="square" rtlCol="0" anchor="t"/>
          <a:lstStyle/>
          <a:p>
            <a:pPr algn="ctr" indent="0" marL="0">
              <a:buNone/>
            </a:pPr>
            <a:r>
              <a:rPr lang="en-US" sz="1150" dirty="0">
                <a:solidFill>
                  <a:srgbClr val="8B98A9"/>
                </a:solidFill>
                <a:latin typeface="Segoe UI" pitchFamily="34" charset="0"/>
                <a:ea typeface="Segoe UI" pitchFamily="34" charset="-122"/>
                <a:cs typeface="Segoe UI" pitchFamily="34" charset="-120"/>
              </a:rPr>
              <a:t>tokens per Groq answer, T1 → T3</a:t>
            </a:r>
            <a:endParaRPr lang="en-US" sz="1150" dirty="0"/>
          </a:p>
        </p:txBody>
      </p:sp>
      <p:sp>
        <p:nvSpPr>
          <p:cNvPr id="11" name="Shape 9"/>
          <p:cNvSpPr/>
          <p:nvPr/>
        </p:nvSpPr>
        <p:spPr>
          <a:xfrm>
            <a:off x="6144768" y="1600200"/>
            <a:ext cx="2670048" cy="1463040"/>
          </a:xfrm>
          <a:prstGeom prst="roundRect">
            <a:avLst>
              <a:gd name="adj" fmla="val 5000"/>
            </a:avLst>
          </a:prstGeom>
          <a:solidFill>
            <a:srgbClr val="141A22"/>
          </a:solidFill>
          <a:ln w="12700">
            <a:solidFill>
              <a:srgbClr val="263243"/>
            </a:solidFill>
            <a:prstDash val="solid"/>
          </a:ln>
        </p:spPr>
      </p:sp>
      <p:sp>
        <p:nvSpPr>
          <p:cNvPr id="12" name="Text 10"/>
          <p:cNvSpPr/>
          <p:nvPr/>
        </p:nvSpPr>
        <p:spPr>
          <a:xfrm>
            <a:off x="6144768" y="1691640"/>
            <a:ext cx="2670048" cy="731520"/>
          </a:xfrm>
          <a:prstGeom prst="rect">
            <a:avLst/>
          </a:prstGeom>
          <a:noFill/>
          <a:ln/>
        </p:spPr>
        <p:txBody>
          <a:bodyPr wrap="square" rtlCol="0" anchor="ctr"/>
          <a:lstStyle/>
          <a:p>
            <a:pPr algn="ctr" indent="0" marL="0">
              <a:buNone/>
            </a:pPr>
            <a:r>
              <a:rPr lang="en-US" sz="2400" dirty="0">
                <a:solidFill>
                  <a:srgbClr val="10B981"/>
                </a:solidFill>
                <a:latin typeface="Segoe UI Semibold" pitchFamily="34" charset="0"/>
                <a:ea typeface="Segoe UI Semibold" pitchFamily="34" charset="-122"/>
                <a:cs typeface="Segoe UI Semibold" pitchFamily="34" charset="-120"/>
              </a:rPr>
              <a:t>0.1 – 3.3 ms</a:t>
            </a:r>
            <a:endParaRPr lang="en-US" sz="2400" dirty="0"/>
          </a:p>
        </p:txBody>
      </p:sp>
      <p:sp>
        <p:nvSpPr>
          <p:cNvPr id="13" name="Text 11"/>
          <p:cNvSpPr/>
          <p:nvPr/>
        </p:nvSpPr>
        <p:spPr>
          <a:xfrm>
            <a:off x="6236208" y="2423160"/>
            <a:ext cx="2487168" cy="548640"/>
          </a:xfrm>
          <a:prstGeom prst="rect">
            <a:avLst/>
          </a:prstGeom>
          <a:noFill/>
          <a:ln/>
        </p:spPr>
        <p:txBody>
          <a:bodyPr wrap="square" rtlCol="0" anchor="t"/>
          <a:lstStyle/>
          <a:p>
            <a:pPr algn="ctr" indent="0" marL="0">
              <a:buNone/>
            </a:pPr>
            <a:r>
              <a:rPr lang="en-US" sz="1150" dirty="0">
                <a:solidFill>
                  <a:srgbClr val="8B98A9"/>
                </a:solidFill>
                <a:latin typeface="Segoe UI" pitchFamily="34" charset="0"/>
                <a:ea typeface="Segoe UI" pitchFamily="34" charset="-122"/>
                <a:cs typeface="Segoe UI" pitchFamily="34" charset="-120"/>
              </a:rPr>
              <a:t>Foleo compute time (T1 → T3)</a:t>
            </a:r>
            <a:endParaRPr lang="en-US" sz="1150" dirty="0"/>
          </a:p>
        </p:txBody>
      </p:sp>
      <p:sp>
        <p:nvSpPr>
          <p:cNvPr id="14" name="Shape 12"/>
          <p:cNvSpPr/>
          <p:nvPr/>
        </p:nvSpPr>
        <p:spPr>
          <a:xfrm>
            <a:off x="8942832" y="1600200"/>
            <a:ext cx="2670048" cy="1463040"/>
          </a:xfrm>
          <a:prstGeom prst="roundRect">
            <a:avLst>
              <a:gd name="adj" fmla="val 5000"/>
            </a:avLst>
          </a:prstGeom>
          <a:solidFill>
            <a:srgbClr val="141A22"/>
          </a:solidFill>
          <a:ln w="12700">
            <a:solidFill>
              <a:srgbClr val="263243"/>
            </a:solidFill>
            <a:prstDash val="solid"/>
          </a:ln>
        </p:spPr>
      </p:sp>
      <p:sp>
        <p:nvSpPr>
          <p:cNvPr id="15" name="Text 13"/>
          <p:cNvSpPr/>
          <p:nvPr/>
        </p:nvSpPr>
        <p:spPr>
          <a:xfrm>
            <a:off x="8942832" y="1691640"/>
            <a:ext cx="2670048" cy="731520"/>
          </a:xfrm>
          <a:prstGeom prst="rect">
            <a:avLst/>
          </a:prstGeom>
          <a:noFill/>
          <a:ln/>
        </p:spPr>
        <p:txBody>
          <a:bodyPr wrap="square" rtlCol="0" anchor="ctr"/>
          <a:lstStyle/>
          <a:p>
            <a:pPr algn="ctr" indent="0" marL="0">
              <a:buNone/>
            </a:pPr>
            <a:r>
              <a:rPr lang="en-US" sz="2400" dirty="0">
                <a:solidFill>
                  <a:srgbClr val="FBBF24"/>
                </a:solidFill>
                <a:latin typeface="Segoe UI Semibold" pitchFamily="34" charset="0"/>
                <a:ea typeface="Segoe UI Semibold" pitchFamily="34" charset="-122"/>
                <a:cs typeface="Segoe UI Semibold" pitchFamily="34" charset="-120"/>
              </a:rPr>
              <a:t>2.5 – 9.7 s</a:t>
            </a:r>
            <a:endParaRPr lang="en-US" sz="2400" dirty="0"/>
          </a:p>
        </p:txBody>
      </p:sp>
      <p:sp>
        <p:nvSpPr>
          <p:cNvPr id="16" name="Text 14"/>
          <p:cNvSpPr/>
          <p:nvPr/>
        </p:nvSpPr>
        <p:spPr>
          <a:xfrm>
            <a:off x="9034272" y="2423160"/>
            <a:ext cx="2487168" cy="548640"/>
          </a:xfrm>
          <a:prstGeom prst="rect">
            <a:avLst/>
          </a:prstGeom>
          <a:noFill/>
          <a:ln/>
        </p:spPr>
        <p:txBody>
          <a:bodyPr wrap="square" rtlCol="0" anchor="t"/>
          <a:lstStyle/>
          <a:p>
            <a:pPr algn="ctr" indent="0" marL="0">
              <a:buNone/>
            </a:pPr>
            <a:r>
              <a:rPr lang="en-US" sz="1150" dirty="0">
                <a:solidFill>
                  <a:srgbClr val="8B98A9"/>
                </a:solidFill>
                <a:latin typeface="Segoe UI" pitchFamily="34" charset="0"/>
                <a:ea typeface="Segoe UI" pitchFamily="34" charset="-122"/>
                <a:cs typeface="Segoe UI" pitchFamily="34" charset="-120"/>
              </a:rPr>
              <a:t>Groq + full data (T1 → T3)</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11091672" cy="914400"/>
        </p:xfrm>
        <a:graphic>
          <a:graphicData uri="http://schemas.openxmlformats.org/drawingml/2006/table">
            <a:tbl>
              <a:tblPr/>
              <a:tblGrid>
                <a:gridCol w="2103120"/>
                <a:gridCol w="1463040"/>
                <a:gridCol w="1463040"/>
                <a:gridCol w="2148840"/>
                <a:gridCol w="2103120"/>
                <a:gridCol w="1810512"/>
              </a:tblGrid>
              <a:tr h="384048">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Tier</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Foleo tokens</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Foleo time</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Groq + full data tokens</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Groq + full data time</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200" dirty="0">
                          <a:solidFill>
                            <a:srgbClr val="E6EDF3"/>
                          </a:solidFill>
                          <a:latin typeface="Segoe UI Semibold" pitchFamily="34" charset="0"/>
                          <a:ea typeface="Segoe UI Semibold" pitchFamily="34" charset="-122"/>
                          <a:cs typeface="Segoe UI Semibold" pitchFamily="34" charset="-120"/>
                        </a:rPr>
                        <a:t>Groq chatbot tokens</a:t>
                      </a:r>
                      <a:endParaRPr lang="en-US" sz="120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r>
              <a:tr h="384048">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T1 Arithmetic</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10B981"/>
                          </a:solidFill>
                          <a:latin typeface="Segoe UI" pitchFamily="34" charset="0"/>
                          <a:ea typeface="Segoe UI" pitchFamily="34" charset="-122"/>
                          <a:cs typeface="Segoe UI" pitchFamily="34" charset="-120"/>
                        </a:rPr>
                        <a:t>0</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10B981"/>
                          </a:solidFill>
                          <a:latin typeface="Segoe UI" pitchFamily="34" charset="0"/>
                          <a:ea typeface="Segoe UI" pitchFamily="34" charset="-122"/>
                          <a:cs typeface="Segoe UI" pitchFamily="34" charset="-120"/>
                        </a:rPr>
                        <a:t>0.12 ms</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1,421</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2.5 s</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2,694</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r h="384048">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T2 Stock metrics</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10B981"/>
                          </a:solidFill>
                          <a:latin typeface="Segoe UI" pitchFamily="34" charset="0"/>
                          <a:ea typeface="Segoe UI" pitchFamily="34" charset="-122"/>
                          <a:cs typeface="Segoe UI" pitchFamily="34" charset="-120"/>
                        </a:rPr>
                        <a:t>0</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10B981"/>
                          </a:solidFill>
                          <a:latin typeface="Segoe UI" pitchFamily="34" charset="0"/>
                          <a:ea typeface="Segoe UI" pitchFamily="34" charset="-122"/>
                          <a:cs typeface="Segoe UI" pitchFamily="34" charset="-120"/>
                        </a:rPr>
                        <a:t>0.86 ms</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3,882</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8.2 s</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2,519</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r>
              <a:tr h="384048">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T3 Portfolio risk</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10B981"/>
                          </a:solidFill>
                          <a:latin typeface="Segoe UI" pitchFamily="34" charset="0"/>
                          <a:ea typeface="Segoe UI" pitchFamily="34" charset="-122"/>
                          <a:cs typeface="Segoe UI" pitchFamily="34" charset="-120"/>
                        </a:rPr>
                        <a:t>0</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10B981"/>
                          </a:solidFill>
                          <a:latin typeface="Segoe UI" pitchFamily="34" charset="0"/>
                          <a:ea typeface="Segoe UI" pitchFamily="34" charset="-122"/>
                          <a:cs typeface="Segoe UI" pitchFamily="34" charset="-120"/>
                        </a:rPr>
                        <a:t>3.3 ms</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4,867</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9.7 s</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200" dirty="0">
                          <a:solidFill>
                            <a:srgbClr val="E6EDF3"/>
                          </a:solidFill>
                          <a:latin typeface="Segoe UI" pitchFamily="34" charset="0"/>
                          <a:ea typeface="Segoe UI" pitchFamily="34" charset="-122"/>
                          <a:cs typeface="Segoe UI" pitchFamily="34" charset="-120"/>
                        </a:rPr>
                        <a:t>2,285</a:t>
                      </a:r>
                      <a:endParaRPr lang="en-US" sz="120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bl>
          </a:graphicData>
        </a:graphic>
      </p:graphicFrame>
      <p:sp>
        <p:nvSpPr>
          <p:cNvPr id="18" name="Shape 15"/>
          <p:cNvSpPr/>
          <p:nvPr/>
        </p:nvSpPr>
        <p:spPr>
          <a:xfrm>
            <a:off x="548640" y="4983480"/>
            <a:ext cx="11091672" cy="1234440"/>
          </a:xfrm>
          <a:prstGeom prst="roundRect">
            <a:avLst>
              <a:gd name="adj" fmla="val 5926"/>
            </a:avLst>
          </a:prstGeom>
          <a:solidFill>
            <a:srgbClr val="1B2330"/>
          </a:solidFill>
          <a:ln w="12700">
            <a:solidFill>
              <a:srgbClr val="263243"/>
            </a:solidFill>
            <a:prstDash val="solid"/>
          </a:ln>
        </p:spPr>
      </p:sp>
      <p:sp>
        <p:nvSpPr>
          <p:cNvPr id="19" name="Text 16"/>
          <p:cNvSpPr/>
          <p:nvPr/>
        </p:nvSpPr>
        <p:spPr>
          <a:xfrm>
            <a:off x="685800" y="5029200"/>
            <a:ext cx="10835640" cy="1170432"/>
          </a:xfrm>
          <a:prstGeom prst="rect">
            <a:avLst/>
          </a:prstGeom>
          <a:noFill/>
          <a:ln/>
        </p:spPr>
        <p:txBody>
          <a:bodyPr wrap="square" lIns="50800" tIns="50800" rIns="50800" bIns="50800" rtlCol="0" anchor="t"/>
          <a:lstStyle/>
          <a:p>
            <a:pPr marL="342900" indent="-342900">
              <a:spcAft>
                <a:spcPts val="500"/>
              </a:spcAft>
              <a:buSzPct val="100000"/>
              <a:buChar char="▪"/>
            </a:pPr>
            <a:r>
              <a:rPr lang="en-US" sz="1200" b="1" dirty="0">
                <a:solidFill>
                  <a:srgbClr val="E6EDF3"/>
                </a:solidFill>
                <a:latin typeface="Segoe UI" pitchFamily="34" charset="0"/>
                <a:ea typeface="Segoe UI" pitchFamily="34" charset="-122"/>
                <a:cs typeface="Segoe UI" pitchFamily="34" charset="-120"/>
              </a:rPr>
              <a:t>Why Groq got slower and costlier: </a:t>
            </a:r>
            <a:pPr indent="0" marL="0">
              <a:spcAft>
                <a:spcPts val="500"/>
              </a:spcAft>
              <a:buNone/>
            </a:pPr>
            <a:r>
              <a:rPr lang="en-US" sz="1200" dirty="0">
                <a:solidFill>
                  <a:srgbClr val="E6EDF3"/>
                </a:solidFill>
                <a:latin typeface="Segoe UI" pitchFamily="34" charset="0"/>
                <a:ea typeface="Segoe UI" pitchFamily="34" charset="-122"/>
                <a:cs typeface="Segoe UI" pitchFamily="34" charset="-120"/>
              </a:rPr>
              <a:t>it reasons through every row of the price table; for VaR it tried to sort 66 returns and hit the 4,096-token cap (0 of 9 VaR answers finished)</a:t>
            </a:r>
            <a:endParaRPr lang="en-US" sz="1200" dirty="0"/>
          </a:p>
          <a:p>
            <a:pPr marL="342900" indent="-342900">
              <a:spcAft>
                <a:spcPts val="500"/>
              </a:spcAft>
              <a:buSzPct val="100000"/>
              <a:buChar char="▪"/>
            </a:pPr>
            <a:r>
              <a:rPr lang="en-US" sz="1200" b="1" dirty="0">
                <a:solidFill>
                  <a:srgbClr val="E6EDF3"/>
                </a:solidFill>
                <a:latin typeface="Segoe UI" pitchFamily="34" charset="0"/>
                <a:ea typeface="Segoe UI" pitchFamily="34" charset="-122"/>
                <a:cs typeface="Segoe UI" pitchFamily="34" charset="-120"/>
              </a:rPr>
              <a:t>Honest caveat: </a:t>
            </a:r>
            <a:pPr indent="0" marL="0">
              <a:spcAft>
                <a:spcPts val="500"/>
              </a:spcAft>
              <a:buNone/>
            </a:pPr>
            <a:r>
              <a:rPr lang="en-US" sz="1200" dirty="0">
                <a:solidFill>
                  <a:srgbClr val="E6EDF3"/>
                </a:solidFill>
                <a:latin typeface="Segoe UI" pitchFamily="34" charset="0"/>
                <a:ea typeface="Segoe UI" pitchFamily="34" charset="-122"/>
                <a:cs typeface="Segoe UI" pitchFamily="34" charset="-120"/>
              </a:rPr>
              <a:t>Foleo's time excludes downloading prices, a median of 261 ms per stock, which is still far below an LLM call</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Failure modes we observed</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The dangerous errors are the ones a user cannot see</a:t>
            </a:r>
            <a:endParaRPr lang="en-US" sz="1300" dirty="0"/>
          </a:p>
        </p:txBody>
      </p:sp>
      <p:sp>
        <p:nvSpPr>
          <p:cNvPr id="5" name="Shape 3"/>
          <p:cNvSpPr/>
          <p:nvPr/>
        </p:nvSpPr>
        <p:spPr>
          <a:xfrm>
            <a:off x="548640" y="1600200"/>
            <a:ext cx="3611880" cy="2176272"/>
          </a:xfrm>
          <a:prstGeom prst="roundRect">
            <a:avLst>
              <a:gd name="adj" fmla="val 3361"/>
            </a:avLst>
          </a:prstGeom>
          <a:solidFill>
            <a:srgbClr val="141A22"/>
          </a:solidFill>
          <a:ln w="12700">
            <a:solidFill>
              <a:srgbClr val="263243"/>
            </a:solidFill>
            <a:prstDash val="solid"/>
          </a:ln>
        </p:spPr>
      </p:sp>
      <p:sp>
        <p:nvSpPr>
          <p:cNvPr id="6" name="Shape 4"/>
          <p:cNvSpPr/>
          <p:nvPr/>
        </p:nvSpPr>
        <p:spPr>
          <a:xfrm>
            <a:off x="566928" y="1709928"/>
            <a:ext cx="54864" cy="1956816"/>
          </a:xfrm>
          <a:prstGeom prst="rect">
            <a:avLst/>
          </a:prstGeom>
          <a:solidFill>
            <a:srgbClr val="FBBF24"/>
          </a:solidFill>
          <a:ln w="12700">
            <a:solidFill>
              <a:srgbClr val="FBBF24"/>
            </a:solidFill>
            <a:prstDash val="solid"/>
          </a:ln>
        </p:spPr>
      </p:sp>
      <p:sp>
        <p:nvSpPr>
          <p:cNvPr id="7" name="Text 5"/>
          <p:cNvSpPr/>
          <p:nvPr/>
        </p:nvSpPr>
        <p:spPr>
          <a:xfrm>
            <a:off x="777240" y="1709928"/>
            <a:ext cx="3291840" cy="365760"/>
          </a:xfrm>
          <a:prstGeom prst="rect">
            <a:avLst/>
          </a:prstGeom>
          <a:noFill/>
          <a:ln/>
        </p:spPr>
        <p:txBody>
          <a:bodyPr wrap="square" rtlCol="0" anchor="ctr"/>
          <a:lstStyle/>
          <a:p>
            <a:pPr indent="0" marL="0">
              <a:buNone/>
            </a:pPr>
            <a:r>
              <a:rPr lang="en-US" sz="1450" dirty="0">
                <a:solidFill>
                  <a:srgbClr val="FBBF24"/>
                </a:solidFill>
                <a:latin typeface="Segoe UI Semibold" pitchFamily="34" charset="0"/>
                <a:ea typeface="Segoe UI Semibold" pitchFamily="34" charset="-122"/>
                <a:cs typeface="Segoe UI Semibold" pitchFamily="34" charset="-120"/>
              </a:rPr>
              <a:t>Truncation</a:t>
            </a:r>
            <a:endParaRPr lang="en-US" sz="1450" dirty="0"/>
          </a:p>
        </p:txBody>
      </p:sp>
      <p:sp>
        <p:nvSpPr>
          <p:cNvPr id="8" name="Text 6"/>
          <p:cNvSpPr/>
          <p:nvPr/>
        </p:nvSpPr>
        <p:spPr>
          <a:xfrm>
            <a:off x="777240" y="2103120"/>
            <a:ext cx="3246120" cy="1600200"/>
          </a:xfrm>
          <a:prstGeom prst="rect">
            <a:avLst/>
          </a:prstGeom>
          <a:noFill/>
          <a:ln/>
        </p:spPr>
        <p:txBody>
          <a:bodyPr wrap="square" rtlCol="0" anchor="t"/>
          <a:lstStyle/>
          <a:p>
            <a:pPr indent="0" marL="0">
              <a:buNone/>
            </a:pPr>
            <a:r>
              <a:rPr lang="en-US" sz="1350" dirty="0">
                <a:solidFill>
                  <a:srgbClr val="E6EDF3"/>
                </a:solidFill>
                <a:latin typeface="Segoe UI" pitchFamily="34" charset="0"/>
                <a:ea typeface="Segoe UI" pitchFamily="34" charset="-122"/>
                <a:cs typeface="Segoe UI" pitchFamily="34" charset="-120"/>
              </a:rPr>
              <a:t>23 of 48 Groq time-series answers never reached a final value: the hidden reasoning used up the whole token budget.</a:t>
            </a:r>
            <a:endParaRPr lang="en-US" sz="1350" dirty="0"/>
          </a:p>
        </p:txBody>
      </p:sp>
      <p:sp>
        <p:nvSpPr>
          <p:cNvPr id="9" name="Shape 7"/>
          <p:cNvSpPr/>
          <p:nvPr/>
        </p:nvSpPr>
        <p:spPr>
          <a:xfrm>
            <a:off x="4297680" y="1600200"/>
            <a:ext cx="3611880" cy="2176272"/>
          </a:xfrm>
          <a:prstGeom prst="roundRect">
            <a:avLst>
              <a:gd name="adj" fmla="val 3361"/>
            </a:avLst>
          </a:prstGeom>
          <a:solidFill>
            <a:srgbClr val="141A22"/>
          </a:solidFill>
          <a:ln w="12700">
            <a:solidFill>
              <a:srgbClr val="263243"/>
            </a:solidFill>
            <a:prstDash val="solid"/>
          </a:ln>
        </p:spPr>
      </p:sp>
      <p:sp>
        <p:nvSpPr>
          <p:cNvPr id="10" name="Shape 8"/>
          <p:cNvSpPr/>
          <p:nvPr/>
        </p:nvSpPr>
        <p:spPr>
          <a:xfrm>
            <a:off x="4315968" y="1709928"/>
            <a:ext cx="54864" cy="1956816"/>
          </a:xfrm>
          <a:prstGeom prst="rect">
            <a:avLst/>
          </a:prstGeom>
          <a:solidFill>
            <a:srgbClr val="F87171"/>
          </a:solidFill>
          <a:ln w="12700">
            <a:solidFill>
              <a:srgbClr val="F87171"/>
            </a:solidFill>
            <a:prstDash val="solid"/>
          </a:ln>
        </p:spPr>
      </p:sp>
      <p:sp>
        <p:nvSpPr>
          <p:cNvPr id="11" name="Text 9"/>
          <p:cNvSpPr/>
          <p:nvPr/>
        </p:nvSpPr>
        <p:spPr>
          <a:xfrm>
            <a:off x="4526280" y="1709928"/>
            <a:ext cx="3291840" cy="365760"/>
          </a:xfrm>
          <a:prstGeom prst="rect">
            <a:avLst/>
          </a:prstGeom>
          <a:noFill/>
          <a:ln/>
        </p:spPr>
        <p:txBody>
          <a:bodyPr wrap="square" rtlCol="0" anchor="ctr"/>
          <a:lstStyle/>
          <a:p>
            <a:pPr indent="0" marL="0">
              <a:buNone/>
            </a:pPr>
            <a:r>
              <a:rPr lang="en-US" sz="1450" dirty="0">
                <a:solidFill>
                  <a:srgbClr val="F87171"/>
                </a:solidFill>
                <a:latin typeface="Segoe UI Semibold" pitchFamily="34" charset="0"/>
                <a:ea typeface="Segoe UI Semibold" pitchFamily="34" charset="-122"/>
                <a:cs typeface="Segoe UI Semibold" pitchFamily="34" charset="-120"/>
              </a:rPr>
              <a:t>Silent wrong value</a:t>
            </a:r>
            <a:endParaRPr lang="en-US" sz="1450" dirty="0"/>
          </a:p>
        </p:txBody>
      </p:sp>
      <p:sp>
        <p:nvSpPr>
          <p:cNvPr id="12" name="Text 10"/>
          <p:cNvSpPr/>
          <p:nvPr/>
        </p:nvSpPr>
        <p:spPr>
          <a:xfrm>
            <a:off x="4526280" y="2103120"/>
            <a:ext cx="3246120" cy="1600200"/>
          </a:xfrm>
          <a:prstGeom prst="rect">
            <a:avLst/>
          </a:prstGeom>
          <a:noFill/>
          <a:ln/>
        </p:spPr>
        <p:txBody>
          <a:bodyPr wrap="square" rtlCol="0" anchor="t"/>
          <a:lstStyle/>
          <a:p>
            <a:pPr indent="0" marL="0">
              <a:buNone/>
            </a:pPr>
            <a:r>
              <a:rPr lang="en-US" sz="1350" dirty="0">
                <a:solidFill>
                  <a:srgbClr val="E6EDF3"/>
                </a:solidFill>
                <a:latin typeface="Segoe UI" pitchFamily="34" charset="0"/>
                <a:ea typeface="Segoe UI" pitchFamily="34" charset="-122"/>
                <a:cs typeface="Segoe UI" pitchFamily="34" charset="-120"/>
              </a:rPr>
              <a:t>HDFCBANK RSI: one run answered 62.68 instead of 61.40, with convincing working. Other runs at temperature 0 differed.</a:t>
            </a:r>
            <a:endParaRPr lang="en-US" sz="1350" dirty="0"/>
          </a:p>
        </p:txBody>
      </p:sp>
      <p:sp>
        <p:nvSpPr>
          <p:cNvPr id="13" name="Shape 11"/>
          <p:cNvSpPr/>
          <p:nvPr/>
        </p:nvSpPr>
        <p:spPr>
          <a:xfrm>
            <a:off x="8046720" y="1600200"/>
            <a:ext cx="3611880" cy="2176272"/>
          </a:xfrm>
          <a:prstGeom prst="roundRect">
            <a:avLst>
              <a:gd name="adj" fmla="val 3361"/>
            </a:avLst>
          </a:prstGeom>
          <a:solidFill>
            <a:srgbClr val="141A22"/>
          </a:solidFill>
          <a:ln w="12700">
            <a:solidFill>
              <a:srgbClr val="263243"/>
            </a:solidFill>
            <a:prstDash val="solid"/>
          </a:ln>
        </p:spPr>
      </p:sp>
      <p:sp>
        <p:nvSpPr>
          <p:cNvPr id="14" name="Shape 12"/>
          <p:cNvSpPr/>
          <p:nvPr/>
        </p:nvSpPr>
        <p:spPr>
          <a:xfrm>
            <a:off x="8065008" y="1709928"/>
            <a:ext cx="54864" cy="1956816"/>
          </a:xfrm>
          <a:prstGeom prst="rect">
            <a:avLst/>
          </a:prstGeom>
          <a:solidFill>
            <a:srgbClr val="F87171"/>
          </a:solidFill>
          <a:ln w="12700">
            <a:solidFill>
              <a:srgbClr val="F87171"/>
            </a:solidFill>
            <a:prstDash val="solid"/>
          </a:ln>
        </p:spPr>
      </p:sp>
      <p:sp>
        <p:nvSpPr>
          <p:cNvPr id="15" name="Text 13"/>
          <p:cNvSpPr/>
          <p:nvPr/>
        </p:nvSpPr>
        <p:spPr>
          <a:xfrm>
            <a:off x="8275320" y="1709928"/>
            <a:ext cx="3291840" cy="365760"/>
          </a:xfrm>
          <a:prstGeom prst="rect">
            <a:avLst/>
          </a:prstGeom>
          <a:noFill/>
          <a:ln/>
        </p:spPr>
        <p:txBody>
          <a:bodyPr wrap="square" rtlCol="0" anchor="ctr"/>
          <a:lstStyle/>
          <a:p>
            <a:pPr indent="0" marL="0">
              <a:buNone/>
            </a:pPr>
            <a:r>
              <a:rPr lang="en-US" sz="1450" dirty="0">
                <a:solidFill>
                  <a:srgbClr val="F87171"/>
                </a:solidFill>
                <a:latin typeface="Segoe UI Semibold" pitchFamily="34" charset="0"/>
                <a:ea typeface="Segoe UI Semibold" pitchFamily="34" charset="-122"/>
                <a:cs typeface="Segoe UI Semibold" pitchFamily="34" charset="-120"/>
              </a:rPr>
              <a:t>Substituted quantity</a:t>
            </a:r>
            <a:endParaRPr lang="en-US" sz="1450" dirty="0"/>
          </a:p>
        </p:txBody>
      </p:sp>
      <p:sp>
        <p:nvSpPr>
          <p:cNvPr id="16" name="Text 14"/>
          <p:cNvSpPr/>
          <p:nvPr/>
        </p:nvSpPr>
        <p:spPr>
          <a:xfrm>
            <a:off x="8275320" y="2103120"/>
            <a:ext cx="3246120" cy="1600200"/>
          </a:xfrm>
          <a:prstGeom prst="rect">
            <a:avLst/>
          </a:prstGeom>
          <a:noFill/>
          <a:ln/>
        </p:spPr>
        <p:txBody>
          <a:bodyPr wrap="square" rtlCol="0" anchor="t"/>
          <a:lstStyle/>
          <a:p>
            <a:pPr indent="0" marL="0">
              <a:buNone/>
            </a:pPr>
            <a:r>
              <a:rPr lang="en-US" sz="1350" dirty="0">
                <a:solidFill>
                  <a:srgbClr val="E6EDF3"/>
                </a:solidFill>
                <a:latin typeface="Segoe UI" pitchFamily="34" charset="0"/>
                <a:ea typeface="Segoe UI" pitchFamily="34" charset="-122"/>
                <a:cs typeface="Segoe UI" pitchFamily="34" charset="-120"/>
              </a:rPr>
              <a:t>Asked for the 3-month return without price data, the chatbot replied −6.74% (gain since purchase). The real value was −19.27%.</a:t>
            </a:r>
            <a:endParaRPr lang="en-US" sz="1350" dirty="0"/>
          </a:p>
        </p:txBody>
      </p:sp>
      <p:sp>
        <p:nvSpPr>
          <p:cNvPr id="17" name="Shape 15"/>
          <p:cNvSpPr/>
          <p:nvPr/>
        </p:nvSpPr>
        <p:spPr>
          <a:xfrm>
            <a:off x="548640" y="3931920"/>
            <a:ext cx="3611880" cy="2176272"/>
          </a:xfrm>
          <a:prstGeom prst="roundRect">
            <a:avLst>
              <a:gd name="adj" fmla="val 3361"/>
            </a:avLst>
          </a:prstGeom>
          <a:solidFill>
            <a:srgbClr val="141A22"/>
          </a:solidFill>
          <a:ln w="12700">
            <a:solidFill>
              <a:srgbClr val="263243"/>
            </a:solidFill>
            <a:prstDash val="solid"/>
          </a:ln>
        </p:spPr>
      </p:sp>
      <p:sp>
        <p:nvSpPr>
          <p:cNvPr id="18" name="Shape 16"/>
          <p:cNvSpPr/>
          <p:nvPr/>
        </p:nvSpPr>
        <p:spPr>
          <a:xfrm>
            <a:off x="566928" y="4041648"/>
            <a:ext cx="54864" cy="1956816"/>
          </a:xfrm>
          <a:prstGeom prst="rect">
            <a:avLst/>
          </a:prstGeom>
          <a:solidFill>
            <a:srgbClr val="38BDF8"/>
          </a:solidFill>
          <a:ln w="12700">
            <a:solidFill>
              <a:srgbClr val="38BDF8"/>
            </a:solidFill>
            <a:prstDash val="solid"/>
          </a:ln>
        </p:spPr>
      </p:sp>
      <p:sp>
        <p:nvSpPr>
          <p:cNvPr id="19" name="Text 17"/>
          <p:cNvSpPr/>
          <p:nvPr/>
        </p:nvSpPr>
        <p:spPr>
          <a:xfrm>
            <a:off x="777240" y="4041648"/>
            <a:ext cx="3291840" cy="365760"/>
          </a:xfrm>
          <a:prstGeom prst="rect">
            <a:avLst/>
          </a:prstGeom>
          <a:noFill/>
          <a:ln/>
        </p:spPr>
        <p:txBody>
          <a:bodyPr wrap="square" rtlCol="0" anchor="ctr"/>
          <a:lstStyle/>
          <a:p>
            <a:pPr indent="0" marL="0">
              <a:buNone/>
            </a:pPr>
            <a:r>
              <a:rPr lang="en-US" sz="1450" dirty="0">
                <a:solidFill>
                  <a:srgbClr val="38BDF8"/>
                </a:solidFill>
                <a:latin typeface="Segoe UI Semibold" pitchFamily="34" charset="0"/>
                <a:ea typeface="Segoe UI Semibold" pitchFamily="34" charset="-122"/>
                <a:cs typeface="Segoe UI Semibold" pitchFamily="34" charset="-120"/>
              </a:rPr>
              <a:t>Own definition</a:t>
            </a:r>
            <a:endParaRPr lang="en-US" sz="1450" dirty="0"/>
          </a:p>
        </p:txBody>
      </p:sp>
      <p:sp>
        <p:nvSpPr>
          <p:cNvPr id="20" name="Text 18"/>
          <p:cNvSpPr/>
          <p:nvPr/>
        </p:nvSpPr>
        <p:spPr>
          <a:xfrm>
            <a:off x="777240" y="4434840"/>
            <a:ext cx="3246120" cy="1600200"/>
          </a:xfrm>
          <a:prstGeom prst="rect">
            <a:avLst/>
          </a:prstGeom>
          <a:noFill/>
          <a:ln/>
        </p:spPr>
        <p:txBody>
          <a:bodyPr wrap="square" rtlCol="0" anchor="t"/>
          <a:lstStyle/>
          <a:p>
            <a:pPr indent="0" marL="0">
              <a:buNone/>
            </a:pPr>
            <a:r>
              <a:rPr lang="en-US" sz="1350" dirty="0">
                <a:solidFill>
                  <a:srgbClr val="E6EDF3"/>
                </a:solidFill>
                <a:latin typeface="Segoe UI" pitchFamily="34" charset="0"/>
                <a:ea typeface="Segoe UI" pitchFamily="34" charset="-122"/>
                <a:cs typeface="Segoe UI" pitchFamily="34" charset="-120"/>
              </a:rPr>
              <a:t>ChatGPT computed RSI with its own formula despite being given ours: 3 wrong values from correct-looking code.</a:t>
            </a:r>
            <a:endParaRPr lang="en-US" sz="1350" dirty="0"/>
          </a:p>
        </p:txBody>
      </p:sp>
      <p:sp>
        <p:nvSpPr>
          <p:cNvPr id="21" name="Shape 19"/>
          <p:cNvSpPr/>
          <p:nvPr/>
        </p:nvSpPr>
        <p:spPr>
          <a:xfrm>
            <a:off x="4297680" y="3931920"/>
            <a:ext cx="3611880" cy="2176272"/>
          </a:xfrm>
          <a:prstGeom prst="roundRect">
            <a:avLst>
              <a:gd name="adj" fmla="val 3361"/>
            </a:avLst>
          </a:prstGeom>
          <a:solidFill>
            <a:srgbClr val="141A22"/>
          </a:solidFill>
          <a:ln w="12700">
            <a:solidFill>
              <a:srgbClr val="263243"/>
            </a:solidFill>
            <a:prstDash val="solid"/>
          </a:ln>
        </p:spPr>
      </p:sp>
      <p:sp>
        <p:nvSpPr>
          <p:cNvPr id="22" name="Shape 20"/>
          <p:cNvSpPr/>
          <p:nvPr/>
        </p:nvSpPr>
        <p:spPr>
          <a:xfrm>
            <a:off x="4315968" y="4041648"/>
            <a:ext cx="54864" cy="1956816"/>
          </a:xfrm>
          <a:prstGeom prst="rect">
            <a:avLst/>
          </a:prstGeom>
          <a:solidFill>
            <a:srgbClr val="F97316"/>
          </a:solidFill>
          <a:ln w="12700">
            <a:solidFill>
              <a:srgbClr val="F97316"/>
            </a:solidFill>
            <a:prstDash val="solid"/>
          </a:ln>
        </p:spPr>
      </p:sp>
      <p:sp>
        <p:nvSpPr>
          <p:cNvPr id="23" name="Text 21"/>
          <p:cNvSpPr/>
          <p:nvPr/>
        </p:nvSpPr>
        <p:spPr>
          <a:xfrm>
            <a:off x="4526280" y="4041648"/>
            <a:ext cx="3291840" cy="365760"/>
          </a:xfrm>
          <a:prstGeom prst="rect">
            <a:avLst/>
          </a:prstGeom>
          <a:noFill/>
          <a:ln/>
        </p:spPr>
        <p:txBody>
          <a:bodyPr wrap="square" rtlCol="0" anchor="ctr"/>
          <a:lstStyle/>
          <a:p>
            <a:pPr indent="0" marL="0">
              <a:buNone/>
            </a:pPr>
            <a:r>
              <a:rPr lang="en-US" sz="1450" dirty="0">
                <a:solidFill>
                  <a:srgbClr val="F97316"/>
                </a:solidFill>
                <a:latin typeface="Segoe UI Semibold" pitchFamily="34" charset="0"/>
                <a:ea typeface="Segoe UI Semibold" pitchFamily="34" charset="-122"/>
                <a:cs typeface="Segoe UI Semibold" pitchFamily="34" charset="-120"/>
              </a:rPr>
              <a:t>Invented rule</a:t>
            </a:r>
            <a:endParaRPr lang="en-US" sz="1450" dirty="0"/>
          </a:p>
        </p:txBody>
      </p:sp>
      <p:sp>
        <p:nvSpPr>
          <p:cNvPr id="24" name="Text 22"/>
          <p:cNvSpPr/>
          <p:nvPr/>
        </p:nvSpPr>
        <p:spPr>
          <a:xfrm>
            <a:off x="4526280" y="4434840"/>
            <a:ext cx="3246120" cy="1600200"/>
          </a:xfrm>
          <a:prstGeom prst="rect">
            <a:avLst/>
          </a:prstGeom>
          <a:noFill/>
          <a:ln/>
        </p:spPr>
        <p:txBody>
          <a:bodyPr wrap="square" rtlCol="0" anchor="t"/>
          <a:lstStyle/>
          <a:p>
            <a:pPr indent="0" marL="0">
              <a:buNone/>
            </a:pPr>
            <a:r>
              <a:rPr lang="en-US" sz="1350" dirty="0">
                <a:solidFill>
                  <a:srgbClr val="E6EDF3"/>
                </a:solidFill>
                <a:latin typeface="Segoe UI" pitchFamily="34" charset="0"/>
                <a:ea typeface="Segoe UI" pitchFamily="34" charset="-122"/>
                <a:cs typeface="Segoe UI" pitchFamily="34" charset="-120"/>
              </a:rPr>
              <a:t>Claude chose HOLD because no thresholds were given. A different model or prompt can give a different decision.</a:t>
            </a:r>
            <a:endParaRPr lang="en-US" sz="1350" dirty="0"/>
          </a:p>
        </p:txBody>
      </p:sp>
      <p:sp>
        <p:nvSpPr>
          <p:cNvPr id="25" name="Shape 23"/>
          <p:cNvSpPr/>
          <p:nvPr/>
        </p:nvSpPr>
        <p:spPr>
          <a:xfrm>
            <a:off x="8046720" y="3931920"/>
            <a:ext cx="3611880" cy="2176272"/>
          </a:xfrm>
          <a:prstGeom prst="roundRect">
            <a:avLst>
              <a:gd name="adj" fmla="val 3361"/>
            </a:avLst>
          </a:prstGeom>
          <a:solidFill>
            <a:srgbClr val="141A22"/>
          </a:solidFill>
          <a:ln w="12700">
            <a:solidFill>
              <a:srgbClr val="263243"/>
            </a:solidFill>
            <a:prstDash val="solid"/>
          </a:ln>
        </p:spPr>
      </p:sp>
      <p:sp>
        <p:nvSpPr>
          <p:cNvPr id="26" name="Shape 24"/>
          <p:cNvSpPr/>
          <p:nvPr/>
        </p:nvSpPr>
        <p:spPr>
          <a:xfrm>
            <a:off x="8065008" y="4041648"/>
            <a:ext cx="54864" cy="1956816"/>
          </a:xfrm>
          <a:prstGeom prst="rect">
            <a:avLst/>
          </a:prstGeom>
          <a:solidFill>
            <a:srgbClr val="10B981"/>
          </a:solidFill>
          <a:ln w="12700">
            <a:solidFill>
              <a:srgbClr val="10B981"/>
            </a:solidFill>
            <a:prstDash val="solid"/>
          </a:ln>
        </p:spPr>
      </p:sp>
      <p:sp>
        <p:nvSpPr>
          <p:cNvPr id="27" name="Text 25"/>
          <p:cNvSpPr/>
          <p:nvPr/>
        </p:nvSpPr>
        <p:spPr>
          <a:xfrm>
            <a:off x="8275320" y="4041648"/>
            <a:ext cx="3291840" cy="365760"/>
          </a:xfrm>
          <a:prstGeom prst="rect">
            <a:avLst/>
          </a:prstGeom>
          <a:noFill/>
          <a:ln/>
        </p:spPr>
        <p:txBody>
          <a:bodyPr wrap="square" rtlCol="0" anchor="ctr"/>
          <a:lstStyle/>
          <a:p>
            <a:pPr indent="0" marL="0">
              <a:buNone/>
            </a:pPr>
            <a:r>
              <a:rPr lang="en-US" sz="1450" dirty="0">
                <a:solidFill>
                  <a:srgbClr val="10B981"/>
                </a:solidFill>
                <a:latin typeface="Segoe UI Semibold" pitchFamily="34" charset="0"/>
                <a:ea typeface="Segoe UI Semibold" pitchFamily="34" charset="-122"/>
                <a:cs typeface="Segoe UI Semibold" pitchFamily="34" charset="-120"/>
              </a:rPr>
              <a:t>Blank replies (fixed)</a:t>
            </a:r>
            <a:endParaRPr lang="en-US" sz="1450" dirty="0"/>
          </a:p>
        </p:txBody>
      </p:sp>
      <p:sp>
        <p:nvSpPr>
          <p:cNvPr id="28" name="Text 26"/>
          <p:cNvSpPr/>
          <p:nvPr/>
        </p:nvSpPr>
        <p:spPr>
          <a:xfrm>
            <a:off x="8275320" y="4434840"/>
            <a:ext cx="3246120" cy="1600200"/>
          </a:xfrm>
          <a:prstGeom prst="rect">
            <a:avLst/>
          </a:prstGeom>
          <a:noFill/>
          <a:ln/>
        </p:spPr>
        <p:txBody>
          <a:bodyPr wrap="square" rtlCol="0" anchor="t"/>
          <a:lstStyle/>
          <a:p>
            <a:pPr indent="0" marL="0">
              <a:buNone/>
            </a:pPr>
            <a:r>
              <a:rPr lang="en-US" sz="1350" dirty="0">
                <a:solidFill>
                  <a:srgbClr val="E6EDF3"/>
                </a:solidFill>
                <a:latin typeface="Segoe UI" pitchFamily="34" charset="0"/>
                <a:ea typeface="Segoe UI" pitchFamily="34" charset="-122"/>
                <a:cs typeface="Segoe UI" pitchFamily="34" charset="-120"/>
              </a:rPr>
              <a:t>Before our fix, 18 of 18 chatbot replies were empty: reasoning ate the 260-token budget. Now a fallback always answers.</a:t>
            </a:r>
            <a:endParaRPr lang="en-US" sz="13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07 · RESULTS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Side by side</a:t>
            </a:r>
            <a:endParaRPr lang="en-US" sz="2800" dirty="0"/>
          </a:p>
        </p:txBody>
      </p:sp>
      <p:sp>
        <p:nvSpPr>
          <p:cNvPr id="4" name="Text 2"/>
          <p:cNvSpPr/>
          <p:nvPr/>
        </p:nvSpPr>
        <p:spPr>
          <a:xfrm>
            <a:off x="548640" y="1069848"/>
            <a:ext cx="11064240" cy="320040"/>
          </a:xfrm>
          <a:prstGeom prst="rect">
            <a:avLst/>
          </a:prstGeom>
          <a:noFill/>
          <a:ln/>
        </p:spPr>
        <p:txBody>
          <a:bodyPr wrap="square" rtlCol="0" anchor="ctr"/>
          <a:lstStyle/>
          <a:p>
            <a:pPr indent="0" marL="0">
              <a:buNone/>
            </a:pPr>
            <a:r>
              <a:rPr lang="en-US" sz="1300" dirty="0">
                <a:solidFill>
                  <a:srgbClr val="8B98A9"/>
                </a:solidFill>
                <a:latin typeface="Segoe UI" pitchFamily="34" charset="0"/>
                <a:ea typeface="Segoe UI" pitchFamily="34" charset="-122"/>
                <a:cs typeface="Segoe UI" pitchFamily="34" charset="-120"/>
              </a:rPr>
              <a:t>Across the live run and the 30 Sep benchmark: what each approach guarantees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417320"/>
                <a:gridCol w="1600200"/>
                <a:gridCol w="1051560"/>
                <a:gridCol w="1600200"/>
                <a:gridCol w="1508760"/>
                <a:gridCol w="1463040"/>
                <a:gridCol w="1307592"/>
                <a:gridCol w="1143000"/>
              </a:tblGrid>
              <a:tr h="566928">
                <a:tc>
                  <a:txBody>
                    <a:bodyPr/>
                    <a:lstStyle/>
                    <a:p>
                      <a:pPr algn="l" indent="0" marL="0">
                        <a:buNone/>
                      </a:pP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150" dirty="0">
                          <a:solidFill>
                            <a:srgbClr val="E6EDF3"/>
                          </a:solidFill>
                          <a:latin typeface="Segoe UI Semibold" pitchFamily="34" charset="0"/>
                          <a:ea typeface="Segoe UI Semibold" pitchFamily="34" charset="-122"/>
                          <a:cs typeface="Segoe UI Semibold" pitchFamily="34" charset="-120"/>
                        </a:rPr>
                        <a:t>Data input</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150" dirty="0">
                          <a:solidFill>
                            <a:srgbClr val="E6EDF3"/>
                          </a:solidFill>
                          <a:latin typeface="Segoe UI Semibold" pitchFamily="34" charset="0"/>
                          <a:ea typeface="Segoe UI Semibold" pitchFamily="34" charset="-122"/>
                          <a:cs typeface="Segoe UI Semibold" pitchFamily="34" charset="-120"/>
                        </a:rPr>
                        <a:t>Arithmetic</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150" dirty="0">
                          <a:solidFill>
                            <a:srgbClr val="E6EDF3"/>
                          </a:solidFill>
                          <a:latin typeface="Segoe UI Semibold" pitchFamily="34" charset="0"/>
                          <a:ea typeface="Segoe UI Semibold" pitchFamily="34" charset="-122"/>
                          <a:cs typeface="Segoe UI Semibold" pitchFamily="34" charset="-120"/>
                        </a:rPr>
                        <a:t>Time-series metrics</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150" dirty="0">
                          <a:solidFill>
                            <a:srgbClr val="E6EDF3"/>
                          </a:solidFill>
                          <a:latin typeface="Segoe UI Semibold" pitchFamily="34" charset="0"/>
                          <a:ea typeface="Segoe UI Semibold" pitchFamily="34" charset="-122"/>
                          <a:cs typeface="Segoe UI Semibold" pitchFamily="34" charset="-120"/>
                        </a:rPr>
                        <a:t>Decision</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150" dirty="0">
                          <a:solidFill>
                            <a:srgbClr val="E6EDF3"/>
                          </a:solidFill>
                          <a:latin typeface="Segoe UI Semibold" pitchFamily="34" charset="0"/>
                          <a:ea typeface="Segoe UI Semibold" pitchFamily="34" charset="-122"/>
                          <a:cs typeface="Segoe UI Semibold" pitchFamily="34" charset="-120"/>
                        </a:rPr>
                        <a:t>Formula</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150" dirty="0">
                          <a:solidFill>
                            <a:srgbClr val="E6EDF3"/>
                          </a:solidFill>
                          <a:latin typeface="Segoe UI Semibold" pitchFamily="34" charset="0"/>
                          <a:ea typeface="Segoe UI Semibold" pitchFamily="34" charset="-122"/>
                          <a:cs typeface="Segoe UI Semibold" pitchFamily="34" charset="-120"/>
                        </a:rPr>
                        <a:t>Tokens / answer</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c>
                  <a:txBody>
                    <a:bodyPr/>
                    <a:lstStyle/>
                    <a:p>
                      <a:pPr algn="l" indent="0" marL="0">
                        <a:buNone/>
                      </a:pPr>
                      <a:r>
                        <a:rPr lang="en-US" sz="1150" dirty="0">
                          <a:solidFill>
                            <a:srgbClr val="E6EDF3"/>
                          </a:solidFill>
                          <a:latin typeface="Segoe UI Semibold" pitchFamily="34" charset="0"/>
                          <a:ea typeface="Segoe UI Semibold" pitchFamily="34" charset="-122"/>
                          <a:cs typeface="Segoe UI Semibold" pitchFamily="34" charset="-120"/>
                        </a:rPr>
                        <a:t>Repeatable</a:t>
                      </a:r>
                      <a:endParaRPr lang="en-US" sz="1150" dirty="0">
                        <a:latin typeface="Segoe UI Semibold" charset="0"/>
                        <a:ea typeface="Segoe UI Semibold" charset="0"/>
                        <a:cs typeface="Segoe UI Semibold"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B2330"/>
                    </a:solidFill>
                  </a:tcPr>
                </a:tc>
              </a:tr>
              <a:tr h="566928">
                <a:tc>
                  <a:txBody>
                    <a:bodyPr/>
                    <a:lstStyle/>
                    <a:p>
                      <a:pPr algn="l" indent="0" marL="0">
                        <a:buNone/>
                      </a:pPr>
                      <a:r>
                        <a:rPr lang="en-US" sz="1150" b="1" dirty="0">
                          <a:solidFill>
                            <a:srgbClr val="38BDF8"/>
                          </a:solidFill>
                          <a:latin typeface="Segoe UI" pitchFamily="34" charset="0"/>
                          <a:ea typeface="Segoe UI" pitchFamily="34" charset="-122"/>
                          <a:cs typeface="Segoe UI" pitchFamily="34" charset="-120"/>
                        </a:rPr>
                        <a:t>ChatGPT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FBBF24"/>
                          </a:solidFill>
                          <a:latin typeface="Segoe UI" pitchFamily="34" charset="0"/>
                          <a:ea typeface="Segoe UI" pitchFamily="34" charset="-122"/>
                          <a:cs typeface="Segoe UI" pitchFamily="34" charset="-120"/>
                        </a:rPr>
                        <a:t>Pasted manually</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Correct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FBBF24"/>
                          </a:solidFill>
                          <a:latin typeface="Segoe UI" pitchFamily="34" charset="0"/>
                          <a:ea typeface="Segoe UI" pitchFamily="34" charset="-122"/>
                          <a:cs typeface="Segoe UI" pitchFamily="34" charset="-120"/>
                        </a:rPr>
                        <a:t>9/12 (RSI wrong)</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E6EDF3"/>
                          </a:solidFill>
                          <a:latin typeface="Segoe UI" pitchFamily="34" charset="0"/>
                          <a:ea typeface="Segoe UI" pitchFamily="34" charset="-122"/>
                          <a:cs typeface="Segoe UI" pitchFamily="34" charset="-120"/>
                        </a:rPr>
                        <a:t>Trim (rule given)</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F87171"/>
                          </a:solidFill>
                          <a:latin typeface="Segoe UI" pitchFamily="34" charset="0"/>
                          <a:ea typeface="Segoe UI" pitchFamily="34" charset="-122"/>
                          <a:cs typeface="Segoe UI" pitchFamily="34" charset="-120"/>
                        </a:rPr>
                        <a:t>Own RSI variant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E6EDF3"/>
                          </a:solidFill>
                          <a:latin typeface="Segoe UI" pitchFamily="34" charset="0"/>
                          <a:ea typeface="Segoe UI" pitchFamily="34" charset="-122"/>
                          <a:cs typeface="Segoe UI" pitchFamily="34" charset="-120"/>
                        </a:rPr>
                        <a:t>Not shown</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FBBF24"/>
                          </a:solidFill>
                          <a:latin typeface="Segoe UI" pitchFamily="34" charset="0"/>
                          <a:ea typeface="Segoe UI" pitchFamily="34" charset="-122"/>
                          <a:cs typeface="Segoe UI" pitchFamily="34" charset="-120"/>
                        </a:rPr>
                        <a:t>Not guaranteed</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r h="566928">
                <a:tc>
                  <a:txBody>
                    <a:bodyPr/>
                    <a:lstStyle/>
                    <a:p>
                      <a:pPr algn="l" indent="0" marL="0">
                        <a:buNone/>
                      </a:pPr>
                      <a:r>
                        <a:rPr lang="en-US" sz="1150" b="1" dirty="0">
                          <a:solidFill>
                            <a:srgbClr val="F97316"/>
                          </a:solidFill>
                          <a:latin typeface="Segoe UI" pitchFamily="34" charset="0"/>
                          <a:ea typeface="Segoe UI" pitchFamily="34" charset="-122"/>
                          <a:cs typeface="Segoe UI" pitchFamily="34" charset="-120"/>
                        </a:rPr>
                        <a:t>Claude</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150" dirty="0">
                          <a:solidFill>
                            <a:srgbClr val="FBBF24"/>
                          </a:solidFill>
                          <a:latin typeface="Segoe UI" pitchFamily="34" charset="0"/>
                          <a:ea typeface="Segoe UI" pitchFamily="34" charset="-122"/>
                          <a:cs typeface="Segoe UI" pitchFamily="34" charset="-120"/>
                        </a:rPr>
                        <a:t>Pasted manually</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Correct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12/12</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150" dirty="0">
                          <a:solidFill>
                            <a:srgbClr val="F87171"/>
                          </a:solidFill>
                          <a:latin typeface="Segoe UI" pitchFamily="34" charset="0"/>
                          <a:ea typeface="Segoe UI" pitchFamily="34" charset="-122"/>
                          <a:cs typeface="Segoe UI" pitchFamily="34" charset="-120"/>
                        </a:rPr>
                        <a:t>HOLD (no rule)</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150" dirty="0">
                          <a:solidFill>
                            <a:srgbClr val="E6EDF3"/>
                          </a:solidFill>
                          <a:latin typeface="Segoe UI" pitchFamily="34" charset="0"/>
                          <a:ea typeface="Segoe UI" pitchFamily="34" charset="-122"/>
                          <a:cs typeface="Segoe UI" pitchFamily="34" charset="-120"/>
                        </a:rPr>
                        <a:t>Followed prompt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150" dirty="0">
                          <a:solidFill>
                            <a:srgbClr val="E6EDF3"/>
                          </a:solidFill>
                          <a:latin typeface="Segoe UI" pitchFamily="34" charset="0"/>
                          <a:ea typeface="Segoe UI" pitchFamily="34" charset="-122"/>
                          <a:cs typeface="Segoe UI" pitchFamily="34" charset="-120"/>
                        </a:rPr>
                        <a:t>Not measurable</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c>
                  <a:txBody>
                    <a:bodyPr/>
                    <a:lstStyle/>
                    <a:p>
                      <a:pPr algn="l" indent="0" marL="0">
                        <a:buNone/>
                      </a:pPr>
                      <a:r>
                        <a:rPr lang="en-US" sz="1150" dirty="0">
                          <a:solidFill>
                            <a:srgbClr val="FBBF24"/>
                          </a:solidFill>
                          <a:latin typeface="Segoe UI" pitchFamily="34" charset="0"/>
                          <a:ea typeface="Segoe UI" pitchFamily="34" charset="-122"/>
                          <a:cs typeface="Segoe UI" pitchFamily="34" charset="-120"/>
                        </a:rPr>
                        <a:t>Not guaranteed</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0F14"/>
                    </a:solidFill>
                  </a:tcPr>
                </a:tc>
              </a:tr>
              <a:tr h="566928">
                <a:tc>
                  <a:txBody>
                    <a:bodyPr/>
                    <a:lstStyle/>
                    <a:p>
                      <a:pPr algn="l" indent="0" marL="0">
                        <a:buNone/>
                      </a:pPr>
                      <a:r>
                        <a:rPr lang="en-US" sz="1150" b="1" dirty="0">
                          <a:solidFill>
                            <a:srgbClr val="E6EDF3"/>
                          </a:solidFill>
                          <a:latin typeface="Segoe UI" pitchFamily="34" charset="0"/>
                          <a:ea typeface="Segoe UI" pitchFamily="34" charset="-122"/>
                          <a:cs typeface="Segoe UI" pitchFamily="34" charset="-120"/>
                        </a:rPr>
                        <a:t>Groq (no tools)</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E6EDF3"/>
                          </a:solidFill>
                          <a:latin typeface="Segoe UI" pitchFamily="34" charset="0"/>
                          <a:ea typeface="Segoe UI" pitchFamily="34" charset="-122"/>
                          <a:cs typeface="Segoe UI" pitchFamily="34" charset="-120"/>
                        </a:rPr>
                        <a:t>Full data in prompt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100%</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F87171"/>
                          </a:solidFill>
                          <a:latin typeface="Segoe UI" pitchFamily="34" charset="0"/>
                          <a:ea typeface="Segoe UI" pitchFamily="34" charset="-122"/>
                          <a:cs typeface="Segoe UI" pitchFamily="34" charset="-120"/>
                        </a:rPr>
                        <a:t>58% / 25%</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E6EDF3"/>
                          </a:solidFill>
                          <a:latin typeface="Segoe UI" pitchFamily="34" charset="0"/>
                          <a:ea typeface="Segoe UI" pitchFamily="34" charset="-122"/>
                          <a:cs typeface="Segoe UI" pitchFamily="34" charset="-120"/>
                        </a:rPr>
                        <a:t>Trim</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E6EDF3"/>
                          </a:solidFill>
                          <a:latin typeface="Segoe UI" pitchFamily="34" charset="0"/>
                          <a:ea typeface="Segoe UI" pitchFamily="34" charset="-122"/>
                          <a:cs typeface="Segoe UI" pitchFamily="34" charset="-120"/>
                        </a:rPr>
                        <a:t>Usually followed</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F87171"/>
                          </a:solidFill>
                          <a:latin typeface="Segoe UI" pitchFamily="34" charset="0"/>
                          <a:ea typeface="Segoe UI" pitchFamily="34" charset="-122"/>
                          <a:cs typeface="Segoe UI" pitchFamily="34" charset="-120"/>
                        </a:rPr>
                        <a:t>1.4k – 4.9k</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c>
                  <a:txBody>
                    <a:bodyPr/>
                    <a:lstStyle/>
                    <a:p>
                      <a:pPr algn="l" indent="0" marL="0">
                        <a:buNone/>
                      </a:pPr>
                      <a:r>
                        <a:rPr lang="en-US" sz="1150" dirty="0">
                          <a:solidFill>
                            <a:srgbClr val="F87171"/>
                          </a:solidFill>
                          <a:latin typeface="Segoe UI" pitchFamily="34" charset="0"/>
                          <a:ea typeface="Segoe UI" pitchFamily="34" charset="-122"/>
                          <a:cs typeface="Segoe UI" pitchFamily="34" charset="-120"/>
                        </a:rPr>
                        <a:t>6/12 T2 cases</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141A22"/>
                    </a:solidFill>
                  </a:tcPr>
                </a:tc>
              </a:tr>
              <a:tr h="566928">
                <a:tc>
                  <a:txBody>
                    <a:bodyPr/>
                    <a:lstStyle/>
                    <a:p>
                      <a:pPr algn="l" indent="0" marL="0">
                        <a:buNone/>
                      </a:pPr>
                      <a:r>
                        <a:rPr lang="en-US" sz="1150" b="1" dirty="0">
                          <a:solidFill>
                            <a:srgbClr val="10B981"/>
                          </a:solidFill>
                          <a:latin typeface="Segoe UI" pitchFamily="34" charset="0"/>
                          <a:ea typeface="Segoe UI" pitchFamily="34" charset="-122"/>
                          <a:cs typeface="Segoe UI" pitchFamily="34" charset="-120"/>
                        </a:rPr>
                        <a:t>Foleo (ours)</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3B2E"/>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Automatic (Upstox)</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3B2E"/>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Correct</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3B2E"/>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16/16</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3B2E"/>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Trim (fixed rule)</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3B2E"/>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Fixed, tested</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3B2E"/>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0</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3B2E"/>
                    </a:solidFill>
                  </a:tcPr>
                </a:tc>
                <a:tc>
                  <a:txBody>
                    <a:bodyPr/>
                    <a:lstStyle/>
                    <a:p>
                      <a:pPr algn="l" indent="0" marL="0">
                        <a:buNone/>
                      </a:pPr>
                      <a:r>
                        <a:rPr lang="en-US" sz="1150" dirty="0">
                          <a:solidFill>
                            <a:srgbClr val="10B981"/>
                          </a:solidFill>
                          <a:latin typeface="Segoe UI" pitchFamily="34" charset="0"/>
                          <a:ea typeface="Segoe UI" pitchFamily="34" charset="-122"/>
                          <a:cs typeface="Segoe UI" pitchFamily="34" charset="-120"/>
                        </a:rPr>
                        <a:t>Always</a:t>
                      </a:r>
                      <a:endParaRPr lang="en-US" sz="1150" dirty="0">
                        <a:latin typeface="Segoe UI" charset="0"/>
                        <a:ea typeface="Segoe UI" charset="0"/>
                        <a:cs typeface="Segoe UI" charset="0"/>
                      </a:endParaRPr>
                    </a:p>
                  </a:txBody>
                  <a:tcPr marL="88900" marR="88900" marT="38100" marB="38100" anchor="ctr">
                    <a:lnL w="9525" cap="flat" cmpd="sng" algn="ctr">
                      <a:solidFill>
                        <a:srgbClr val="263243"/>
                      </a:solidFill>
                      <a:prstDash val="solid"/>
                      <a:round/>
                      <a:headEnd type="none" w="med" len="med"/>
                      <a:tailEnd type="none" w="med" len="med"/>
                    </a:lnL>
                    <a:lnR w="9525" cap="flat" cmpd="sng" algn="ctr">
                      <a:solidFill>
                        <a:srgbClr val="263243"/>
                      </a:solidFill>
                      <a:prstDash val="solid"/>
                      <a:round/>
                      <a:headEnd type="none" w="med" len="med"/>
                      <a:tailEnd type="none" w="med" len="med"/>
                    </a:lnR>
                    <a:lnT w="9525" cap="flat" cmpd="sng" algn="ctr">
                      <a:solidFill>
                        <a:srgbClr val="263243"/>
                      </a:solidFill>
                      <a:prstDash val="solid"/>
                      <a:round/>
                      <a:headEnd type="none" w="med" len="med"/>
                      <a:tailEnd type="none" w="med" len="med"/>
                    </a:lnT>
                    <a:lnB w="9525" cap="flat" cmpd="sng" algn="ctr">
                      <a:solidFill>
                        <a:srgbClr val="263243"/>
                      </a:solidFill>
                      <a:prstDash val="solid"/>
                      <a:round/>
                      <a:headEnd type="none" w="med" len="med"/>
                      <a:tailEnd type="none" w="med" len="med"/>
                    </a:lnB>
                    <a:solidFill>
                      <a:srgbClr val="0B3B2E"/>
                    </a:solidFill>
                  </a:tcPr>
                </a:tc>
              </a:tr>
            </a:tbl>
          </a:graphicData>
        </a:graphic>
      </p:graphicFrame>
      <p:sp>
        <p:nvSpPr>
          <p:cNvPr id="6" name="Shape 3"/>
          <p:cNvSpPr/>
          <p:nvPr/>
        </p:nvSpPr>
        <p:spPr>
          <a:xfrm>
            <a:off x="594360" y="4608576"/>
            <a:ext cx="384048" cy="384048"/>
          </a:xfrm>
          <a:prstGeom prst="ellipse">
            <a:avLst/>
          </a:prstGeom>
          <a:solidFill>
            <a:srgbClr val="10B981"/>
          </a:solidFill>
          <a:ln w="12700">
            <a:solidFill>
              <a:srgbClr val="10B981"/>
            </a:solidFill>
            <a:prstDash val="solid"/>
          </a:ln>
        </p:spPr>
      </p:sp>
      <p:sp>
        <p:nvSpPr>
          <p:cNvPr id="7" name="Text 4"/>
          <p:cNvSpPr/>
          <p:nvPr/>
        </p:nvSpPr>
        <p:spPr>
          <a:xfrm>
            <a:off x="594360" y="4608576"/>
            <a:ext cx="384048" cy="384048"/>
          </a:xfrm>
          <a:prstGeom prst="rect">
            <a:avLst/>
          </a:prstGeom>
          <a:noFill/>
          <a:ln/>
        </p:spPr>
        <p:txBody>
          <a:bodyPr wrap="square" rtlCol="0" anchor="ctr"/>
          <a:lstStyle/>
          <a:p>
            <a:pPr algn="ctr" indent="0" marL="0">
              <a:buNone/>
            </a:pPr>
            <a:r>
              <a:rPr lang="en-US" sz="1260" dirty="0">
                <a:solidFill>
                  <a:srgbClr val="FFFFFF"/>
                </a:solidFill>
                <a:latin typeface="Segoe UI Semibold" pitchFamily="34" charset="0"/>
                <a:ea typeface="Segoe UI Semibold" pitchFamily="34" charset="-122"/>
                <a:cs typeface="Segoe UI Semibold" pitchFamily="34" charset="-120"/>
              </a:rPr>
              <a:t>1</a:t>
            </a:r>
            <a:endParaRPr lang="en-US" sz="1260" dirty="0"/>
          </a:p>
        </p:txBody>
      </p:sp>
      <p:sp>
        <p:nvSpPr>
          <p:cNvPr id="8" name="Text 5"/>
          <p:cNvSpPr/>
          <p:nvPr/>
        </p:nvSpPr>
        <p:spPr>
          <a:xfrm>
            <a:off x="1143000" y="4572000"/>
            <a:ext cx="10424160" cy="457200"/>
          </a:xfrm>
          <a:prstGeom prst="rect">
            <a:avLst/>
          </a:prstGeom>
          <a:noFill/>
          <a:ln/>
        </p:spPr>
        <p:txBody>
          <a:bodyPr wrap="square" rtlCol="0" anchor="ctr"/>
          <a:lstStyle/>
          <a:p>
            <a:pPr indent="0" marL="0">
              <a:buNone/>
            </a:pPr>
            <a:r>
              <a:rPr lang="en-US" sz="1350" dirty="0">
                <a:solidFill>
                  <a:srgbClr val="10B981"/>
                </a:solidFill>
                <a:latin typeface="Segoe UI Semibold" pitchFamily="34" charset="0"/>
                <a:ea typeface="Segoe UI Semibold" pitchFamily="34" charset="-122"/>
                <a:cs typeface="Segoe UI Semibold" pitchFamily="34" charset="-120"/>
              </a:rPr>
              <a:t>Given perfect inputs, all agree:  </a:t>
            </a:r>
            <a:pPr indent="0" marL="0">
              <a:buNone/>
            </a:pPr>
            <a:r>
              <a:rPr lang="en-US" sz="1350" dirty="0">
                <a:solidFill>
                  <a:srgbClr val="E6EDF3"/>
                </a:solidFill>
                <a:latin typeface="Segoe UI" pitchFamily="34" charset="0"/>
                <a:ea typeface="Segoe UI" pitchFamily="34" charset="-122"/>
                <a:cs typeface="Segoe UI" pitchFamily="34" charset="-120"/>
              </a:rPr>
              <a:t>live run: Foleo, ChatGPT and Claude matched on 8 / 8 values</a:t>
            </a:r>
            <a:endParaRPr lang="en-US" sz="1350" dirty="0"/>
          </a:p>
        </p:txBody>
      </p:sp>
      <p:sp>
        <p:nvSpPr>
          <p:cNvPr id="9" name="Shape 6"/>
          <p:cNvSpPr/>
          <p:nvPr/>
        </p:nvSpPr>
        <p:spPr>
          <a:xfrm>
            <a:off x="594360" y="5175504"/>
            <a:ext cx="384048" cy="384048"/>
          </a:xfrm>
          <a:prstGeom prst="ellipse">
            <a:avLst/>
          </a:prstGeom>
          <a:solidFill>
            <a:srgbClr val="10B981"/>
          </a:solidFill>
          <a:ln w="12700">
            <a:solidFill>
              <a:srgbClr val="10B981"/>
            </a:solidFill>
            <a:prstDash val="solid"/>
          </a:ln>
        </p:spPr>
      </p:sp>
      <p:sp>
        <p:nvSpPr>
          <p:cNvPr id="10" name="Text 7"/>
          <p:cNvSpPr/>
          <p:nvPr/>
        </p:nvSpPr>
        <p:spPr>
          <a:xfrm>
            <a:off x="594360" y="5175504"/>
            <a:ext cx="384048" cy="384048"/>
          </a:xfrm>
          <a:prstGeom prst="rect">
            <a:avLst/>
          </a:prstGeom>
          <a:noFill/>
          <a:ln/>
        </p:spPr>
        <p:txBody>
          <a:bodyPr wrap="square" rtlCol="0" anchor="ctr"/>
          <a:lstStyle/>
          <a:p>
            <a:pPr algn="ctr" indent="0" marL="0">
              <a:buNone/>
            </a:pPr>
            <a:r>
              <a:rPr lang="en-US" sz="1260" dirty="0">
                <a:solidFill>
                  <a:srgbClr val="FFFFFF"/>
                </a:solidFill>
                <a:latin typeface="Segoe UI Semibold" pitchFamily="34" charset="0"/>
                <a:ea typeface="Segoe UI Semibold" pitchFamily="34" charset="-122"/>
                <a:cs typeface="Segoe UI Semibold" pitchFamily="34" charset="-120"/>
              </a:rPr>
              <a:t>2</a:t>
            </a:r>
            <a:endParaRPr lang="en-US" sz="1260" dirty="0"/>
          </a:p>
        </p:txBody>
      </p:sp>
      <p:sp>
        <p:nvSpPr>
          <p:cNvPr id="11" name="Text 8"/>
          <p:cNvSpPr/>
          <p:nvPr/>
        </p:nvSpPr>
        <p:spPr>
          <a:xfrm>
            <a:off x="1143000" y="5138928"/>
            <a:ext cx="10424160" cy="457200"/>
          </a:xfrm>
          <a:prstGeom prst="rect">
            <a:avLst/>
          </a:prstGeom>
          <a:noFill/>
          <a:ln/>
        </p:spPr>
        <p:txBody>
          <a:bodyPr wrap="square" rtlCol="0" anchor="ctr"/>
          <a:lstStyle/>
          <a:p>
            <a:pPr indent="0" marL="0">
              <a:buNone/>
            </a:pPr>
            <a:r>
              <a:rPr lang="en-US" sz="1350" dirty="0">
                <a:solidFill>
                  <a:srgbClr val="10B981"/>
                </a:solidFill>
                <a:latin typeface="Segoe UI Semibold" pitchFamily="34" charset="0"/>
                <a:ea typeface="Segoe UI Semibold" pitchFamily="34" charset="-122"/>
                <a:cs typeface="Segoe UI Semibold" pitchFamily="34" charset="-120"/>
              </a:rPr>
              <a:t>The real risk is choice:  </a:t>
            </a:r>
            <a:pPr indent="0" marL="0">
              <a:buNone/>
            </a:pPr>
            <a:r>
              <a:rPr lang="en-US" sz="1350" dirty="0">
                <a:solidFill>
                  <a:srgbClr val="E6EDF3"/>
                </a:solidFill>
                <a:latin typeface="Segoe UI" pitchFamily="34" charset="0"/>
                <a:ea typeface="Segoe UI" pitchFamily="34" charset="-122"/>
                <a:cs typeface="Segoe UI" pitchFamily="34" charset="-120"/>
              </a:rPr>
              <a:t>the model picks the formula or rule (RSI variant, HOLD vs Trim), and the user can't tell</a:t>
            </a:r>
            <a:endParaRPr lang="en-US" sz="1350" dirty="0"/>
          </a:p>
        </p:txBody>
      </p:sp>
      <p:sp>
        <p:nvSpPr>
          <p:cNvPr id="12" name="Shape 9"/>
          <p:cNvSpPr/>
          <p:nvPr/>
        </p:nvSpPr>
        <p:spPr>
          <a:xfrm>
            <a:off x="594360" y="5742432"/>
            <a:ext cx="384048" cy="384048"/>
          </a:xfrm>
          <a:prstGeom prst="ellipse">
            <a:avLst/>
          </a:prstGeom>
          <a:solidFill>
            <a:srgbClr val="10B981"/>
          </a:solidFill>
          <a:ln w="12700">
            <a:solidFill>
              <a:srgbClr val="10B981"/>
            </a:solidFill>
            <a:prstDash val="solid"/>
          </a:ln>
        </p:spPr>
      </p:sp>
      <p:sp>
        <p:nvSpPr>
          <p:cNvPr id="13" name="Text 10"/>
          <p:cNvSpPr/>
          <p:nvPr/>
        </p:nvSpPr>
        <p:spPr>
          <a:xfrm>
            <a:off x="594360" y="5742432"/>
            <a:ext cx="384048" cy="384048"/>
          </a:xfrm>
          <a:prstGeom prst="rect">
            <a:avLst/>
          </a:prstGeom>
          <a:noFill/>
          <a:ln/>
        </p:spPr>
        <p:txBody>
          <a:bodyPr wrap="square" rtlCol="0" anchor="ctr"/>
          <a:lstStyle/>
          <a:p>
            <a:pPr algn="ctr" indent="0" marL="0">
              <a:buNone/>
            </a:pPr>
            <a:r>
              <a:rPr lang="en-US" sz="1260" dirty="0">
                <a:solidFill>
                  <a:srgbClr val="FFFFFF"/>
                </a:solidFill>
                <a:latin typeface="Segoe UI Semibold" pitchFamily="34" charset="0"/>
                <a:ea typeface="Segoe UI Semibold" pitchFamily="34" charset="-122"/>
                <a:cs typeface="Segoe UI Semibold" pitchFamily="34" charset="-120"/>
              </a:rPr>
              <a:t>3</a:t>
            </a:r>
            <a:endParaRPr lang="en-US" sz="1260" dirty="0"/>
          </a:p>
        </p:txBody>
      </p:sp>
      <p:sp>
        <p:nvSpPr>
          <p:cNvPr id="14" name="Text 11"/>
          <p:cNvSpPr/>
          <p:nvPr/>
        </p:nvSpPr>
        <p:spPr>
          <a:xfrm>
            <a:off x="1143000" y="5705856"/>
            <a:ext cx="10424160" cy="457200"/>
          </a:xfrm>
          <a:prstGeom prst="rect">
            <a:avLst/>
          </a:prstGeom>
          <a:noFill/>
          <a:ln/>
        </p:spPr>
        <p:txBody>
          <a:bodyPr wrap="square" rtlCol="0" anchor="ctr"/>
          <a:lstStyle/>
          <a:p>
            <a:pPr indent="0" marL="0">
              <a:buNone/>
            </a:pPr>
            <a:r>
              <a:rPr lang="en-US" sz="1350" dirty="0">
                <a:solidFill>
                  <a:srgbClr val="10B981"/>
                </a:solidFill>
                <a:latin typeface="Segoe UI Semibold" pitchFamily="34" charset="0"/>
                <a:ea typeface="Segoe UI Semibold" pitchFamily="34" charset="-122"/>
                <a:cs typeface="Segoe UI Semibold" pitchFamily="34" charset="-120"/>
              </a:rPr>
              <a:t>Foleo removes the choice:  </a:t>
            </a:r>
            <a:pPr indent="0" marL="0">
              <a:buNone/>
            </a:pPr>
            <a:r>
              <a:rPr lang="en-US" sz="1350" dirty="0">
                <a:solidFill>
                  <a:srgbClr val="E6EDF3"/>
                </a:solidFill>
                <a:latin typeface="Segoe UI" pitchFamily="34" charset="0"/>
                <a:ea typeface="Segoe UI" pitchFamily="34" charset="-122"/>
                <a:cs typeface="Segoe UI" pitchFamily="34" charset="-120"/>
              </a:rPr>
              <a:t>one tested formula, data pulled automatically, same answer every time, zero LLM cost</a:t>
            </a:r>
            <a:endParaRPr lang="en-US" sz="13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08 · FUTURE WORK</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Future work</a:t>
            </a:r>
            <a:endParaRPr lang="en-US" sz="28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rtlCol="0" anchor="ctr"/>
          <a:lstStyle/>
          <a:p>
            <a:pPr indent="0" marL="0">
              <a:buNone/>
            </a:pPr>
            <a:r>
              <a:rPr lang="en-US" sz="1100" spc="300" kern="0" dirty="0">
                <a:solidFill>
                  <a:srgbClr val="10B981"/>
                </a:solidFill>
                <a:latin typeface="Segoe UI Semibold" pitchFamily="34" charset="0"/>
                <a:ea typeface="Segoe UI Semibold" pitchFamily="34" charset="-122"/>
                <a:cs typeface="Segoe UI Semibold" pitchFamily="34" charset="-120"/>
              </a:rPr>
              <a:t>09 · REFERENCES</a:t>
            </a:r>
            <a:endParaRPr lang="en-US" sz="1100" dirty="0"/>
          </a:p>
        </p:txBody>
      </p:sp>
      <p:sp>
        <p:nvSpPr>
          <p:cNvPr id="3" name="Text 1"/>
          <p:cNvSpPr/>
          <p:nvPr/>
        </p:nvSpPr>
        <p:spPr>
          <a:xfrm>
            <a:off x="548640" y="530352"/>
            <a:ext cx="11064240" cy="594360"/>
          </a:xfrm>
          <a:prstGeom prst="rect">
            <a:avLst/>
          </a:prstGeom>
          <a:noFill/>
          <a:ln/>
        </p:spPr>
        <p:txBody>
          <a:bodyPr wrap="square" rtlCol="0" anchor="ctr"/>
          <a:lstStyle/>
          <a:p>
            <a:pPr indent="0" marL="0">
              <a:buNone/>
            </a:pPr>
            <a:r>
              <a:rPr lang="en-US" sz="2800" dirty="0">
                <a:solidFill>
                  <a:srgbClr val="E6EDF3"/>
                </a:solidFill>
                <a:latin typeface="Segoe UI Semibold" pitchFamily="34" charset="0"/>
                <a:ea typeface="Segoe UI Semibold" pitchFamily="34" charset="-122"/>
                <a:cs typeface="Segoe UI Semibold" pitchFamily="34" charset="-120"/>
              </a:rPr>
              <a:t>References</a:t>
            </a:r>
            <a:endParaRPr lang="en-US" sz="2800" dirty="0"/>
          </a:p>
        </p:txBody>
      </p:sp>
      <p:sp>
        <p:nvSpPr>
          <p:cNvPr id="4" name="Text 2"/>
          <p:cNvSpPr/>
          <p:nvPr/>
        </p:nvSpPr>
        <p:spPr>
          <a:xfrm>
            <a:off x="548640" y="1234440"/>
            <a:ext cx="5440680" cy="5074920"/>
          </a:xfrm>
          <a:prstGeom prst="rect">
            <a:avLst/>
          </a:prstGeom>
          <a:noFill/>
          <a:ln/>
        </p:spPr>
        <p:txBody>
          <a:bodyPr wrap="square" rtlCol="0" anchor="t"/>
          <a:lstStyle/>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  N. Dziri et al., "Faith and fate: Limits of transformers on compositionality," NeurIPS, vol. 36, 2023.</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[2]  Z. Ji et al., "Survey of hallucination in natural language generation," ACM Computing Surveys, vol. 55, no. 12, 2023.</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[3]  Z. Chen et al., "FinQA: A dataset of numerical reasoning over financial data," EMNLP, 2021.</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[4]  F. Zhu et al., "TAT-QA: A question answering benchmark on a hybrid of tabular and textual content in finance," ACL, 2021.</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[5]  Z. Chen et al., "ConvFinQA: Exploring the chain of numerical reasoning in conversational finance QA," EMNLP, 2022.</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[6]  P. Islam et al., "FinanceBench: A new benchmark for financial question answering," arXiv:2311.11944, 2023.</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[7]  T. Schick et al., "Toolformer: Language models can teach themselves to use tools," NeurIPS, vol. 36, 2023.</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[8]  L. Gao et al., "PAL: Program-aided language models," ICML, PMLR vol. 202, 2023.</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[9]  W. Chen et al., "Program of thoughts prompting," Transactions on Machine Learning Research, 2023.</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[10]  S. Yao et al., "ReAct: Synergizing reasoning and acting in language models," ICLR, 2023.</a:t>
            </a:r>
            <a:endParaRPr lang="en-US" sz="1050" dirty="0"/>
          </a:p>
        </p:txBody>
      </p:sp>
      <p:sp>
        <p:nvSpPr>
          <p:cNvPr id="5" name="Text 3"/>
          <p:cNvSpPr/>
          <p:nvPr/>
        </p:nvSpPr>
        <p:spPr>
          <a:xfrm>
            <a:off x="6172200" y="1234440"/>
            <a:ext cx="5440680" cy="5074920"/>
          </a:xfrm>
          <a:prstGeom prst="rect">
            <a:avLst/>
          </a:prstGeom>
          <a:noFill/>
          <a:ln/>
        </p:spPr>
        <p:txBody>
          <a:bodyPr wrap="square" rtlCol="0" anchor="t"/>
          <a:lstStyle/>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[11]  G. Mialon et al., "Augmented language models: a survey," Transactions on Machine Learning Research, 2023.</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[12]  OpenAI, "gpt-oss-120b &amp; gpt-oss-20b model card," arXiv:2508.10925, 2025.</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[13]  J. Wei et al., "Chain-of-thought prompting elicits reasoning in large language models," NeurIPS, vol. 35, 2022.</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[14]  S. Wu et al., "BloombergGPT: A large language model for finance," arXiv:2303.17564, 2023.</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[15]  W. F. Sharpe, "The Sharpe ratio," J. Portfolio Management, vol. 21, no. 1, pp. 49–58, 1994.</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[16]  P. Jorion, Value at Risk: The New Benchmark for Managing Financial Risk, 3rd ed. McGraw-Hill, 2007.</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[17]  R. J. Hyndman and Y. Fan, "Sample quantiles in statistical packages," The American Statistician, vol. 50, no. 4, 1996.</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[18]  M. Magdon-Ismail and A. F. Atiya, "Maximum drawdown," Risk Magazine, pp. 99–102, Oct. 2004.</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[19]  J. W. Wilder Jr., New Concepts in Technical Trading Systems. Trend Research, 1978.</a:t>
            </a:r>
            <a:endParaRPr lang="en-US" sz="1050" dirty="0"/>
          </a:p>
          <a:p>
            <a:pPr indent="0" marL="0">
              <a:spcAft>
                <a:spcPts val="700"/>
              </a:spcAft>
              <a:buNone/>
            </a:pPr>
            <a:r>
              <a:rPr lang="en-US" sz="1050" dirty="0">
                <a:solidFill>
                  <a:srgbClr val="E6EDF3"/>
                </a:solidFill>
                <a:latin typeface="Segoe UI" pitchFamily="34" charset="0"/>
                <a:ea typeface="Segoe UI" pitchFamily="34" charset="-122"/>
                <a:cs typeface="Segoe UI" pitchFamily="34" charset="-120"/>
              </a:rPr>
              <a:t>[20]  E. B. Wilson, "Probable inference, the law of succession, and statistical inference," JASA, vol. 22, no. 158, 1927.</a:t>
            </a:r>
            <a:endParaRPr lang="en-US" sz="10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7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Foleo: Methodology, Results, Future Work</dc:title>
  <dc:subject>PptxGenJS Presentation</dc:subject>
  <dc:creator>PptxGenJS</dc:creator>
  <cp:lastModifiedBy>PptxGenJS</cp:lastModifiedBy>
  <cp:revision>1</cp:revision>
  <dcterms:created xsi:type="dcterms:W3CDTF">2026-10-22T18:40:09Z</dcterms:created>
  <dcterms:modified xsi:type="dcterms:W3CDTF">2026-10-22T18:40:09Z</dcterms:modified>
</cp:coreProperties>
</file>